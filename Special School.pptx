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77" r:id="rId1"/>
  </p:sldMasterIdLst>
  <p:notesMasterIdLst>
    <p:notesMasterId r:id="rId32"/>
  </p:notesMasterIdLst>
  <p:handoutMasterIdLst>
    <p:handoutMasterId r:id="rId33"/>
  </p:handoutMasterIdLst>
  <p:sldIdLst>
    <p:sldId id="256" r:id="rId2"/>
    <p:sldId id="257" r:id="rId3"/>
    <p:sldId id="258" r:id="rId4"/>
    <p:sldId id="259" r:id="rId5"/>
    <p:sldId id="260" r:id="rId6"/>
    <p:sldId id="283" r:id="rId7"/>
    <p:sldId id="288" r:id="rId8"/>
    <p:sldId id="289" r:id="rId9"/>
    <p:sldId id="290" r:id="rId10"/>
    <p:sldId id="291" r:id="rId11"/>
    <p:sldId id="292" r:id="rId12"/>
    <p:sldId id="293" r:id="rId13"/>
    <p:sldId id="294" r:id="rId14"/>
    <p:sldId id="295" r:id="rId15"/>
    <p:sldId id="296" r:id="rId16"/>
    <p:sldId id="271" r:id="rId17"/>
    <p:sldId id="285" r:id="rId18"/>
    <p:sldId id="284" r:id="rId19"/>
    <p:sldId id="286" r:id="rId20"/>
    <p:sldId id="287" r:id="rId21"/>
    <p:sldId id="298" r:id="rId22"/>
    <p:sldId id="299" r:id="rId23"/>
    <p:sldId id="303" r:id="rId24"/>
    <p:sldId id="304" r:id="rId25"/>
    <p:sldId id="305" r:id="rId26"/>
    <p:sldId id="300" r:id="rId27"/>
    <p:sldId id="301" r:id="rId28"/>
    <p:sldId id="302" r:id="rId29"/>
    <p:sldId id="306" r:id="rId30"/>
    <p:sldId id="307" r:id="rId3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9759"/>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סגנון ביניים 2 - הדגשה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סגנון ביניים 2 - הדגשה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893" autoAdjust="0"/>
    <p:restoredTop sz="95364" autoAdjust="0"/>
  </p:normalViewPr>
  <p:slideViewPr>
    <p:cSldViewPr snapToGrid="0">
      <p:cViewPr varScale="1">
        <p:scale>
          <a:sx n="116" d="100"/>
          <a:sy n="116" d="100"/>
        </p:scale>
        <p:origin x="76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a:extLst>
              <a:ext uri="{FF2B5EF4-FFF2-40B4-BE49-F238E27FC236}">
                <a16:creationId xmlns:a16="http://schemas.microsoft.com/office/drawing/2014/main" id="{EA5C9C33-4202-48D7-9378-7859C61A6939}"/>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a:extLst>
              <a:ext uri="{FF2B5EF4-FFF2-40B4-BE49-F238E27FC236}">
                <a16:creationId xmlns:a16="http://schemas.microsoft.com/office/drawing/2014/main" id="{DB374868-A4A0-4264-90CC-0DE9CEE6F56B}"/>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6F255C49-8C46-4795-BFC3-066CAE0DD967}" type="datetimeFigureOut">
              <a:rPr lang="he-IL" smtClean="0"/>
              <a:t>ג'/תמוז/תשפ"ו</a:t>
            </a:fld>
            <a:endParaRPr lang="he-IL"/>
          </a:p>
        </p:txBody>
      </p:sp>
      <p:sp>
        <p:nvSpPr>
          <p:cNvPr id="4" name="מציין מיקום של כותרת תחתונה 3">
            <a:extLst>
              <a:ext uri="{FF2B5EF4-FFF2-40B4-BE49-F238E27FC236}">
                <a16:creationId xmlns:a16="http://schemas.microsoft.com/office/drawing/2014/main" id="{87CD40B4-F787-464B-9CC0-5A12D996993B}"/>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a:extLst>
              <a:ext uri="{FF2B5EF4-FFF2-40B4-BE49-F238E27FC236}">
                <a16:creationId xmlns:a16="http://schemas.microsoft.com/office/drawing/2014/main" id="{215EEACB-BE03-40E2-967E-0F227E7F4834}"/>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18D2252E-8197-4256-8F3F-1871A5A5AB6B}" type="slidenum">
              <a:rPr lang="he-IL" smtClean="0"/>
              <a:t>‹#›</a:t>
            </a:fld>
            <a:endParaRPr lang="he-IL"/>
          </a:p>
        </p:txBody>
      </p:sp>
    </p:spTree>
    <p:extLst>
      <p:ext uri="{BB962C8B-B14F-4D97-AF65-F5344CB8AC3E}">
        <p14:creationId xmlns:p14="http://schemas.microsoft.com/office/powerpoint/2010/main" val="76440913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23E2AE5F-F075-41B2-A3B7-2ED87EEAF206}" type="datetimeFigureOut">
              <a:rPr lang="he-IL" smtClean="0"/>
              <a:t>ג'/תמוז/תשפ"ו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95B5C52E-3D2F-4A73-9336-C3DC1A9E9180}" type="slidenum">
              <a:rPr lang="he-IL" smtClean="0"/>
              <a:t>‹#›</a:t>
            </a:fld>
            <a:endParaRPr lang="he-IL"/>
          </a:p>
        </p:txBody>
      </p:sp>
    </p:spTree>
    <p:extLst>
      <p:ext uri="{BB962C8B-B14F-4D97-AF65-F5344CB8AC3E}">
        <p14:creationId xmlns:p14="http://schemas.microsoft.com/office/powerpoint/2010/main" val="2657639656"/>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0876D19-B9AA-44DD-A437-6DE884A8F76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4290844C-B5C3-44F5-9105-365E4EB79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5D8A07E-E706-432B-AE74-B700FA5A0135}"/>
              </a:ext>
            </a:extLst>
          </p:cNvPr>
          <p:cNvSpPr>
            <a:spLocks noGrp="1"/>
          </p:cNvSpPr>
          <p:nvPr>
            <p:ph type="dt" sz="half" idx="10"/>
          </p:nvPr>
        </p:nvSpPr>
        <p:spPr/>
        <p:txBody>
          <a:bodyPr/>
          <a:lstStyle/>
          <a:p>
            <a:fld id="{E6172E4D-D215-49E5-999E-CF4CBA9AF963}"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A29A38F8-5A0C-4A8E-A8E5-21BA1B20670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CD72F90-77A7-4C85-B918-629B635BEBB8}"/>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574410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F1EFB5-B04B-4324-9A51-4CC00AA06B5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0804889-8F11-4A6D-B429-09F356573CE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99F45D9-21A4-4207-B062-966B7319B990}"/>
              </a:ext>
            </a:extLst>
          </p:cNvPr>
          <p:cNvSpPr>
            <a:spLocks noGrp="1"/>
          </p:cNvSpPr>
          <p:nvPr>
            <p:ph type="dt" sz="half" idx="10"/>
          </p:nvPr>
        </p:nvSpPr>
        <p:spPr/>
        <p:txBody>
          <a:bodyPr/>
          <a:lstStyle/>
          <a:p>
            <a:fld id="{3D3B083B-C348-4D39-9A3E-3D099C64973D}"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8AFEC359-296D-46F1-BF91-B09B04B0F3F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58C69C4-370A-4EC8-8CBE-206734C0B1F7}"/>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176723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C12A8D-5A2E-4906-AEE3-BF99DEF692BC}"/>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7587C1D-0F50-487A-BF5E-C0A1751C68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C716B5C-60DC-4765-AA38-8EFFAE3A066D}"/>
              </a:ext>
            </a:extLst>
          </p:cNvPr>
          <p:cNvSpPr>
            <a:spLocks noGrp="1"/>
          </p:cNvSpPr>
          <p:nvPr>
            <p:ph type="dt" sz="half" idx="10"/>
          </p:nvPr>
        </p:nvSpPr>
        <p:spPr/>
        <p:txBody>
          <a:bodyPr/>
          <a:lstStyle/>
          <a:p>
            <a:fld id="{9A2D3C12-DF7A-467A-B3A8-75C0D04015A4}"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75AAF04E-DFF3-4A05-B18E-838AF34D1C4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B91D36F-B7BD-4090-B127-44024E8BB227}"/>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561461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E686B6F-B094-4F5A-A8B8-F36800E0F01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3EDFB7B-C282-42F7-815A-31C2ECC65346}"/>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F28C9159-D7A7-4851-8BEA-B36C81270F07}"/>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A7148458-4628-43E6-97A3-3049993A44F8}"/>
              </a:ext>
            </a:extLst>
          </p:cNvPr>
          <p:cNvSpPr>
            <a:spLocks noGrp="1"/>
          </p:cNvSpPr>
          <p:nvPr>
            <p:ph type="dt" sz="half" idx="10"/>
          </p:nvPr>
        </p:nvSpPr>
        <p:spPr/>
        <p:txBody>
          <a:bodyPr/>
          <a:lstStyle/>
          <a:p>
            <a:fld id="{289C8838-4BA8-43EA-994D-49CB78292D93}" type="datetime8">
              <a:rPr lang="he-IL" smtClean="0"/>
              <a:t>18 יוני 26</a:t>
            </a:fld>
            <a:endParaRPr lang="he-IL"/>
          </a:p>
        </p:txBody>
      </p:sp>
      <p:sp>
        <p:nvSpPr>
          <p:cNvPr id="6" name="מציין מיקום של כותרת תחתונה 5">
            <a:extLst>
              <a:ext uri="{FF2B5EF4-FFF2-40B4-BE49-F238E27FC236}">
                <a16:creationId xmlns:a16="http://schemas.microsoft.com/office/drawing/2014/main" id="{5C9DA617-1456-4211-9439-63BAF003A98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26709AD3-5632-478F-A794-39303C146604}"/>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1345918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EF05C8-6843-4432-9580-8E011A227572}"/>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BC75331-E8AF-4344-B3E0-DD163A4885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FC1B6002-7DEF-4CE3-9F77-FC37349A928E}"/>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6B773C96-9496-47E5-821D-1E82A309B3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A80BD893-C582-44D2-80EF-78D75CE7D4C0}"/>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43087AE7-7FEB-42C8-B21F-9E0F3B1E2941}"/>
              </a:ext>
            </a:extLst>
          </p:cNvPr>
          <p:cNvSpPr>
            <a:spLocks noGrp="1"/>
          </p:cNvSpPr>
          <p:nvPr>
            <p:ph type="dt" sz="half" idx="10"/>
          </p:nvPr>
        </p:nvSpPr>
        <p:spPr/>
        <p:txBody>
          <a:bodyPr/>
          <a:lstStyle/>
          <a:p>
            <a:fld id="{8F615E6F-BA40-4809-B0AF-3803E772F01B}" type="datetime8">
              <a:rPr lang="he-IL" smtClean="0"/>
              <a:t>18 יוני 26</a:t>
            </a:fld>
            <a:endParaRPr lang="he-IL"/>
          </a:p>
        </p:txBody>
      </p:sp>
      <p:sp>
        <p:nvSpPr>
          <p:cNvPr id="8" name="מציין מיקום של כותרת תחתונה 7">
            <a:extLst>
              <a:ext uri="{FF2B5EF4-FFF2-40B4-BE49-F238E27FC236}">
                <a16:creationId xmlns:a16="http://schemas.microsoft.com/office/drawing/2014/main" id="{2ACF7DE8-FB8F-4730-91D1-6AEF23D57B3B}"/>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F9140536-AB81-4EFC-8220-AC1D27CC31E8}"/>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335710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0F220B8-6F36-40DE-90F4-128B01CDCB2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4C137A2-83E0-49F4-88AE-3A936D898674}"/>
              </a:ext>
            </a:extLst>
          </p:cNvPr>
          <p:cNvSpPr>
            <a:spLocks noGrp="1"/>
          </p:cNvSpPr>
          <p:nvPr>
            <p:ph type="dt" sz="half" idx="10"/>
          </p:nvPr>
        </p:nvSpPr>
        <p:spPr/>
        <p:txBody>
          <a:bodyPr/>
          <a:lstStyle/>
          <a:p>
            <a:fld id="{EDBC54E8-F1DE-43F0-A4C7-216927AB0F03}" type="datetime8">
              <a:rPr lang="he-IL" smtClean="0"/>
              <a:t>18 יוני 26</a:t>
            </a:fld>
            <a:endParaRPr lang="he-IL"/>
          </a:p>
        </p:txBody>
      </p:sp>
      <p:sp>
        <p:nvSpPr>
          <p:cNvPr id="4" name="מציין מיקום של כותרת תחתונה 3">
            <a:extLst>
              <a:ext uri="{FF2B5EF4-FFF2-40B4-BE49-F238E27FC236}">
                <a16:creationId xmlns:a16="http://schemas.microsoft.com/office/drawing/2014/main" id="{8569171D-5033-4B6C-8E20-5BE114608BD7}"/>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B8E4695F-E909-4B92-A678-C746721B3706}"/>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418576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A50DFFF9-D5DA-4ED8-B355-79214B20D163}"/>
              </a:ext>
            </a:extLst>
          </p:cNvPr>
          <p:cNvSpPr>
            <a:spLocks noGrp="1"/>
          </p:cNvSpPr>
          <p:nvPr>
            <p:ph type="dt" sz="half" idx="10"/>
          </p:nvPr>
        </p:nvSpPr>
        <p:spPr/>
        <p:txBody>
          <a:bodyPr/>
          <a:lstStyle/>
          <a:p>
            <a:fld id="{D585AB1B-3B77-4CDC-9B40-C8FBF7BBDFD8}" type="datetime8">
              <a:rPr lang="he-IL" smtClean="0"/>
              <a:t>18 יוני 26</a:t>
            </a:fld>
            <a:endParaRPr lang="he-IL"/>
          </a:p>
        </p:txBody>
      </p:sp>
      <p:sp>
        <p:nvSpPr>
          <p:cNvPr id="3" name="מציין מיקום של כותרת תחתונה 2">
            <a:extLst>
              <a:ext uri="{FF2B5EF4-FFF2-40B4-BE49-F238E27FC236}">
                <a16:creationId xmlns:a16="http://schemas.microsoft.com/office/drawing/2014/main" id="{61C780FF-F2AA-4456-85EE-0859A767ABE6}"/>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13F5983-53D4-4A55-8C10-33932E38D630}"/>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365516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B71A22-3ABD-4478-8D96-67800EF2386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6ACDF94-DF1E-4119-9054-8C83879327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0989F5CB-DE69-4A0C-B7B7-40D4828619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5757601-813B-4698-92B6-B8A375A8A7BD}"/>
              </a:ext>
            </a:extLst>
          </p:cNvPr>
          <p:cNvSpPr>
            <a:spLocks noGrp="1"/>
          </p:cNvSpPr>
          <p:nvPr>
            <p:ph type="dt" sz="half" idx="10"/>
          </p:nvPr>
        </p:nvSpPr>
        <p:spPr/>
        <p:txBody>
          <a:bodyPr/>
          <a:lstStyle/>
          <a:p>
            <a:fld id="{56B7B295-DDFE-4691-A71B-F857219E47F8}" type="datetime8">
              <a:rPr lang="he-IL" smtClean="0"/>
              <a:t>18 יוני 26</a:t>
            </a:fld>
            <a:endParaRPr lang="he-IL"/>
          </a:p>
        </p:txBody>
      </p:sp>
      <p:sp>
        <p:nvSpPr>
          <p:cNvPr id="6" name="מציין מיקום של כותרת תחתונה 5">
            <a:extLst>
              <a:ext uri="{FF2B5EF4-FFF2-40B4-BE49-F238E27FC236}">
                <a16:creationId xmlns:a16="http://schemas.microsoft.com/office/drawing/2014/main" id="{32C2033D-4BDC-46B5-A90C-F7BA6A89229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B917B5C-8300-4B26-8A68-E066AEF8E88F}"/>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98019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750A5B3-1719-4A40-96D2-1FCF7D7C49B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F9BD7BC-913E-4E75-B455-461B1C8B55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23B55F49-D194-4F99-9C24-64281885F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408AAEB-A43C-41DB-B24B-C8088165B53C}"/>
              </a:ext>
            </a:extLst>
          </p:cNvPr>
          <p:cNvSpPr>
            <a:spLocks noGrp="1"/>
          </p:cNvSpPr>
          <p:nvPr>
            <p:ph type="dt" sz="half" idx="10"/>
          </p:nvPr>
        </p:nvSpPr>
        <p:spPr/>
        <p:txBody>
          <a:bodyPr/>
          <a:lstStyle/>
          <a:p>
            <a:fld id="{FBB7512A-2946-4DE1-B194-3839778C08E2}" type="datetime8">
              <a:rPr lang="he-IL" smtClean="0"/>
              <a:t>18 יוני 26</a:t>
            </a:fld>
            <a:endParaRPr lang="he-IL"/>
          </a:p>
        </p:txBody>
      </p:sp>
      <p:sp>
        <p:nvSpPr>
          <p:cNvPr id="6" name="מציין מיקום של כותרת תחתונה 5">
            <a:extLst>
              <a:ext uri="{FF2B5EF4-FFF2-40B4-BE49-F238E27FC236}">
                <a16:creationId xmlns:a16="http://schemas.microsoft.com/office/drawing/2014/main" id="{40B15773-E351-4E4B-9830-26D9374814C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F36D9C8-4F3D-4302-869A-A0B1F3AA966D}"/>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396770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A9B111-E7DB-4B88-AB85-91CF605872A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77C8A4D3-17DB-430C-9E92-6168E83E4707}"/>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31976D9-5938-4D76-9777-A6C9EADDD11C}"/>
              </a:ext>
            </a:extLst>
          </p:cNvPr>
          <p:cNvSpPr>
            <a:spLocks noGrp="1"/>
          </p:cNvSpPr>
          <p:nvPr>
            <p:ph type="dt" sz="half" idx="10"/>
          </p:nvPr>
        </p:nvSpPr>
        <p:spPr/>
        <p:txBody>
          <a:bodyPr/>
          <a:lstStyle/>
          <a:p>
            <a:fld id="{F728F305-A750-4472-A4C4-0A648438AA69}"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82DBFD7A-F582-4866-AB4A-DCCAF184F58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9E0C5B4-D851-49C1-BB83-D57118FC6533}"/>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24536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BEB7521-0744-443E-B72D-AB0C8101948A}"/>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455BFA9-B59A-412F-9BFA-89075812B5F9}"/>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582E20A-04F0-4B5A-B390-5F16780A74D4}"/>
              </a:ext>
            </a:extLst>
          </p:cNvPr>
          <p:cNvSpPr>
            <a:spLocks noGrp="1"/>
          </p:cNvSpPr>
          <p:nvPr>
            <p:ph type="dt" sz="half" idx="10"/>
          </p:nvPr>
        </p:nvSpPr>
        <p:spPr/>
        <p:txBody>
          <a:bodyPr/>
          <a:lstStyle/>
          <a:p>
            <a:fld id="{E10B1FFF-DE01-4D76-8B9D-696D2305B078}"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E6CDE9A9-A166-4CF7-975D-6C5110E23F3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91FB7A4-E041-4215-A983-470FE3B5E196}"/>
              </a:ext>
            </a:extLst>
          </p:cNvPr>
          <p:cNvSpPr>
            <a:spLocks noGrp="1"/>
          </p:cNvSpPr>
          <p:nvPr>
            <p:ph type="sldNum" sz="quarter" idx="12"/>
          </p:nvPr>
        </p:nvSpPr>
        <p:spPr/>
        <p:txBody>
          <a:bodyPr/>
          <a:lstStyle/>
          <a:p>
            <a:fld id="{9D77A262-A0C6-4C11-A684-4A90AD65C1E2}" type="slidenum">
              <a:rPr lang="he-IL" smtClean="0"/>
              <a:t>‹#›</a:t>
            </a:fld>
            <a:endParaRPr lang="he-IL"/>
          </a:p>
        </p:txBody>
      </p:sp>
    </p:spTree>
    <p:extLst>
      <p:ext uri="{BB962C8B-B14F-4D97-AF65-F5344CB8AC3E}">
        <p14:creationId xmlns:p14="http://schemas.microsoft.com/office/powerpoint/2010/main" val="671178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45C83530-30D1-429C-BEBD-FB6FB26C611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64E7B68-1627-4347-93DF-881A0C75FA05}"/>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FC1CA15-FB46-47BA-9E66-955FFE7293D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0BCEC263-1EFF-4078-9D5A-19E17B77DCAF}" type="datetime8">
              <a:rPr lang="he-IL" smtClean="0"/>
              <a:t>18 יוני 26</a:t>
            </a:fld>
            <a:endParaRPr lang="he-IL"/>
          </a:p>
        </p:txBody>
      </p:sp>
      <p:sp>
        <p:nvSpPr>
          <p:cNvPr id="5" name="מציין מיקום של כותרת תחתונה 4">
            <a:extLst>
              <a:ext uri="{FF2B5EF4-FFF2-40B4-BE49-F238E27FC236}">
                <a16:creationId xmlns:a16="http://schemas.microsoft.com/office/drawing/2014/main" id="{CB815B18-1185-4E13-B9F4-10E9C0E4AD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5AF13C6-96D8-4F2F-8D3D-19A3C05198D4}"/>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9D77A262-A0C6-4C11-A684-4A90AD65C1E2}" type="slidenum">
              <a:rPr lang="he-IL" smtClean="0"/>
              <a:t>‹#›</a:t>
            </a:fld>
            <a:endParaRPr lang="he-IL"/>
          </a:p>
        </p:txBody>
      </p:sp>
    </p:spTree>
    <p:extLst>
      <p:ext uri="{BB962C8B-B14F-4D97-AF65-F5344CB8AC3E}">
        <p14:creationId xmlns:p14="http://schemas.microsoft.com/office/powerpoint/2010/main" val="852668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תמונה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578"/>
            <a:ext cx="12288483" cy="7022123"/>
          </a:xfrm>
          <a:prstGeom prst="rect">
            <a:avLst/>
          </a:prstGeom>
        </p:spPr>
      </p:pic>
    </p:spTree>
    <p:extLst>
      <p:ext uri="{BB962C8B-B14F-4D97-AF65-F5344CB8AC3E}">
        <p14:creationId xmlns:p14="http://schemas.microsoft.com/office/powerpoint/2010/main" val="2287713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חץ: מחומש 4">
            <a:extLst>
              <a:ext uri="{FF2B5EF4-FFF2-40B4-BE49-F238E27FC236}">
                <a16:creationId xmlns:a16="http://schemas.microsoft.com/office/drawing/2014/main" id="{A3EA0480-E32E-41AF-BFEB-DED2A8A717D1}"/>
              </a:ext>
            </a:extLst>
          </p:cNvPr>
          <p:cNvSpPr/>
          <p:nvPr/>
        </p:nvSpPr>
        <p:spPr>
          <a:xfrm flipH="1">
            <a:off x="8315569" y="616816"/>
            <a:ext cx="3286139" cy="781539"/>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כותרת 1">
            <a:extLst>
              <a:ext uri="{FF2B5EF4-FFF2-40B4-BE49-F238E27FC236}">
                <a16:creationId xmlns:a16="http://schemas.microsoft.com/office/drawing/2014/main" id="{5D6C83C9-D0C9-4E47-B038-17D644667708}"/>
              </a:ext>
            </a:extLst>
          </p:cNvPr>
          <p:cNvSpPr>
            <a:spLocks noGrp="1"/>
          </p:cNvSpPr>
          <p:nvPr>
            <p:ph type="title"/>
          </p:nvPr>
        </p:nvSpPr>
        <p:spPr>
          <a:xfrm>
            <a:off x="939800" y="344805"/>
            <a:ext cx="10515600" cy="1325563"/>
          </a:xfrm>
        </p:spPr>
        <p:txBody>
          <a:bodyPr>
            <a:normAutofit/>
          </a:bodyPr>
          <a:lstStyle/>
          <a:p>
            <a:r>
              <a:rPr lang="he-IL" sz="4000" b="1" dirty="0">
                <a:latin typeface="David" panose="020E0502060401010101" pitchFamily="34" charset="-79"/>
                <a:cs typeface="David" panose="020E0502060401010101" pitchFamily="34" charset="-79"/>
              </a:rPr>
              <a:t>תוכן עניינים</a:t>
            </a:r>
          </a:p>
        </p:txBody>
      </p:sp>
      <p:sp>
        <p:nvSpPr>
          <p:cNvPr id="3" name="חץ: מחומש 2">
            <a:extLst>
              <a:ext uri="{FF2B5EF4-FFF2-40B4-BE49-F238E27FC236}">
                <a16:creationId xmlns:a16="http://schemas.microsoft.com/office/drawing/2014/main" id="{97796102-0F0F-458C-9582-ED19F4EB3E12}"/>
              </a:ext>
            </a:extLst>
          </p:cNvPr>
          <p:cNvSpPr/>
          <p:nvPr/>
        </p:nvSpPr>
        <p:spPr>
          <a:xfrm flipH="1">
            <a:off x="8940802" y="2024184"/>
            <a:ext cx="2063382" cy="40640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חץ: מחומש 7">
            <a:extLst>
              <a:ext uri="{FF2B5EF4-FFF2-40B4-BE49-F238E27FC236}">
                <a16:creationId xmlns:a16="http://schemas.microsoft.com/office/drawing/2014/main" id="{7B49A30C-C438-478C-BF4F-688E9BF5FEDA}"/>
              </a:ext>
            </a:extLst>
          </p:cNvPr>
          <p:cNvSpPr/>
          <p:nvPr/>
        </p:nvSpPr>
        <p:spPr>
          <a:xfrm flipH="1">
            <a:off x="4116712" y="2797175"/>
            <a:ext cx="2393646" cy="40640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חץ: מחומש 10">
            <a:extLst>
              <a:ext uri="{FF2B5EF4-FFF2-40B4-BE49-F238E27FC236}">
                <a16:creationId xmlns:a16="http://schemas.microsoft.com/office/drawing/2014/main" id="{5B3BA4D9-9FA1-4BE7-89CB-3720EB1E44EA}"/>
              </a:ext>
            </a:extLst>
          </p:cNvPr>
          <p:cNvSpPr/>
          <p:nvPr/>
        </p:nvSpPr>
        <p:spPr>
          <a:xfrm flipH="1">
            <a:off x="3855361" y="1007585"/>
            <a:ext cx="2694635" cy="40640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חץ: מחומש 11">
            <a:extLst>
              <a:ext uri="{FF2B5EF4-FFF2-40B4-BE49-F238E27FC236}">
                <a16:creationId xmlns:a16="http://schemas.microsoft.com/office/drawing/2014/main" id="{70F66892-0B6A-4862-BC12-0630074FB2BE}"/>
              </a:ext>
            </a:extLst>
          </p:cNvPr>
          <p:cNvSpPr/>
          <p:nvPr/>
        </p:nvSpPr>
        <p:spPr>
          <a:xfrm flipH="1">
            <a:off x="8370277" y="4565461"/>
            <a:ext cx="2633907" cy="40640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115FC01F-1199-48FE-A6AD-B8ACF64879C6}"/>
              </a:ext>
            </a:extLst>
          </p:cNvPr>
          <p:cNvSpPr txBox="1"/>
          <p:nvPr/>
        </p:nvSpPr>
        <p:spPr>
          <a:xfrm>
            <a:off x="2160782" y="802726"/>
            <a:ext cx="4328051" cy="5736186"/>
          </a:xfrm>
          <a:prstGeom prst="rect">
            <a:avLst/>
          </a:prstGeom>
          <a:noFill/>
        </p:spPr>
        <p:txBody>
          <a:bodyPr wrap="square" rtlCol="1">
            <a:spAutoFit/>
          </a:bodyPr>
          <a:lstStyle/>
          <a:p>
            <a:pPr marL="0" indent="0">
              <a:lnSpc>
                <a:spcPct val="150000"/>
              </a:lnSpc>
              <a:buNone/>
            </a:pPr>
            <a:r>
              <a:rPr lang="he-IL" sz="2400" b="1" dirty="0">
                <a:latin typeface="David" panose="020E0502060401010101" pitchFamily="34" charset="-79"/>
                <a:cs typeface="David" panose="020E0502060401010101" pitchFamily="34" charset="-79"/>
              </a:rPr>
              <a:t>חלק ג': קשרי גומלין</a:t>
            </a:r>
          </a:p>
          <a:p>
            <a:pPr marL="0" indent="0">
              <a:lnSpc>
                <a:spcPct val="150000"/>
              </a:lnSpc>
              <a:buNone/>
            </a:pPr>
            <a:r>
              <a:rPr lang="he-IL" b="1" dirty="0">
                <a:latin typeface="David" panose="020E0502060401010101" pitchFamily="34" charset="-79"/>
                <a:cs typeface="David" panose="020E0502060401010101" pitchFamily="34" charset="-79"/>
              </a:rPr>
              <a:t>תרשים </a:t>
            </a:r>
            <a:r>
              <a:rPr lang="en-US" b="1" dirty="0">
                <a:latin typeface="David" panose="020E0502060401010101" pitchFamily="34" charset="-79"/>
                <a:cs typeface="David" panose="020E0502060401010101" pitchFamily="34" charset="-79"/>
              </a:rPr>
              <a:t>ERD</a:t>
            </a:r>
            <a:r>
              <a:rPr lang="he-IL" b="1" dirty="0">
                <a:latin typeface="David" panose="020E0502060401010101" pitchFamily="34" charset="-79"/>
                <a:cs typeface="David" panose="020E0502060401010101" pitchFamily="34" charset="-79"/>
              </a:rPr>
              <a:t>...................................18</a:t>
            </a:r>
          </a:p>
          <a:p>
            <a:pPr marL="0" indent="0">
              <a:lnSpc>
                <a:spcPct val="150000"/>
              </a:lnSpc>
              <a:buNone/>
            </a:pPr>
            <a:r>
              <a:rPr lang="he-IL" b="1" dirty="0" err="1">
                <a:latin typeface="David" panose="020E0502060401010101" pitchFamily="34" charset="-79"/>
                <a:cs typeface="David" panose="020E0502060401010101" pitchFamily="34" charset="-79"/>
              </a:rPr>
              <a:t>תאור</a:t>
            </a:r>
            <a:r>
              <a:rPr lang="he-IL" b="1" dirty="0">
                <a:latin typeface="David" panose="020E0502060401010101" pitchFamily="34" charset="-79"/>
                <a:cs typeface="David" panose="020E0502060401010101" pitchFamily="34" charset="-79"/>
              </a:rPr>
              <a:t> תלויות....................................19</a:t>
            </a:r>
          </a:p>
          <a:p>
            <a:pPr marL="0" indent="0">
              <a:lnSpc>
                <a:spcPct val="150000"/>
              </a:lnSpc>
              <a:buNone/>
            </a:pPr>
            <a:r>
              <a:rPr lang="he-IL" b="1" dirty="0">
                <a:latin typeface="David" panose="020E0502060401010101" pitchFamily="34" charset="-79"/>
                <a:cs typeface="David" panose="020E0502060401010101" pitchFamily="34" charset="-79"/>
              </a:rPr>
              <a:t>תרשים </a:t>
            </a:r>
            <a:r>
              <a:rPr lang="en-US" b="1" dirty="0">
                <a:latin typeface="David" panose="020E0502060401010101" pitchFamily="34" charset="-79"/>
                <a:cs typeface="David" panose="020E0502060401010101" pitchFamily="34" charset="-79"/>
              </a:rPr>
              <a:t>DSD</a:t>
            </a:r>
            <a:r>
              <a:rPr lang="he-IL" b="1" dirty="0">
                <a:latin typeface="David" panose="020E0502060401010101" pitchFamily="34" charset="-79"/>
                <a:cs typeface="David" panose="020E0502060401010101" pitchFamily="34" charset="-79"/>
              </a:rPr>
              <a:t>...................................20</a:t>
            </a:r>
          </a:p>
          <a:p>
            <a:pPr marL="0" indent="0">
              <a:lnSpc>
                <a:spcPct val="150000"/>
              </a:lnSpc>
              <a:buNone/>
            </a:pPr>
            <a:r>
              <a:rPr lang="he-IL" sz="2400" b="1" dirty="0">
                <a:latin typeface="David" panose="020E0502060401010101" pitchFamily="34" charset="-79"/>
                <a:cs typeface="David" panose="020E0502060401010101" pitchFamily="34" charset="-79"/>
              </a:rPr>
              <a:t>חלק ד': שאילתות</a:t>
            </a:r>
          </a:p>
          <a:p>
            <a:pPr marL="0" indent="0">
              <a:lnSpc>
                <a:spcPct val="150000"/>
              </a:lnSpc>
              <a:buNone/>
            </a:pPr>
            <a:r>
              <a:rPr lang="he-IL" b="1" dirty="0">
                <a:latin typeface="David" panose="020E0502060401010101" pitchFamily="34" charset="-79"/>
                <a:cs typeface="David" panose="020E0502060401010101" pitchFamily="34" charset="-79"/>
              </a:rPr>
              <a:t>שאילתות........................................21</a:t>
            </a:r>
            <a:endParaRPr lang="en-US" b="1" dirty="0">
              <a:latin typeface="David" panose="020E0502060401010101" pitchFamily="34" charset="-79"/>
              <a:cs typeface="David" panose="020E0502060401010101" pitchFamily="34" charset="-79"/>
            </a:endParaRPr>
          </a:p>
          <a:p>
            <a:pPr marL="0" indent="0">
              <a:lnSpc>
                <a:spcPct val="150000"/>
              </a:lnSpc>
              <a:buNone/>
            </a:pPr>
            <a:r>
              <a:rPr lang="he-IL" b="1" dirty="0">
                <a:latin typeface="David" panose="020E0502060401010101" pitchFamily="34" charset="-79"/>
                <a:cs typeface="David" panose="020E0502060401010101" pitchFamily="34" charset="-79"/>
              </a:rPr>
              <a:t>פרוצדורה........................................25</a:t>
            </a:r>
          </a:p>
          <a:p>
            <a:pPr marL="0" indent="0">
              <a:lnSpc>
                <a:spcPct val="150000"/>
              </a:lnSpc>
              <a:buNone/>
            </a:pPr>
            <a:r>
              <a:rPr lang="he-IL" b="1" dirty="0">
                <a:latin typeface="David" panose="020E0502060401010101" pitchFamily="34" charset="-79"/>
                <a:cs typeface="David" panose="020E0502060401010101" pitchFamily="34" charset="-79"/>
              </a:rPr>
              <a:t>פונקציה..........................................26</a:t>
            </a:r>
          </a:p>
          <a:p>
            <a:pPr marL="0" indent="0">
              <a:lnSpc>
                <a:spcPct val="150000"/>
              </a:lnSpc>
              <a:buNone/>
            </a:pPr>
            <a:r>
              <a:rPr lang="he-IL" b="1" dirty="0">
                <a:latin typeface="David" panose="020E0502060401010101" pitchFamily="34" charset="-79"/>
                <a:cs typeface="David" panose="020E0502060401010101" pitchFamily="34" charset="-79"/>
              </a:rPr>
              <a:t>טריגר.............................................27</a:t>
            </a:r>
          </a:p>
          <a:p>
            <a:pPr marL="0" indent="0">
              <a:lnSpc>
                <a:spcPct val="150000"/>
              </a:lnSpc>
              <a:buNone/>
            </a:pPr>
            <a:r>
              <a:rPr lang="he-IL" b="1" dirty="0">
                <a:latin typeface="David" panose="020E0502060401010101" pitchFamily="34" charset="-79"/>
                <a:cs typeface="David" panose="020E0502060401010101" pitchFamily="34" charset="-79"/>
              </a:rPr>
              <a:t>אילוץ..............................................28</a:t>
            </a:r>
          </a:p>
          <a:p>
            <a:pPr marL="0" indent="0">
              <a:lnSpc>
                <a:spcPct val="150000"/>
              </a:lnSpc>
              <a:buNone/>
            </a:pPr>
            <a:endParaRPr lang="he-IL" b="1" dirty="0">
              <a:latin typeface="David" panose="020E0502060401010101" pitchFamily="34" charset="-79"/>
              <a:cs typeface="David" panose="020E0502060401010101" pitchFamily="34" charset="-79"/>
            </a:endParaRPr>
          </a:p>
          <a:p>
            <a:pPr marL="0" indent="0">
              <a:lnSpc>
                <a:spcPct val="150000"/>
              </a:lnSpc>
              <a:buNone/>
            </a:pPr>
            <a:r>
              <a:rPr lang="he-IL" b="1" dirty="0">
                <a:latin typeface="David" panose="020E0502060401010101" pitchFamily="34" charset="-79"/>
                <a:cs typeface="David" panose="020E0502060401010101" pitchFamily="34" charset="-79"/>
              </a:rPr>
              <a:t>סיכום פרויקט..................................29</a:t>
            </a:r>
          </a:p>
          <a:p>
            <a:pPr marL="0" indent="0">
              <a:lnSpc>
                <a:spcPct val="150000"/>
              </a:lnSpc>
              <a:buNone/>
            </a:pPr>
            <a:r>
              <a:rPr lang="he-IL" b="1" dirty="0">
                <a:latin typeface="David" panose="020E0502060401010101" pitchFamily="34" charset="-79"/>
                <a:cs typeface="David" panose="020E0502060401010101" pitchFamily="34" charset="-79"/>
              </a:rPr>
              <a:t>תודות.............................................30</a:t>
            </a:r>
          </a:p>
        </p:txBody>
      </p:sp>
      <p:sp>
        <p:nvSpPr>
          <p:cNvPr id="6" name="מציין מיקום תוכן 2">
            <a:extLst>
              <a:ext uri="{FF2B5EF4-FFF2-40B4-BE49-F238E27FC236}">
                <a16:creationId xmlns:a16="http://schemas.microsoft.com/office/drawing/2014/main" id="{E7A904B9-117E-438B-989C-68D2A1253120}"/>
              </a:ext>
            </a:extLst>
          </p:cNvPr>
          <p:cNvSpPr txBox="1">
            <a:spLocks/>
          </p:cNvSpPr>
          <p:nvPr/>
        </p:nvSpPr>
        <p:spPr>
          <a:xfrm>
            <a:off x="7072165" y="1942379"/>
            <a:ext cx="3932019" cy="4488901"/>
          </a:xfrm>
          <a:prstGeom prst="rect">
            <a:avLst/>
          </a:prstGeom>
        </p:spPr>
        <p:txBody>
          <a:bodyPr vert="horz" lIns="91440" tIns="45720" rIns="91440" bIns="45720" rtlCol="1">
            <a:normAutofit fontScale="250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he-IL" sz="9600" b="1" dirty="0">
                <a:latin typeface="David" panose="020E0502060401010101" pitchFamily="34" charset="-79"/>
                <a:cs typeface="David" panose="020E0502060401010101" pitchFamily="34" charset="-79"/>
              </a:rPr>
              <a:t>חלק א': מבוא</a:t>
            </a:r>
          </a:p>
          <a:p>
            <a:pPr marL="0" indent="0">
              <a:lnSpc>
                <a:spcPct val="150000"/>
              </a:lnSpc>
              <a:buFont typeface="Arial" panose="020B0604020202020204" pitchFamily="34" charset="0"/>
              <a:buNone/>
            </a:pPr>
            <a:r>
              <a:rPr lang="he-IL" sz="7200" b="1" dirty="0" err="1">
                <a:latin typeface="David" panose="020E0502060401010101" pitchFamily="34" charset="-79"/>
                <a:cs typeface="David" panose="020E0502060401010101" pitchFamily="34" charset="-79"/>
              </a:rPr>
              <a:t>תאור</a:t>
            </a:r>
            <a:r>
              <a:rPr lang="he-IL" sz="7200" b="1" dirty="0">
                <a:latin typeface="David" panose="020E0502060401010101" pitchFamily="34" charset="-79"/>
                <a:cs typeface="David" panose="020E0502060401010101" pitchFamily="34" charset="-79"/>
              </a:rPr>
              <a:t> הארגון...................................3</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מטרות המערכת...............................3</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משתמשי המערכת...........................4</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סביבת עבודה..................................4</a:t>
            </a:r>
            <a:endParaRPr lang="he-IL" sz="400" b="1" dirty="0">
              <a:latin typeface="David" panose="020E0502060401010101" pitchFamily="34" charset="-79"/>
              <a:cs typeface="David" panose="020E0502060401010101" pitchFamily="34" charset="-79"/>
            </a:endParaRPr>
          </a:p>
          <a:p>
            <a:pPr marL="0" indent="0">
              <a:lnSpc>
                <a:spcPct val="150000"/>
              </a:lnSpc>
              <a:buFont typeface="Arial" panose="020B0604020202020204" pitchFamily="34" charset="0"/>
              <a:buNone/>
            </a:pPr>
            <a:r>
              <a:rPr lang="he-IL" sz="9600" b="1" dirty="0">
                <a:latin typeface="David" panose="020E0502060401010101" pitchFamily="34" charset="-79"/>
                <a:cs typeface="David" panose="020E0502060401010101" pitchFamily="34" charset="-79"/>
              </a:rPr>
              <a:t>חלק ב': </a:t>
            </a:r>
            <a:r>
              <a:rPr lang="he-IL" sz="9600" b="1" dirty="0" err="1">
                <a:latin typeface="David" panose="020E0502060401010101" pitchFamily="34" charset="-79"/>
                <a:cs typeface="David" panose="020E0502060401010101" pitchFamily="34" charset="-79"/>
              </a:rPr>
              <a:t>תאור</a:t>
            </a:r>
            <a:r>
              <a:rPr lang="he-IL" sz="9600" b="1" dirty="0">
                <a:latin typeface="David" panose="020E0502060401010101" pitchFamily="34" charset="-79"/>
                <a:cs typeface="David" panose="020E0502060401010101" pitchFamily="34" charset="-79"/>
              </a:rPr>
              <a:t> נתונים</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רשימת טבלאות...............................5</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פרוט טבלאות..................................6</a:t>
            </a:r>
          </a:p>
          <a:p>
            <a:pPr marL="0" indent="0">
              <a:lnSpc>
                <a:spcPct val="150000"/>
              </a:lnSpc>
              <a:buFont typeface="Arial" panose="020B0604020202020204" pitchFamily="34" charset="0"/>
              <a:buNone/>
            </a:pPr>
            <a:r>
              <a:rPr lang="he-IL" sz="7200" b="1" dirty="0">
                <a:latin typeface="David" panose="020E0502060401010101" pitchFamily="34" charset="-79"/>
                <a:cs typeface="David" panose="020E0502060401010101" pitchFamily="34" charset="-79"/>
              </a:rPr>
              <a:t>אילוצים.........................................16</a:t>
            </a:r>
          </a:p>
          <a:p>
            <a:pPr marL="0" indent="0">
              <a:buFont typeface="Arial" panose="020B0604020202020204" pitchFamily="34" charset="0"/>
              <a:buNone/>
            </a:pPr>
            <a:endParaRPr lang="he-IL" dirty="0"/>
          </a:p>
        </p:txBody>
      </p:sp>
      <p:sp>
        <p:nvSpPr>
          <p:cNvPr id="7" name="מציין מיקום של מספר שקופית 6">
            <a:extLst>
              <a:ext uri="{FF2B5EF4-FFF2-40B4-BE49-F238E27FC236}">
                <a16:creationId xmlns:a16="http://schemas.microsoft.com/office/drawing/2014/main" id="{EC9D488E-FF70-443B-BC52-24B7E99B1577}"/>
              </a:ext>
            </a:extLst>
          </p:cNvPr>
          <p:cNvSpPr>
            <a:spLocks noGrp="1"/>
          </p:cNvSpPr>
          <p:nvPr>
            <p:ph type="sldNum" sz="quarter" idx="12"/>
          </p:nvPr>
        </p:nvSpPr>
        <p:spPr/>
        <p:txBody>
          <a:bodyPr/>
          <a:lstStyle/>
          <a:p>
            <a:fld id="{9D77A262-A0C6-4C11-A684-4A90AD65C1E2}" type="slidenum">
              <a:rPr lang="he-IL" smtClean="0"/>
              <a:t>2</a:t>
            </a:fld>
            <a:endParaRPr lang="he-IL" dirty="0"/>
          </a:p>
        </p:txBody>
      </p:sp>
      <p:sp>
        <p:nvSpPr>
          <p:cNvPr id="4" name="Rectangle 1">
            <a:extLst>
              <a:ext uri="{FF2B5EF4-FFF2-40B4-BE49-F238E27FC236}">
                <a16:creationId xmlns:a16="http://schemas.microsoft.com/office/drawing/2014/main" id="{6B69A3E5-8172-454A-84A4-B43DDDE4132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e-IL" altLang="he-IL" sz="900" b="0" i="0" u="none" strike="noStrike" cap="none" normalizeH="0" baseline="0">
                <a:ln>
                  <a:noFill/>
                </a:ln>
                <a:solidFill>
                  <a:srgbClr val="008000"/>
                </a:solidFill>
                <a:effectLst/>
                <a:latin typeface="Cascadia Mono" panose="020B0609020000020004" pitchFamily="49" charset="0"/>
                <a:cs typeface="Arial" panose="020B0604020202020204" pitchFamily="34" charset="0"/>
              </a:rPr>
              <a:t>קונסטרקטור</a:t>
            </a:r>
            <a:r>
              <a:rPr kumimoji="0" lang="he-IL" altLang="he-IL" sz="800" b="0" i="0" u="none" strike="noStrike" cap="none" normalizeH="0" baseline="0">
                <a:ln>
                  <a:noFill/>
                </a:ln>
                <a:solidFill>
                  <a:schemeClr val="tx1"/>
                </a:solidFill>
                <a:effectLst/>
              </a:rPr>
              <a:t> </a:t>
            </a:r>
            <a:endParaRPr kumimoji="0" lang="he-IL" altLang="he-IL" sz="1800" b="0" i="0" u="none" strike="noStrike" cap="none" normalizeH="0" baseline="0">
              <a:ln>
                <a:noFill/>
              </a:ln>
              <a:solidFill>
                <a:schemeClr val="tx1"/>
              </a:solidFill>
              <a:effectLst/>
              <a:latin typeface="Arial" panose="020B0604020202020204" pitchFamily="34" charset="0"/>
            </a:endParaRPr>
          </a:p>
        </p:txBody>
      </p:sp>
      <p:sp>
        <p:nvSpPr>
          <p:cNvPr id="13" name="חץ: מחומש 12">
            <a:extLst>
              <a:ext uri="{FF2B5EF4-FFF2-40B4-BE49-F238E27FC236}">
                <a16:creationId xmlns:a16="http://schemas.microsoft.com/office/drawing/2014/main" id="{D5178FF4-40F2-421F-A454-BBEDADA0E731}"/>
              </a:ext>
            </a:extLst>
          </p:cNvPr>
          <p:cNvSpPr/>
          <p:nvPr/>
        </p:nvSpPr>
        <p:spPr>
          <a:xfrm flipH="1">
            <a:off x="4116712" y="5273461"/>
            <a:ext cx="2393646" cy="40640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he-IL" sz="2400" b="1" dirty="0">
                <a:solidFill>
                  <a:schemeClr val="tx1"/>
                </a:solidFill>
                <a:latin typeface="David" panose="020E0502060401010101" pitchFamily="34" charset="-79"/>
                <a:cs typeface="David" panose="020E0502060401010101" pitchFamily="34" charset="-79"/>
              </a:rPr>
              <a:t>חלק ה': סיכום</a:t>
            </a:r>
          </a:p>
        </p:txBody>
      </p:sp>
    </p:spTree>
    <p:extLst>
      <p:ext uri="{BB962C8B-B14F-4D97-AF65-F5344CB8AC3E}">
        <p14:creationId xmlns:p14="http://schemas.microsoft.com/office/powerpoint/2010/main" val="3286986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חץ: מחומש 8">
            <a:extLst>
              <a:ext uri="{FF2B5EF4-FFF2-40B4-BE49-F238E27FC236}">
                <a16:creationId xmlns:a16="http://schemas.microsoft.com/office/drawing/2014/main" id="{1839729E-750D-4BF2-B85B-71034B282E71}"/>
              </a:ext>
            </a:extLst>
          </p:cNvPr>
          <p:cNvSpPr/>
          <p:nvPr/>
        </p:nvSpPr>
        <p:spPr>
          <a:xfrm flipH="1">
            <a:off x="8010768" y="633046"/>
            <a:ext cx="3530991" cy="804985"/>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 name="כותרת 1">
            <a:extLst>
              <a:ext uri="{FF2B5EF4-FFF2-40B4-BE49-F238E27FC236}">
                <a16:creationId xmlns:a16="http://schemas.microsoft.com/office/drawing/2014/main" id="{42615B49-9102-417F-AA11-0AE03EB91370}"/>
              </a:ext>
            </a:extLst>
          </p:cNvPr>
          <p:cNvSpPr>
            <a:spLocks noGrp="1"/>
          </p:cNvSpPr>
          <p:nvPr>
            <p:ph type="title"/>
          </p:nvPr>
        </p:nvSpPr>
        <p:spPr>
          <a:xfrm>
            <a:off x="838200" y="349494"/>
            <a:ext cx="10515600" cy="1325563"/>
          </a:xfrm>
        </p:spPr>
        <p:txBody>
          <a:bodyPr>
            <a:normAutofit/>
          </a:bodyPr>
          <a:lstStyle/>
          <a:p>
            <a:r>
              <a:rPr lang="he-IL" sz="4000" b="1" dirty="0">
                <a:latin typeface="David" panose="020E0502060401010101" pitchFamily="34" charset="-79"/>
                <a:cs typeface="David" panose="020E0502060401010101" pitchFamily="34" charset="-79"/>
              </a:rPr>
              <a:t>חלק א': מבוא</a:t>
            </a:r>
          </a:p>
        </p:txBody>
      </p:sp>
      <p:sp>
        <p:nvSpPr>
          <p:cNvPr id="10" name="חץ: מחומש 9">
            <a:extLst>
              <a:ext uri="{FF2B5EF4-FFF2-40B4-BE49-F238E27FC236}">
                <a16:creationId xmlns:a16="http://schemas.microsoft.com/office/drawing/2014/main" id="{0ADEBA9D-C615-49D1-BBA3-9686927E5ED0}"/>
              </a:ext>
            </a:extLst>
          </p:cNvPr>
          <p:cNvSpPr/>
          <p:nvPr/>
        </p:nvSpPr>
        <p:spPr>
          <a:xfrm flipH="1">
            <a:off x="9923973" y="1705952"/>
            <a:ext cx="1549011" cy="39922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תיבת טקסט 4">
            <a:extLst>
              <a:ext uri="{FF2B5EF4-FFF2-40B4-BE49-F238E27FC236}">
                <a16:creationId xmlns:a16="http://schemas.microsoft.com/office/drawing/2014/main" id="{8927185B-4FE6-4921-875F-C758419C6F8C}"/>
              </a:ext>
            </a:extLst>
          </p:cNvPr>
          <p:cNvSpPr txBox="1"/>
          <p:nvPr/>
        </p:nvSpPr>
        <p:spPr>
          <a:xfrm>
            <a:off x="4625926" y="1713677"/>
            <a:ext cx="6915832" cy="2077492"/>
          </a:xfrm>
          <a:prstGeom prst="rect">
            <a:avLst/>
          </a:prstGeom>
          <a:noFill/>
        </p:spPr>
        <p:txBody>
          <a:bodyPr wrap="square" rtlCol="1">
            <a:spAutoFit/>
          </a:bodyPr>
          <a:lstStyle/>
          <a:p>
            <a:r>
              <a:rPr lang="he-IL" sz="2000" b="1" dirty="0">
                <a:latin typeface="David" panose="020E0502060401010101" pitchFamily="34" charset="-79"/>
                <a:cs typeface="David" panose="020E0502060401010101" pitchFamily="34" charset="-79"/>
              </a:rPr>
              <a:t>תיאור הארגון</a:t>
            </a:r>
          </a:p>
          <a:p>
            <a:endParaRPr lang="he-IL" sz="100" b="1" dirty="0">
              <a:latin typeface="David" panose="020E0502060401010101" pitchFamily="34" charset="-79"/>
              <a:cs typeface="David" panose="020E0502060401010101" pitchFamily="34" charset="-79"/>
            </a:endParaRPr>
          </a:p>
          <a:p>
            <a:endParaRPr lang="he-IL" sz="1000" b="1" dirty="0">
              <a:latin typeface="David" panose="020E0502060401010101" pitchFamily="34" charset="-79"/>
              <a:cs typeface="David" panose="020E0502060401010101" pitchFamily="34" charset="-79"/>
            </a:endParaRPr>
          </a:p>
          <a:p>
            <a:r>
              <a:rPr lang="en-US"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Special School</a:t>
            </a:r>
            <a:r>
              <a:rPr lang="he-IL" sz="1600" dirty="0">
                <a:latin typeface="David" panose="020E0502060401010101" pitchFamily="34" charset="-79"/>
                <a:cs typeface="David" panose="020E0502060401010101" pitchFamily="34" charset="-79"/>
              </a:rPr>
              <a:t>הוא ארגון חינוכי הפועל במתכונת דיגיטלית, ומטרתו להעניק מערך לימודי מותאם-אישית לתלמידים ברמות שונות. הארגון מספק שיעורים בתחומי ליבה כגון קריאה, כתיבה, חשבון, אנגלית, הבנת הנקרא והבנת הנשמע ומאפשר לתלמידים להתקדם בהתאם לקצב האישי שלהם.</a:t>
            </a:r>
            <a:br>
              <a:rPr lang="he-IL" sz="1600" dirty="0">
                <a:latin typeface="David" panose="020E0502060401010101" pitchFamily="34" charset="-79"/>
                <a:cs typeface="David" panose="020E0502060401010101" pitchFamily="34" charset="-79"/>
              </a:rPr>
            </a:br>
            <a:r>
              <a:rPr lang="he-IL" sz="1600" dirty="0">
                <a:latin typeface="David" panose="020E0502060401010101" pitchFamily="34" charset="-79"/>
                <a:cs typeface="David" panose="020E0502060401010101" pitchFamily="34" charset="-79"/>
              </a:rPr>
              <a:t>בנוסף לפעילות הלימודית, הארגון מפעיל מערך רחב של מתנדבים שמסייעים לתלמידים באופן פרטני, ומנהל תהליך רישום עקבי למערך ההתנדבויות.</a:t>
            </a:r>
            <a:endParaRPr lang="he-IL" dirty="0">
              <a:latin typeface="David" panose="020E0502060401010101" pitchFamily="34" charset="-79"/>
              <a:cs typeface="David" panose="020E0502060401010101" pitchFamily="34" charset="-79"/>
            </a:endParaRPr>
          </a:p>
        </p:txBody>
      </p:sp>
      <p:sp>
        <p:nvSpPr>
          <p:cNvPr id="11" name="חץ: מחומש 10">
            <a:extLst>
              <a:ext uri="{FF2B5EF4-FFF2-40B4-BE49-F238E27FC236}">
                <a16:creationId xmlns:a16="http://schemas.microsoft.com/office/drawing/2014/main" id="{C04442D6-E551-4D31-8053-A52A2FF0C101}"/>
              </a:ext>
            </a:extLst>
          </p:cNvPr>
          <p:cNvSpPr/>
          <p:nvPr/>
        </p:nvSpPr>
        <p:spPr>
          <a:xfrm flipH="1">
            <a:off x="9730154" y="3875123"/>
            <a:ext cx="1811604" cy="413063"/>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תיבת טקסט 6">
            <a:extLst>
              <a:ext uri="{FF2B5EF4-FFF2-40B4-BE49-F238E27FC236}">
                <a16:creationId xmlns:a16="http://schemas.microsoft.com/office/drawing/2014/main" id="{FA01260D-AB4A-4AF5-A262-F055FE25D49A}"/>
              </a:ext>
            </a:extLst>
          </p:cNvPr>
          <p:cNvSpPr txBox="1"/>
          <p:nvPr/>
        </p:nvSpPr>
        <p:spPr>
          <a:xfrm>
            <a:off x="3298092" y="3852724"/>
            <a:ext cx="8243668" cy="1738938"/>
          </a:xfrm>
          <a:prstGeom prst="rect">
            <a:avLst/>
          </a:prstGeom>
          <a:noFill/>
        </p:spPr>
        <p:txBody>
          <a:bodyPr wrap="square" rtlCol="1">
            <a:spAutoFit/>
          </a:bodyPr>
          <a:lstStyle/>
          <a:p>
            <a:r>
              <a:rPr lang="he-IL" sz="2000" b="1" dirty="0">
                <a:latin typeface="David" panose="020E0502060401010101" pitchFamily="34" charset="-79"/>
                <a:cs typeface="David" panose="020E0502060401010101" pitchFamily="34" charset="-79"/>
              </a:rPr>
              <a:t>מטרות המערכת</a:t>
            </a:r>
            <a:endParaRPr lang="he-IL" sz="200" b="1" dirty="0">
              <a:latin typeface="David" panose="020E0502060401010101" pitchFamily="34" charset="-79"/>
              <a:cs typeface="David" panose="020E0502060401010101" pitchFamily="34" charset="-79"/>
            </a:endParaRPr>
          </a:p>
          <a:p>
            <a:r>
              <a:rPr lang="he-IL" sz="200" b="1" dirty="0">
                <a:latin typeface="David" panose="020E0502060401010101" pitchFamily="34" charset="-79"/>
                <a:cs typeface="David" panose="020E0502060401010101" pitchFamily="34" charset="-79"/>
              </a:rPr>
              <a:t>ת</a:t>
            </a:r>
            <a:r>
              <a:rPr lang="he-IL" sz="700" b="1" dirty="0">
                <a:latin typeface="David" panose="020E0502060401010101" pitchFamily="34" charset="-79"/>
                <a:cs typeface="David" panose="020E0502060401010101" pitchFamily="34" charset="-79"/>
              </a:rPr>
              <a:t> </a:t>
            </a:r>
            <a:r>
              <a:rPr lang="he-IL" sz="800" b="1" dirty="0">
                <a:latin typeface="David" panose="020E0502060401010101" pitchFamily="34" charset="-79"/>
                <a:cs typeface="David" panose="020E0502060401010101" pitchFamily="34" charset="-79"/>
              </a:rPr>
              <a:t>                  </a:t>
            </a:r>
            <a:endParaRPr lang="he-IL" sz="300" b="1" dirty="0">
              <a:latin typeface="David" panose="020E0502060401010101" pitchFamily="34" charset="-79"/>
              <a:cs typeface="David" panose="020E0502060401010101" pitchFamily="34" charset="-79"/>
            </a:endParaRPr>
          </a:p>
          <a:p>
            <a:r>
              <a:rPr lang="he-IL" sz="1600" dirty="0">
                <a:latin typeface="David" panose="020E0502060401010101" pitchFamily="34" charset="-79"/>
                <a:cs typeface="David" panose="020E0502060401010101" pitchFamily="34" charset="-79"/>
              </a:rPr>
              <a:t>מטרת המערכת היא לנהל בצורה דיגיטלית ומסודרת את הפעילות של הארגון. המערכת מאפשרת ניהול תלמידים ורמות לימוד, התאמת שיעורים אישית לכל תלמיד לפי רמתו, ומעקב אחר ההתקדמות הלימודית שלו.</a:t>
            </a:r>
          </a:p>
          <a:p>
            <a:r>
              <a:rPr lang="he-IL" sz="1600" dirty="0">
                <a:latin typeface="David" panose="020E0502060401010101" pitchFamily="34" charset="-79"/>
                <a:cs typeface="David" panose="020E0502060401010101" pitchFamily="34" charset="-79"/>
              </a:rPr>
              <a:t>בנוסף, המערכת מאפשרת ניהול מקצועות ושיעורים, רישום לרכישת תכנים לימודיים, וניהול מערך מתנדבים המסייעים לתלמידים באופן אישי. כל הנתונים נשמרים בצורה מסודרת כדי לאפשר מעקב, בקרה ושיפור תהליכי הלמידה וההתנדבות בארגון.</a:t>
            </a:r>
          </a:p>
        </p:txBody>
      </p:sp>
      <p:sp>
        <p:nvSpPr>
          <p:cNvPr id="6" name="מציין מיקום של מספר שקופית 5">
            <a:extLst>
              <a:ext uri="{FF2B5EF4-FFF2-40B4-BE49-F238E27FC236}">
                <a16:creationId xmlns:a16="http://schemas.microsoft.com/office/drawing/2014/main" id="{EDAFE7F7-FB50-44B5-81F0-6BE65D1F4FBC}"/>
              </a:ext>
            </a:extLst>
          </p:cNvPr>
          <p:cNvSpPr>
            <a:spLocks noGrp="1"/>
          </p:cNvSpPr>
          <p:nvPr>
            <p:ph type="sldNum" sz="quarter" idx="12"/>
          </p:nvPr>
        </p:nvSpPr>
        <p:spPr/>
        <p:txBody>
          <a:bodyPr/>
          <a:lstStyle/>
          <a:p>
            <a:fld id="{9D77A262-A0C6-4C11-A684-4A90AD65C1E2}" type="slidenum">
              <a:rPr lang="he-IL" smtClean="0"/>
              <a:t>3</a:t>
            </a:fld>
            <a:endParaRPr lang="he-IL"/>
          </a:p>
        </p:txBody>
      </p:sp>
    </p:spTree>
    <p:extLst>
      <p:ext uri="{BB962C8B-B14F-4D97-AF65-F5344CB8AC3E}">
        <p14:creationId xmlns:p14="http://schemas.microsoft.com/office/powerpoint/2010/main" val="3946326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חץ: מחומש 5">
            <a:extLst>
              <a:ext uri="{FF2B5EF4-FFF2-40B4-BE49-F238E27FC236}">
                <a16:creationId xmlns:a16="http://schemas.microsoft.com/office/drawing/2014/main" id="{2D1280D3-BDD1-49DD-BE94-C05835600D21}"/>
              </a:ext>
            </a:extLst>
          </p:cNvPr>
          <p:cNvSpPr/>
          <p:nvPr/>
        </p:nvSpPr>
        <p:spPr>
          <a:xfrm flipH="1">
            <a:off x="9440984" y="1313718"/>
            <a:ext cx="2049583" cy="39922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חץ: מחומש 6">
            <a:extLst>
              <a:ext uri="{FF2B5EF4-FFF2-40B4-BE49-F238E27FC236}">
                <a16:creationId xmlns:a16="http://schemas.microsoft.com/office/drawing/2014/main" id="{B0D682DA-A0DB-4329-B1E8-55643748AAA1}"/>
              </a:ext>
            </a:extLst>
          </p:cNvPr>
          <p:cNvSpPr/>
          <p:nvPr/>
        </p:nvSpPr>
        <p:spPr>
          <a:xfrm flipH="1">
            <a:off x="9941555" y="3788239"/>
            <a:ext cx="1549012" cy="39922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כותרת 1">
            <a:extLst>
              <a:ext uri="{FF2B5EF4-FFF2-40B4-BE49-F238E27FC236}">
                <a16:creationId xmlns:a16="http://schemas.microsoft.com/office/drawing/2014/main" id="{33109CF6-1891-41AE-AA3C-7D65605C8A4B}"/>
              </a:ext>
            </a:extLst>
          </p:cNvPr>
          <p:cNvSpPr txBox="1">
            <a:spLocks/>
          </p:cNvSpPr>
          <p:nvPr/>
        </p:nvSpPr>
        <p:spPr>
          <a:xfrm>
            <a:off x="2000738" y="1337898"/>
            <a:ext cx="9544537"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he-IL" sz="2000" b="1" dirty="0">
                <a:latin typeface="David" panose="020E0502060401010101" pitchFamily="34" charset="-79"/>
                <a:cs typeface="David" panose="020E0502060401010101" pitchFamily="34" charset="-79"/>
              </a:rPr>
              <a:t>משתמשי המערכת</a:t>
            </a:r>
          </a:p>
          <a:p>
            <a:r>
              <a:rPr lang="he-IL" sz="1600" dirty="0">
                <a:latin typeface="David" panose="020E0502060401010101" pitchFamily="34" charset="-79"/>
                <a:cs typeface="David" panose="020E0502060401010101" pitchFamily="34" charset="-79"/>
              </a:rPr>
              <a:t>הורים – משתמשים המבצעים הזמנות עבור התלמידים, ועוקבים אחר ההתקדמות הלימודית שלהם.</a:t>
            </a:r>
          </a:p>
          <a:p>
            <a:r>
              <a:rPr lang="he-IL" sz="1600" dirty="0">
                <a:latin typeface="David" panose="020E0502060401010101" pitchFamily="34" charset="-79"/>
                <a:cs typeface="David" panose="020E0502060401010101" pitchFamily="34" charset="-79"/>
              </a:rPr>
              <a:t>מנהלי מערכת – אחראים על ניהול כלל הנתונים במערכת, כולל משתמשים, תלמידים, מקצועות ושיעורים.</a:t>
            </a:r>
          </a:p>
          <a:p>
            <a:r>
              <a:rPr lang="he-IL" sz="1600" dirty="0">
                <a:latin typeface="David" panose="020E0502060401010101" pitchFamily="34" charset="-79"/>
                <a:cs typeface="David" panose="020E0502060401010101" pitchFamily="34" charset="-79"/>
              </a:rPr>
              <a:t>צוות פדגוגי – אחראי על התאמת תכנים לימודיים ומעקב אחר התקדמות התלמידים,                                                               אך אינם משתמשים ישירים במערכת - המידע מועבר אליהם על ידי מנהל המערכת.</a:t>
            </a:r>
          </a:p>
          <a:p>
            <a:r>
              <a:rPr lang="he-IL" sz="1600" dirty="0">
                <a:latin typeface="David" panose="020E0502060401010101" pitchFamily="34" charset="-79"/>
                <a:cs typeface="David" panose="020E0502060401010101" pitchFamily="34" charset="-79"/>
              </a:rPr>
              <a:t>תלמידים – אינם משתמשים ישירים במערכת, אך הם הגורם המרכזי במערכת, עבורם מנוהלים השיעורים, ההתקדמות והסיוע הלימודי.</a:t>
            </a:r>
          </a:p>
          <a:p>
            <a:pPr marL="0" indent="0">
              <a:buNone/>
            </a:pPr>
            <a:r>
              <a:rPr lang="he-IL" sz="900" dirty="0">
                <a:latin typeface="David" panose="020E0502060401010101" pitchFamily="34" charset="-79"/>
                <a:cs typeface="David" panose="020E0502060401010101" pitchFamily="34" charset="-79"/>
              </a:rPr>
              <a:t> </a:t>
            </a:r>
          </a:p>
          <a:p>
            <a:pPr marL="0" indent="0">
              <a:buFont typeface="Arial" panose="020B0604020202020204" pitchFamily="34" charset="0"/>
              <a:buNone/>
            </a:pPr>
            <a:r>
              <a:rPr lang="he-IL" sz="2000" b="1" dirty="0">
                <a:latin typeface="David" panose="020E0502060401010101" pitchFamily="34" charset="-79"/>
                <a:cs typeface="David" panose="020E0502060401010101" pitchFamily="34" charset="-79"/>
              </a:rPr>
              <a:t>סביבת עבודה</a:t>
            </a:r>
            <a:endParaRPr lang="he-IL" sz="1100" b="1" dirty="0"/>
          </a:p>
          <a:p>
            <a:pPr marL="0" indent="0">
              <a:buNone/>
            </a:pPr>
            <a:r>
              <a:rPr lang="he-IL" sz="1600" dirty="0">
                <a:latin typeface="David" panose="020E0502060401010101" pitchFamily="34" charset="-79"/>
                <a:cs typeface="David" panose="020E0502060401010101" pitchFamily="34" charset="-79"/>
              </a:rPr>
              <a:t>הפרויקט פותח בסביבת </a:t>
            </a:r>
            <a:r>
              <a:rPr lang="en-US" sz="1600" dirty="0">
                <a:latin typeface="David" panose="020E0502060401010101" pitchFamily="34" charset="-79"/>
                <a:cs typeface="David" panose="020E0502060401010101" pitchFamily="34" charset="-79"/>
              </a:rPr>
              <a:t>SQL Server 2022, </a:t>
            </a:r>
            <a:r>
              <a:rPr lang="he-IL" sz="1600" dirty="0">
                <a:latin typeface="David" panose="020E0502060401010101" pitchFamily="34" charset="-79"/>
                <a:cs typeface="David" panose="020E0502060401010101" pitchFamily="34" charset="-79"/>
              </a:rPr>
              <a:t>תוך שימוש בשפת </a:t>
            </a:r>
            <a:r>
              <a:rPr lang="en-US" sz="1600" dirty="0">
                <a:latin typeface="David" panose="020E0502060401010101" pitchFamily="34" charset="-79"/>
                <a:cs typeface="David" panose="020E0502060401010101" pitchFamily="34" charset="-79"/>
              </a:rPr>
              <a:t>SQL </a:t>
            </a:r>
            <a:r>
              <a:rPr lang="he-IL" sz="1600" dirty="0">
                <a:latin typeface="David" panose="020E0502060401010101" pitchFamily="34" charset="-79"/>
                <a:cs typeface="David" panose="020E0502060401010101" pitchFamily="34" charset="-79"/>
              </a:rPr>
              <a:t>להגדרת טבלאות, יצירת קשרים בין ישויות, הגדרת אילוצים והזנת נתונים.</a:t>
            </a:r>
          </a:p>
          <a:p>
            <a:pPr marL="0" indent="0">
              <a:buNone/>
            </a:pPr>
            <a:r>
              <a:rPr lang="he-IL" sz="1600" dirty="0">
                <a:latin typeface="David" panose="020E0502060401010101" pitchFamily="34" charset="-79"/>
                <a:cs typeface="David" panose="020E0502060401010101" pitchFamily="34" charset="-79"/>
              </a:rPr>
              <a:t>תכנון המערכת בוצע בהתאם לעקרונות נרמול נתונים, שמירה על עקביות ויציבות המידע, וכן תוך התחשבות באפשרות להרחבה עתידית. מבנה המערכת מאפשר להוסיף בקלות מקצועות חדשים, שיעורים נוספים, רמות לימוד שונות או רכיבים נוספים, ללא צורך בשינויים מבניים משמעותיים במסד הנתונים.</a:t>
            </a:r>
          </a:p>
        </p:txBody>
      </p:sp>
      <p:sp>
        <p:nvSpPr>
          <p:cNvPr id="3" name="מציין מיקום של מספר שקופית 2">
            <a:extLst>
              <a:ext uri="{FF2B5EF4-FFF2-40B4-BE49-F238E27FC236}">
                <a16:creationId xmlns:a16="http://schemas.microsoft.com/office/drawing/2014/main" id="{EC6BB0E5-847D-438B-A116-C7B3A1020944}"/>
              </a:ext>
            </a:extLst>
          </p:cNvPr>
          <p:cNvSpPr>
            <a:spLocks noGrp="1"/>
          </p:cNvSpPr>
          <p:nvPr>
            <p:ph type="sldNum" sz="quarter" idx="12"/>
          </p:nvPr>
        </p:nvSpPr>
        <p:spPr/>
        <p:txBody>
          <a:bodyPr/>
          <a:lstStyle/>
          <a:p>
            <a:fld id="{9D77A262-A0C6-4C11-A684-4A90AD65C1E2}" type="slidenum">
              <a:rPr lang="he-IL" smtClean="0"/>
              <a:t>4</a:t>
            </a:fld>
            <a:endParaRPr lang="he-IL"/>
          </a:p>
        </p:txBody>
      </p:sp>
    </p:spTree>
    <p:extLst>
      <p:ext uri="{BB962C8B-B14F-4D97-AF65-F5344CB8AC3E}">
        <p14:creationId xmlns:p14="http://schemas.microsoft.com/office/powerpoint/2010/main" val="162185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חץ: מחומש 5">
            <a:extLst>
              <a:ext uri="{FF2B5EF4-FFF2-40B4-BE49-F238E27FC236}">
                <a16:creationId xmlns:a16="http://schemas.microsoft.com/office/drawing/2014/main" id="{5377975B-811E-4064-B132-76FEB38C9886}"/>
              </a:ext>
            </a:extLst>
          </p:cNvPr>
          <p:cNvSpPr/>
          <p:nvPr/>
        </p:nvSpPr>
        <p:spPr>
          <a:xfrm flipH="1">
            <a:off x="6627446" y="633046"/>
            <a:ext cx="4914312" cy="804985"/>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4000" b="1" dirty="0">
                <a:solidFill>
                  <a:schemeClr val="tx1"/>
                </a:solidFill>
                <a:latin typeface="David" panose="020E0502060401010101" pitchFamily="34" charset="-79"/>
                <a:cs typeface="David" panose="020E0502060401010101" pitchFamily="34" charset="-79"/>
              </a:rPr>
              <a:t>חלק ב': </a:t>
            </a:r>
            <a:r>
              <a:rPr lang="he-IL" sz="4000" b="1" dirty="0" err="1">
                <a:solidFill>
                  <a:schemeClr val="tx1"/>
                </a:solidFill>
                <a:latin typeface="David" panose="020E0502060401010101" pitchFamily="34" charset="-79"/>
                <a:cs typeface="David" panose="020E0502060401010101" pitchFamily="34" charset="-79"/>
              </a:rPr>
              <a:t>תאור</a:t>
            </a:r>
            <a:r>
              <a:rPr lang="he-IL" sz="4000" b="1" dirty="0">
                <a:solidFill>
                  <a:schemeClr val="tx1"/>
                </a:solidFill>
                <a:latin typeface="David" panose="020E0502060401010101" pitchFamily="34" charset="-79"/>
                <a:cs typeface="David" panose="020E0502060401010101" pitchFamily="34" charset="-79"/>
              </a:rPr>
              <a:t> נתונים</a:t>
            </a:r>
          </a:p>
        </p:txBody>
      </p:sp>
      <p:sp>
        <p:nvSpPr>
          <p:cNvPr id="7" name="חץ: מחומש 6">
            <a:extLst>
              <a:ext uri="{FF2B5EF4-FFF2-40B4-BE49-F238E27FC236}">
                <a16:creationId xmlns:a16="http://schemas.microsoft.com/office/drawing/2014/main" id="{2DE5BE58-C30C-40A2-BAF9-095218EC88A0}"/>
              </a:ext>
            </a:extLst>
          </p:cNvPr>
          <p:cNvSpPr/>
          <p:nvPr/>
        </p:nvSpPr>
        <p:spPr>
          <a:xfrm flipH="1">
            <a:off x="8783782" y="1820985"/>
            <a:ext cx="2757976" cy="399220"/>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מציין מיקום תוכן 2">
            <a:extLst>
              <a:ext uri="{FF2B5EF4-FFF2-40B4-BE49-F238E27FC236}">
                <a16:creationId xmlns:a16="http://schemas.microsoft.com/office/drawing/2014/main" id="{E0FD050F-4B02-4FFB-BF71-56CC6241F70D}"/>
              </a:ext>
            </a:extLst>
          </p:cNvPr>
          <p:cNvSpPr>
            <a:spLocks noGrp="1"/>
          </p:cNvSpPr>
          <p:nvPr>
            <p:ph idx="1"/>
          </p:nvPr>
        </p:nvSpPr>
        <p:spPr>
          <a:xfrm>
            <a:off x="838200" y="1820985"/>
            <a:ext cx="10515600" cy="4535365"/>
          </a:xfrm>
        </p:spPr>
        <p:txBody>
          <a:bodyPr>
            <a:normAutofit lnSpcReduction="10000"/>
          </a:bodyPr>
          <a:lstStyle/>
          <a:p>
            <a:pPr marL="0" indent="0">
              <a:buNone/>
            </a:pPr>
            <a:r>
              <a:rPr lang="he-IL" b="1" dirty="0">
                <a:latin typeface="David" panose="020E0502060401010101" pitchFamily="34" charset="-79"/>
                <a:cs typeface="David" panose="020E0502060401010101" pitchFamily="34" charset="-79"/>
              </a:rPr>
              <a:t>רשימת טבלאות</a:t>
            </a:r>
          </a:p>
          <a:p>
            <a:pPr marL="0" indent="0">
              <a:buNone/>
            </a:pPr>
            <a:endParaRPr lang="he-IL" sz="600" b="1" dirty="0">
              <a:latin typeface="David" panose="020E0502060401010101" pitchFamily="34" charset="-79"/>
              <a:cs typeface="David" panose="020E0502060401010101" pitchFamily="34" charset="-79"/>
            </a:endParaRPr>
          </a:p>
          <a:p>
            <a:pPr marL="514350" indent="-514350">
              <a:buAutoNum type="arabicPeriod"/>
            </a:pPr>
            <a:r>
              <a:rPr lang="en-US" sz="2000" b="1" dirty="0">
                <a:latin typeface="David" panose="020E0502060401010101" pitchFamily="34" charset="-79"/>
                <a:cs typeface="David" panose="020E0502060401010101" pitchFamily="34" charset="-79"/>
              </a:rPr>
              <a:t>Users</a:t>
            </a:r>
            <a:r>
              <a:rPr lang="en-US" sz="2000" dirty="0">
                <a:latin typeface="David" panose="020E0502060401010101" pitchFamily="34" charset="-79"/>
                <a:cs typeface="David" panose="020E0502060401010101" pitchFamily="34" charset="-79"/>
              </a:rPr>
              <a:t> </a:t>
            </a:r>
            <a:r>
              <a:rPr lang="he-IL" sz="2000" b="1"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 טבלת משתמשים (הורים ומנהלים).</a:t>
            </a:r>
          </a:p>
          <a:p>
            <a:pPr marL="514350" indent="-514350">
              <a:buAutoNum type="arabicPeriod"/>
            </a:pPr>
            <a:r>
              <a:rPr lang="en-US" sz="2000" b="1" dirty="0">
                <a:latin typeface="David" panose="020E0502060401010101" pitchFamily="34" charset="-79"/>
                <a:cs typeface="David" panose="020E0502060401010101" pitchFamily="34" charset="-79"/>
              </a:rPr>
              <a:t>Levels</a:t>
            </a:r>
            <a:r>
              <a:rPr lang="he-IL" sz="2000" b="1" dirty="0">
                <a:latin typeface="David" panose="020E0502060401010101" pitchFamily="34" charset="-79"/>
                <a:cs typeface="David" panose="020E0502060401010101" pitchFamily="34" charset="-79"/>
              </a:rPr>
              <a:t> - </a:t>
            </a:r>
            <a:r>
              <a:rPr lang="he-IL" sz="2000" dirty="0">
                <a:latin typeface="David" panose="020E0502060401010101" pitchFamily="34" charset="-79"/>
                <a:cs typeface="David" panose="020E0502060401010101" pitchFamily="34" charset="-79"/>
              </a:rPr>
              <a:t>טבלת רמות תפקודיות.</a:t>
            </a:r>
          </a:p>
          <a:p>
            <a:pPr marL="514350" indent="-514350">
              <a:buAutoNum type="arabicPeriod"/>
            </a:pPr>
            <a:r>
              <a:rPr lang="en-US" sz="2000" b="1" dirty="0">
                <a:latin typeface="David" panose="020E0502060401010101" pitchFamily="34" charset="-79"/>
                <a:cs typeface="David" panose="020E0502060401010101" pitchFamily="34" charset="-79"/>
              </a:rPr>
              <a:t>Students</a:t>
            </a:r>
            <a:r>
              <a:rPr lang="he-IL" sz="2000" b="1"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 טבלת תלמידים.</a:t>
            </a:r>
          </a:p>
          <a:p>
            <a:pPr marL="514350" indent="-514350">
              <a:buAutoNum type="arabicPeriod"/>
            </a:pPr>
            <a:r>
              <a:rPr lang="en-US" sz="2000" b="1" dirty="0">
                <a:latin typeface="David" panose="020E0502060401010101" pitchFamily="34" charset="-79"/>
                <a:cs typeface="David" panose="020E0502060401010101" pitchFamily="34" charset="-79"/>
              </a:rPr>
              <a:t>Professions</a:t>
            </a:r>
            <a:r>
              <a:rPr lang="he-IL" sz="2000" dirty="0">
                <a:latin typeface="David" panose="020E0502060401010101" pitchFamily="34" charset="-79"/>
                <a:cs typeface="David" panose="020E0502060401010101" pitchFamily="34" charset="-79"/>
              </a:rPr>
              <a:t> - טבלת מקצועות.</a:t>
            </a:r>
          </a:p>
          <a:p>
            <a:pPr marL="514350" indent="-514350">
              <a:buAutoNum type="arabicPeriod"/>
            </a:pPr>
            <a:r>
              <a:rPr lang="en-US" sz="2000" b="1" dirty="0">
                <a:latin typeface="David" panose="020E0502060401010101" pitchFamily="34" charset="-79"/>
                <a:cs typeface="David" panose="020E0502060401010101" pitchFamily="34" charset="-79"/>
              </a:rPr>
              <a:t>Lessons</a:t>
            </a:r>
            <a:r>
              <a:rPr lang="he-IL" sz="2000" dirty="0">
                <a:latin typeface="David" panose="020E0502060401010101" pitchFamily="34" charset="-79"/>
                <a:cs typeface="David" panose="020E0502060401010101" pitchFamily="34" charset="-79"/>
              </a:rPr>
              <a:t> - טבלת שיעורים על פי מקצוע ורמה.</a:t>
            </a:r>
          </a:p>
          <a:p>
            <a:pPr marL="514350" indent="-514350">
              <a:buAutoNum type="arabicPeriod"/>
            </a:pPr>
            <a:r>
              <a:rPr lang="en-US" sz="2000" b="1" dirty="0" err="1">
                <a:latin typeface="David" panose="020E0502060401010101" pitchFamily="34" charset="-79"/>
                <a:cs typeface="David" panose="020E0502060401010101" pitchFamily="34" charset="-79"/>
              </a:rPr>
              <a:t>Student_Progress</a:t>
            </a:r>
            <a:r>
              <a:rPr lang="he-IL" sz="2000" b="1" dirty="0">
                <a:latin typeface="David" panose="020E0502060401010101" pitchFamily="34" charset="-79"/>
                <a:cs typeface="David" panose="020E0502060401010101" pitchFamily="34" charset="-79"/>
              </a:rPr>
              <a:t> - </a:t>
            </a:r>
            <a:r>
              <a:rPr lang="he-IL" sz="2000" dirty="0">
                <a:latin typeface="David" panose="020E0502060401010101" pitchFamily="34" charset="-79"/>
                <a:cs typeface="David" panose="020E0502060401010101" pitchFamily="34" charset="-79"/>
              </a:rPr>
              <a:t>טבלת התקדמות תלמידים.</a:t>
            </a:r>
          </a:p>
          <a:p>
            <a:pPr marL="514350" indent="-514350">
              <a:buAutoNum type="arabicPeriod"/>
            </a:pPr>
            <a:r>
              <a:rPr lang="en-US" sz="2000" b="1" dirty="0">
                <a:latin typeface="David" panose="020E0502060401010101" pitchFamily="34" charset="-79"/>
                <a:cs typeface="David" panose="020E0502060401010101" pitchFamily="34" charset="-79"/>
              </a:rPr>
              <a:t>Orders </a:t>
            </a:r>
            <a:r>
              <a:rPr lang="he-IL" sz="2000" b="1" dirty="0">
                <a:latin typeface="David" panose="020E0502060401010101" pitchFamily="34" charset="-79"/>
                <a:cs typeface="David" panose="020E0502060401010101" pitchFamily="34" charset="-79"/>
              </a:rPr>
              <a:t> - </a:t>
            </a:r>
            <a:r>
              <a:rPr lang="he-IL" sz="2000" dirty="0">
                <a:latin typeface="David" panose="020E0502060401010101" pitchFamily="34" charset="-79"/>
                <a:cs typeface="David" panose="020E0502060401010101" pitchFamily="34" charset="-79"/>
              </a:rPr>
              <a:t>טבלת הזמנות.</a:t>
            </a:r>
          </a:p>
          <a:p>
            <a:pPr marL="514350" indent="-514350">
              <a:buAutoNum type="arabicPeriod"/>
            </a:pPr>
            <a:r>
              <a:rPr lang="en-US" sz="2000" b="1" dirty="0" err="1">
                <a:latin typeface="David" panose="020E0502060401010101" pitchFamily="34" charset="-79"/>
                <a:cs typeface="David" panose="020E0502060401010101" pitchFamily="34" charset="-79"/>
              </a:rPr>
              <a:t>Order_Items</a:t>
            </a:r>
            <a:r>
              <a:rPr lang="he-IL" sz="2000" b="1"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 טבלת פירוט הזמנות.</a:t>
            </a:r>
          </a:p>
          <a:p>
            <a:pPr marL="514350" indent="-514350">
              <a:buAutoNum type="arabicPeriod"/>
            </a:pPr>
            <a:r>
              <a:rPr lang="en-US" sz="2000" b="1" dirty="0">
                <a:latin typeface="David" panose="020E0502060401010101" pitchFamily="34" charset="-79"/>
                <a:cs typeface="David" panose="020E0502060401010101" pitchFamily="34" charset="-79"/>
              </a:rPr>
              <a:t>Volunteers </a:t>
            </a:r>
            <a:r>
              <a:rPr lang="he-IL" sz="2000" b="1"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 טבלת מתנדבים.</a:t>
            </a:r>
          </a:p>
          <a:p>
            <a:pPr marL="514350" indent="-514350">
              <a:buAutoNum type="arabicPeriod"/>
            </a:pPr>
            <a:r>
              <a:rPr lang="en-US" sz="2000" b="1" dirty="0">
                <a:latin typeface="David" panose="020E0502060401010101" pitchFamily="34" charset="-79"/>
                <a:cs typeface="David" panose="020E0502060401010101" pitchFamily="34" charset="-79"/>
              </a:rPr>
              <a:t> Volunteering</a:t>
            </a:r>
            <a:r>
              <a:rPr lang="he-IL" sz="2000" dirty="0">
                <a:latin typeface="David" panose="020E0502060401010101" pitchFamily="34" charset="-79"/>
                <a:cs typeface="David" panose="020E0502060401010101" pitchFamily="34" charset="-79"/>
              </a:rPr>
              <a:t> - טבלת שיבוץ התנדבויות.</a:t>
            </a:r>
          </a:p>
        </p:txBody>
      </p:sp>
      <p:sp>
        <p:nvSpPr>
          <p:cNvPr id="4" name="מציין מיקום של מספר שקופית 3">
            <a:extLst>
              <a:ext uri="{FF2B5EF4-FFF2-40B4-BE49-F238E27FC236}">
                <a16:creationId xmlns:a16="http://schemas.microsoft.com/office/drawing/2014/main" id="{481B6528-6B18-49A8-963F-C1BC06EFB490}"/>
              </a:ext>
            </a:extLst>
          </p:cNvPr>
          <p:cNvSpPr>
            <a:spLocks noGrp="1"/>
          </p:cNvSpPr>
          <p:nvPr>
            <p:ph type="sldNum" sz="quarter" idx="12"/>
          </p:nvPr>
        </p:nvSpPr>
        <p:spPr/>
        <p:txBody>
          <a:bodyPr/>
          <a:lstStyle/>
          <a:p>
            <a:fld id="{9D77A262-A0C6-4C11-A684-4A90AD65C1E2}" type="slidenum">
              <a:rPr lang="he-IL" smtClean="0"/>
              <a:t>5</a:t>
            </a:fld>
            <a:endParaRPr lang="he-IL"/>
          </a:p>
        </p:txBody>
      </p:sp>
    </p:spTree>
    <p:extLst>
      <p:ext uri="{BB962C8B-B14F-4D97-AF65-F5344CB8AC3E}">
        <p14:creationId xmlns:p14="http://schemas.microsoft.com/office/powerpoint/2010/main" val="112928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784490" y="1541227"/>
            <a:ext cx="278423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54390" y="1541227"/>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Users </a:t>
            </a:r>
            <a:r>
              <a:rPr lang="he-IL" sz="2400" b="1" dirty="0">
                <a:latin typeface="David" panose="020E0502060401010101" pitchFamily="34" charset="-79"/>
                <a:cs typeface="David" panose="020E0502060401010101" pitchFamily="34" charset="-79"/>
              </a:rPr>
              <a:t>-משתמשים</a:t>
            </a:r>
          </a:p>
        </p:txBody>
      </p:sp>
      <p:sp>
        <p:nvSpPr>
          <p:cNvPr id="10" name="חץ: מחומש 9">
            <a:extLst>
              <a:ext uri="{FF2B5EF4-FFF2-40B4-BE49-F238E27FC236}">
                <a16:creationId xmlns:a16="http://schemas.microsoft.com/office/drawing/2014/main" id="{1DE1E455-B097-4529-87B1-14C8AF45DCEA}"/>
              </a:ext>
            </a:extLst>
          </p:cNvPr>
          <p:cNvSpPr/>
          <p:nvPr/>
        </p:nvSpPr>
        <p:spPr>
          <a:xfrm flipH="1">
            <a:off x="7970979" y="564923"/>
            <a:ext cx="3597739" cy="534204"/>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800" b="1" dirty="0">
                <a:solidFill>
                  <a:schemeClr val="tx1"/>
                </a:solidFill>
                <a:latin typeface="David" panose="020E0502060401010101" pitchFamily="34" charset="-79"/>
                <a:cs typeface="David" panose="020E0502060401010101" pitchFamily="34" charset="-79"/>
              </a:rPr>
              <a:t>פרוט השדות בטבלאות: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6</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3282348682"/>
              </p:ext>
            </p:extLst>
          </p:nvPr>
        </p:nvGraphicFramePr>
        <p:xfrm>
          <a:off x="1820199" y="2359215"/>
          <a:ext cx="9748519" cy="2988038"/>
        </p:xfrm>
        <a:graphic>
          <a:graphicData uri="http://schemas.openxmlformats.org/drawingml/2006/table">
            <a:tbl>
              <a:tblPr rtl="1" firstRow="1" bandRow="1">
                <a:tableStyleId>{21E4AEA4-8DFA-4A89-87EB-49C32662AFE0}</a:tableStyleId>
              </a:tblPr>
              <a:tblGrid>
                <a:gridCol w="1226650">
                  <a:extLst>
                    <a:ext uri="{9D8B030D-6E8A-4147-A177-3AD203B41FA5}">
                      <a16:colId xmlns:a16="http://schemas.microsoft.com/office/drawing/2014/main" val="2871101326"/>
                    </a:ext>
                  </a:extLst>
                </a:gridCol>
                <a:gridCol w="1217409">
                  <a:extLst>
                    <a:ext uri="{9D8B030D-6E8A-4147-A177-3AD203B41FA5}">
                      <a16:colId xmlns:a16="http://schemas.microsoft.com/office/drawing/2014/main" val="1281013793"/>
                    </a:ext>
                  </a:extLst>
                </a:gridCol>
                <a:gridCol w="1700044">
                  <a:extLst>
                    <a:ext uri="{9D8B030D-6E8A-4147-A177-3AD203B41FA5}">
                      <a16:colId xmlns:a16="http://schemas.microsoft.com/office/drawing/2014/main" val="1890354973"/>
                    </a:ext>
                  </a:extLst>
                </a:gridCol>
                <a:gridCol w="1273907">
                  <a:extLst>
                    <a:ext uri="{9D8B030D-6E8A-4147-A177-3AD203B41FA5}">
                      <a16:colId xmlns:a16="http://schemas.microsoft.com/office/drawing/2014/main" val="1832818865"/>
                    </a:ext>
                  </a:extLst>
                </a:gridCol>
                <a:gridCol w="1021423">
                  <a:extLst>
                    <a:ext uri="{9D8B030D-6E8A-4147-A177-3AD203B41FA5}">
                      <a16:colId xmlns:a16="http://schemas.microsoft.com/office/drawing/2014/main" val="3359226510"/>
                    </a:ext>
                  </a:extLst>
                </a:gridCol>
                <a:gridCol w="879202">
                  <a:extLst>
                    <a:ext uri="{9D8B030D-6E8A-4147-A177-3AD203B41FA5}">
                      <a16:colId xmlns:a16="http://schemas.microsoft.com/office/drawing/2014/main" val="2765981335"/>
                    </a:ext>
                  </a:extLst>
                </a:gridCol>
                <a:gridCol w="869541">
                  <a:extLst>
                    <a:ext uri="{9D8B030D-6E8A-4147-A177-3AD203B41FA5}">
                      <a16:colId xmlns:a16="http://schemas.microsoft.com/office/drawing/2014/main" val="1894358556"/>
                    </a:ext>
                  </a:extLst>
                </a:gridCol>
                <a:gridCol w="1560343">
                  <a:extLst>
                    <a:ext uri="{9D8B030D-6E8A-4147-A177-3AD203B41FA5}">
                      <a16:colId xmlns:a16="http://schemas.microsoft.com/office/drawing/2014/main" val="4151655796"/>
                    </a:ext>
                  </a:extLst>
                </a:gridCol>
              </a:tblGrid>
              <a:tr h="291148">
                <a:tc>
                  <a:txBody>
                    <a:bodyPr/>
                    <a:lstStyle/>
                    <a:p>
                      <a:pPr algn="ctr"/>
                      <a:r>
                        <a:rPr lang="he-IL" sz="1800" dirty="0">
                          <a:latin typeface="David" panose="020E0502060401010101" pitchFamily="34" charset="-79"/>
                          <a:cs typeface="David" panose="020E0502060401010101" pitchFamily="34" charset="-79"/>
                        </a:rPr>
                        <a:t>שם שדה</a:t>
                      </a:r>
                    </a:p>
                  </a:txBody>
                  <a:tcPr anchor="ctr"/>
                </a:tc>
                <a:tc>
                  <a:txBody>
                    <a:bodyPr/>
                    <a:lstStyle/>
                    <a:p>
                      <a:pPr algn="ctr"/>
                      <a:r>
                        <a:rPr lang="he-IL" sz="1800" dirty="0">
                          <a:latin typeface="David" panose="020E0502060401010101" pitchFamily="34" charset="-79"/>
                          <a:cs typeface="David" panose="020E0502060401010101" pitchFamily="34" charset="-79"/>
                        </a:rPr>
                        <a:t>תרגום</a:t>
                      </a:r>
                    </a:p>
                  </a:txBody>
                  <a:tcPr anchor="ctr"/>
                </a:tc>
                <a:tc>
                  <a:txBody>
                    <a:bodyPr/>
                    <a:lstStyle/>
                    <a:p>
                      <a:pPr algn="ctr"/>
                      <a:r>
                        <a:rPr lang="he-IL" sz="1800">
                          <a:latin typeface="David" panose="020E0502060401010101" pitchFamily="34" charset="-79"/>
                          <a:cs typeface="David" panose="020E0502060401010101" pitchFamily="34" charset="-79"/>
                        </a:rPr>
                        <a:t>סוג טיפוס</a:t>
                      </a:r>
                    </a:p>
                  </a:txBody>
                  <a:tcPr anchor="ctr"/>
                </a:tc>
                <a:tc>
                  <a:txBody>
                    <a:bodyPr/>
                    <a:lstStyle/>
                    <a:p>
                      <a:pPr algn="ctr"/>
                      <a:r>
                        <a:rPr lang="he-IL" sz="1800">
                          <a:latin typeface="David" panose="020E0502060401010101" pitchFamily="34" charset="-79"/>
                          <a:cs typeface="David" panose="020E0502060401010101" pitchFamily="34" charset="-79"/>
                        </a:rPr>
                        <a:t>מפתח ראשי</a:t>
                      </a:r>
                    </a:p>
                  </a:txBody>
                  <a:tcPr anchor="ctr"/>
                </a:tc>
                <a:tc>
                  <a:txBody>
                    <a:bodyPr/>
                    <a:lstStyle/>
                    <a:p>
                      <a:pPr algn="ctr"/>
                      <a:r>
                        <a:rPr lang="he-IL" sz="1800" dirty="0">
                          <a:latin typeface="David" panose="020E0502060401010101" pitchFamily="34" charset="-79"/>
                          <a:cs typeface="David" panose="020E0502060401010101" pitchFamily="34" charset="-79"/>
                        </a:rPr>
                        <a:t>מפתח זר</a:t>
                      </a:r>
                    </a:p>
                  </a:txBody>
                  <a:tcPr anchor="ctr"/>
                </a:tc>
                <a:tc>
                  <a:txBody>
                    <a:bodyPr/>
                    <a:lstStyle/>
                    <a:p>
                      <a:pPr algn="ctr"/>
                      <a:r>
                        <a:rPr lang="he-IL" sz="1800" dirty="0">
                          <a:latin typeface="David" panose="020E0502060401010101" pitchFamily="34" charset="-79"/>
                          <a:cs typeface="David" panose="020E0502060401010101" pitchFamily="34" charset="-79"/>
                        </a:rPr>
                        <a:t>חובה</a:t>
                      </a:r>
                    </a:p>
                  </a:txBody>
                  <a:tcPr anchor="ctr"/>
                </a:tc>
                <a:tc>
                  <a:txBody>
                    <a:bodyPr/>
                    <a:lstStyle/>
                    <a:p>
                      <a:pPr algn="ctr"/>
                      <a:r>
                        <a:rPr lang="he-IL" sz="1800" dirty="0">
                          <a:latin typeface="David" panose="020E0502060401010101" pitchFamily="34" charset="-79"/>
                          <a:cs typeface="David" panose="020E0502060401010101" pitchFamily="34" charset="-79"/>
                        </a:rPr>
                        <a:t>ייחודי</a:t>
                      </a:r>
                    </a:p>
                  </a:txBody>
                  <a:tcPr anchor="ctr"/>
                </a:tc>
                <a:tc>
                  <a:txBody>
                    <a:bodyPr/>
                    <a:lstStyle/>
                    <a:p>
                      <a:pPr algn="ctr"/>
                      <a:r>
                        <a:rPr lang="he-IL" sz="1800" dirty="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u_id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משתמש</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dirty="0" err="1">
                          <a:latin typeface="David" panose="020E0502060401010101" pitchFamily="34" charset="-79"/>
                          <a:cs typeface="David" panose="020E0502060401010101" pitchFamily="34" charset="-79"/>
                        </a:rPr>
                        <a:t>u_email</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אימייל</a:t>
                      </a:r>
                    </a:p>
                  </a:txBody>
                  <a:tcPr anchor="ctr"/>
                </a:tc>
                <a:tc>
                  <a:txBody>
                    <a:bodyPr/>
                    <a:lstStyle/>
                    <a:p>
                      <a:pPr algn="ctr"/>
                      <a:r>
                        <a:rPr lang="en-US" sz="1600" dirty="0">
                          <a:latin typeface="David" panose="020E0502060401010101" pitchFamily="34" charset="-79"/>
                          <a:cs typeface="David" panose="020E0502060401010101" pitchFamily="34" charset="-79"/>
                        </a:rPr>
                        <a:t>VARCHAR(100)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לצורך התחברות</a:t>
                      </a:r>
                    </a:p>
                  </a:txBody>
                  <a:tcPr anchor="ctr"/>
                </a:tc>
                <a:extLst>
                  <a:ext uri="{0D108BD9-81ED-4DB2-BD59-A6C34878D82A}">
                    <a16:rowId xmlns:a16="http://schemas.microsoft.com/office/drawing/2014/main" val="1696808687"/>
                  </a:ext>
                </a:extLst>
              </a:tr>
              <a:tr h="502892">
                <a:tc>
                  <a:txBody>
                    <a:bodyPr/>
                    <a:lstStyle/>
                    <a:p>
                      <a:pPr algn="ctr"/>
                      <a:r>
                        <a:rPr lang="en-US" sz="1600">
                          <a:latin typeface="David" panose="020E0502060401010101" pitchFamily="34" charset="-79"/>
                          <a:cs typeface="David" panose="020E0502060401010101" pitchFamily="34" charset="-79"/>
                        </a:rPr>
                        <a:t>u_password</a:t>
                      </a:r>
                    </a:p>
                  </a:txBody>
                  <a:tcPr anchor="ctr"/>
                </a:tc>
                <a:tc>
                  <a:txBody>
                    <a:bodyPr/>
                    <a:lstStyle/>
                    <a:p>
                      <a:pPr algn="ctr"/>
                      <a:r>
                        <a:rPr lang="he-IL" sz="1600" dirty="0">
                          <a:latin typeface="David" panose="020E0502060401010101" pitchFamily="34" charset="-79"/>
                          <a:cs typeface="David" panose="020E0502060401010101" pitchFamily="34" charset="-79"/>
                        </a:rPr>
                        <a:t>סיסמה</a:t>
                      </a:r>
                    </a:p>
                  </a:txBody>
                  <a:tcPr anchor="ctr"/>
                </a:tc>
                <a:tc>
                  <a:txBody>
                    <a:bodyPr/>
                    <a:lstStyle/>
                    <a:p>
                      <a:pPr algn="ctr"/>
                      <a:r>
                        <a:rPr lang="en-US" sz="1600">
                          <a:latin typeface="David" panose="020E0502060401010101" pitchFamily="34" charset="-79"/>
                          <a:cs typeface="David" panose="020E0502060401010101" pitchFamily="34" charset="-79"/>
                        </a:rPr>
                        <a:t>VARCHAR(100)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מומלץ הצפנה</a:t>
                      </a:r>
                    </a:p>
                  </a:txBody>
                  <a:tcPr anchor="ctr"/>
                </a:tc>
                <a:extLst>
                  <a:ext uri="{0D108BD9-81ED-4DB2-BD59-A6C34878D82A}">
                    <a16:rowId xmlns:a16="http://schemas.microsoft.com/office/drawing/2014/main" val="3912822942"/>
                  </a:ext>
                </a:extLst>
              </a:tr>
              <a:tr h="351047">
                <a:tc>
                  <a:txBody>
                    <a:bodyPr/>
                    <a:lstStyle/>
                    <a:p>
                      <a:pPr algn="ctr"/>
                      <a:r>
                        <a:rPr lang="en-US" sz="1600">
                          <a:latin typeface="David" panose="020E0502060401010101" pitchFamily="34" charset="-79"/>
                          <a:cs typeface="David" panose="020E0502060401010101" pitchFamily="34" charset="-79"/>
                        </a:rPr>
                        <a:t>u_phone</a:t>
                      </a:r>
                    </a:p>
                  </a:txBody>
                  <a:tcPr anchor="ctr"/>
                </a:tc>
                <a:tc>
                  <a:txBody>
                    <a:bodyPr/>
                    <a:lstStyle/>
                    <a:p>
                      <a:pPr algn="ctr"/>
                      <a:r>
                        <a:rPr lang="he-IL" sz="1600" dirty="0">
                          <a:latin typeface="David" panose="020E0502060401010101" pitchFamily="34" charset="-79"/>
                          <a:cs typeface="David" panose="020E0502060401010101" pitchFamily="34" charset="-79"/>
                        </a:rPr>
                        <a:t>טלפון</a:t>
                      </a:r>
                    </a:p>
                  </a:txBody>
                  <a:tcPr anchor="ctr"/>
                </a:tc>
                <a:tc>
                  <a:txBody>
                    <a:bodyPr/>
                    <a:lstStyle/>
                    <a:p>
                      <a:pPr algn="ctr"/>
                      <a:r>
                        <a:rPr lang="en-US" sz="1600">
                          <a:latin typeface="David" panose="020E0502060401010101" pitchFamily="34" charset="-79"/>
                          <a:cs typeface="David" panose="020E0502060401010101" pitchFamily="34" charset="-79"/>
                        </a:rPr>
                        <a:t>VARCHAR(20)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2778192598"/>
                  </a:ext>
                </a:extLst>
              </a:tr>
              <a:tr h="351047">
                <a:tc>
                  <a:txBody>
                    <a:bodyPr/>
                    <a:lstStyle/>
                    <a:p>
                      <a:pPr algn="ctr"/>
                      <a:r>
                        <a:rPr lang="en-US" sz="1600" dirty="0" err="1">
                          <a:latin typeface="David" panose="020E0502060401010101" pitchFamily="34" charset="-79"/>
                          <a:cs typeface="David" panose="020E0502060401010101" pitchFamily="34" charset="-79"/>
                        </a:rPr>
                        <a:t>u_role</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תפקיד</a:t>
                      </a:r>
                    </a:p>
                  </a:txBody>
                  <a:tcPr anchor="ctr"/>
                </a:tc>
                <a:tc>
                  <a:txBody>
                    <a:bodyPr/>
                    <a:lstStyle/>
                    <a:p>
                      <a:pPr algn="ctr"/>
                      <a:r>
                        <a:rPr lang="en-US" sz="1600">
                          <a:latin typeface="David" panose="020E0502060401010101" pitchFamily="34" charset="-79"/>
                          <a:cs typeface="David" panose="020E0502060401010101" pitchFamily="34" charset="-79"/>
                        </a:rPr>
                        <a:t>VARCHAR(20)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Parent / Admin</a:t>
                      </a:r>
                    </a:p>
                  </a:txBody>
                  <a:tcPr anchor="ctr"/>
                </a:tc>
                <a:extLst>
                  <a:ext uri="{0D108BD9-81ED-4DB2-BD59-A6C34878D82A}">
                    <a16:rowId xmlns:a16="http://schemas.microsoft.com/office/drawing/2014/main" val="306544773"/>
                  </a:ext>
                </a:extLst>
              </a:tr>
              <a:tr h="502892">
                <a:tc>
                  <a:txBody>
                    <a:bodyPr/>
                    <a:lstStyle/>
                    <a:p>
                      <a:pPr algn="ctr"/>
                      <a:r>
                        <a:rPr lang="en-US" sz="1600" dirty="0" err="1">
                          <a:latin typeface="David" panose="020E0502060401010101" pitchFamily="34" charset="-79"/>
                          <a:cs typeface="David" panose="020E0502060401010101" pitchFamily="34" charset="-79"/>
                        </a:rPr>
                        <a:t>created_at</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תאריך יצירה</a:t>
                      </a:r>
                    </a:p>
                  </a:txBody>
                  <a:tcPr anchor="ctr"/>
                </a:tc>
                <a:tc>
                  <a:txBody>
                    <a:bodyPr/>
                    <a:lstStyle/>
                    <a:p>
                      <a:pPr algn="ctr"/>
                      <a:r>
                        <a:rPr lang="en-US" sz="1600">
                          <a:latin typeface="David" panose="020E0502060401010101" pitchFamily="34" charset="-79"/>
                          <a:cs typeface="David" panose="020E0502060401010101" pitchFamily="34" charset="-79"/>
                        </a:rPr>
                        <a:t>DATETIME</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ברירת מחדל: תאריך נוכחי</a:t>
                      </a:r>
                    </a:p>
                  </a:txBody>
                  <a:tcPr anchor="ctr"/>
                </a:tc>
                <a:extLst>
                  <a:ext uri="{0D108BD9-81ED-4DB2-BD59-A6C34878D82A}">
                    <a16:rowId xmlns:a16="http://schemas.microsoft.com/office/drawing/2014/main" val="2763952153"/>
                  </a:ext>
                </a:extLst>
              </a:tr>
            </a:tbl>
          </a:graphicData>
        </a:graphic>
      </p:graphicFrame>
    </p:spTree>
    <p:extLst>
      <p:ext uri="{BB962C8B-B14F-4D97-AF65-F5344CB8AC3E}">
        <p14:creationId xmlns:p14="http://schemas.microsoft.com/office/powerpoint/2010/main" val="807465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442959" y="1541227"/>
            <a:ext cx="312576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54386" y="1541227"/>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Levels </a:t>
            </a:r>
            <a:r>
              <a:rPr lang="he-IL" sz="2400" b="1" dirty="0">
                <a:latin typeface="David" panose="020E0502060401010101" pitchFamily="34" charset="-79"/>
                <a:cs typeface="David" panose="020E0502060401010101" pitchFamily="34" charset="-79"/>
              </a:rPr>
              <a:t>-רמות תפקודיות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7</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4080477320"/>
              </p:ext>
            </p:extLst>
          </p:nvPr>
        </p:nvGraphicFramePr>
        <p:xfrm>
          <a:off x="1922585" y="2390476"/>
          <a:ext cx="9646134" cy="1493520"/>
        </p:xfrm>
        <a:graphic>
          <a:graphicData uri="http://schemas.openxmlformats.org/drawingml/2006/table">
            <a:tbl>
              <a:tblPr rtl="1" firstRow="1" bandRow="1">
                <a:tableStyleId>{21E4AEA4-8DFA-4A89-87EB-49C32662AFE0}</a:tableStyleId>
              </a:tblPr>
              <a:tblGrid>
                <a:gridCol w="1269348">
                  <a:extLst>
                    <a:ext uri="{9D8B030D-6E8A-4147-A177-3AD203B41FA5}">
                      <a16:colId xmlns:a16="http://schemas.microsoft.com/office/drawing/2014/main" val="2871101326"/>
                    </a:ext>
                  </a:extLst>
                </a:gridCol>
                <a:gridCol w="1279756">
                  <a:extLst>
                    <a:ext uri="{9D8B030D-6E8A-4147-A177-3AD203B41FA5}">
                      <a16:colId xmlns:a16="http://schemas.microsoft.com/office/drawing/2014/main" val="1281013793"/>
                    </a:ext>
                  </a:extLst>
                </a:gridCol>
                <a:gridCol w="1470252">
                  <a:extLst>
                    <a:ext uri="{9D8B030D-6E8A-4147-A177-3AD203B41FA5}">
                      <a16:colId xmlns:a16="http://schemas.microsoft.com/office/drawing/2014/main" val="1890354973"/>
                    </a:ext>
                  </a:extLst>
                </a:gridCol>
                <a:gridCol w="1126088">
                  <a:extLst>
                    <a:ext uri="{9D8B030D-6E8A-4147-A177-3AD203B41FA5}">
                      <a16:colId xmlns:a16="http://schemas.microsoft.com/office/drawing/2014/main" val="1832818865"/>
                    </a:ext>
                  </a:extLst>
                </a:gridCol>
                <a:gridCol w="921244">
                  <a:extLst>
                    <a:ext uri="{9D8B030D-6E8A-4147-A177-3AD203B41FA5}">
                      <a16:colId xmlns:a16="http://schemas.microsoft.com/office/drawing/2014/main" val="3359226510"/>
                    </a:ext>
                  </a:extLst>
                </a:gridCol>
                <a:gridCol w="812800">
                  <a:extLst>
                    <a:ext uri="{9D8B030D-6E8A-4147-A177-3AD203B41FA5}">
                      <a16:colId xmlns:a16="http://schemas.microsoft.com/office/drawing/2014/main" val="2765981335"/>
                    </a:ext>
                  </a:extLst>
                </a:gridCol>
                <a:gridCol w="930031">
                  <a:extLst>
                    <a:ext uri="{9D8B030D-6E8A-4147-A177-3AD203B41FA5}">
                      <a16:colId xmlns:a16="http://schemas.microsoft.com/office/drawing/2014/main" val="1894358556"/>
                    </a:ext>
                  </a:extLst>
                </a:gridCol>
                <a:gridCol w="1836615">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level_code</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רמה</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a:latin typeface="David" panose="020E0502060401010101" pitchFamily="34" charset="-79"/>
                          <a:cs typeface="David" panose="020E0502060401010101" pitchFamily="34" charset="-79"/>
                        </a:rPr>
                        <a:t>l_type</a:t>
                      </a:r>
                    </a:p>
                  </a:txBody>
                  <a:tcPr anchor="ctr"/>
                </a:tc>
                <a:tc>
                  <a:txBody>
                    <a:bodyPr/>
                    <a:lstStyle/>
                    <a:p>
                      <a:pPr algn="ctr"/>
                      <a:r>
                        <a:rPr lang="he-IL" sz="1600" dirty="0">
                          <a:latin typeface="David" panose="020E0502060401010101" pitchFamily="34" charset="-79"/>
                          <a:cs typeface="David" panose="020E0502060401010101" pitchFamily="34" charset="-79"/>
                        </a:rPr>
                        <a:t>שם הרמה</a:t>
                      </a:r>
                    </a:p>
                  </a:txBody>
                  <a:tcPr anchor="ctr"/>
                </a:tc>
                <a:tc>
                  <a:txBody>
                    <a:bodyPr/>
                    <a:lstStyle/>
                    <a:p>
                      <a:pPr algn="ctr"/>
                      <a:r>
                        <a:rPr lang="en-US" sz="1600" dirty="0">
                          <a:latin typeface="David" panose="020E0502060401010101" pitchFamily="34" charset="-79"/>
                          <a:cs typeface="David" panose="020E0502060401010101" pitchFamily="34" charset="-79"/>
                        </a:rPr>
                        <a:t>VARCHAR(50)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t>זקוק לתמיכה / עצמאי חלקית / עצמאי</a:t>
                      </a:r>
                      <a:endParaRPr lang="en-US"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bl>
          </a:graphicData>
        </a:graphic>
      </p:graphicFrame>
    </p:spTree>
    <p:extLst>
      <p:ext uri="{BB962C8B-B14F-4D97-AF65-F5344CB8AC3E}">
        <p14:creationId xmlns:p14="http://schemas.microsoft.com/office/powerpoint/2010/main" val="417670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784490" y="1541227"/>
            <a:ext cx="278423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54390" y="1541227"/>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-Students </a:t>
            </a:r>
            <a:r>
              <a:rPr lang="he-IL" sz="2400" b="1" dirty="0">
                <a:latin typeface="David" panose="020E0502060401010101" pitchFamily="34" charset="-79"/>
                <a:cs typeface="David" panose="020E0502060401010101" pitchFamily="34" charset="-79"/>
              </a:rPr>
              <a:t>תלמידים</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8</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777084256"/>
              </p:ext>
            </p:extLst>
          </p:nvPr>
        </p:nvGraphicFramePr>
        <p:xfrm>
          <a:off x="838204" y="2343584"/>
          <a:ext cx="10730517" cy="2881330"/>
        </p:xfrm>
        <a:graphic>
          <a:graphicData uri="http://schemas.openxmlformats.org/drawingml/2006/table">
            <a:tbl>
              <a:tblPr rtl="1" firstRow="1" bandRow="1">
                <a:tableStyleId>{21E4AEA4-8DFA-4A89-87EB-49C32662AFE0}</a:tableStyleId>
              </a:tblPr>
              <a:tblGrid>
                <a:gridCol w="1697886">
                  <a:extLst>
                    <a:ext uri="{9D8B030D-6E8A-4147-A177-3AD203B41FA5}">
                      <a16:colId xmlns:a16="http://schemas.microsoft.com/office/drawing/2014/main" val="2871101326"/>
                    </a:ext>
                  </a:extLst>
                </a:gridCol>
                <a:gridCol w="1172308">
                  <a:extLst>
                    <a:ext uri="{9D8B030D-6E8A-4147-A177-3AD203B41FA5}">
                      <a16:colId xmlns:a16="http://schemas.microsoft.com/office/drawing/2014/main" val="1281013793"/>
                    </a:ext>
                  </a:extLst>
                </a:gridCol>
                <a:gridCol w="1672492">
                  <a:extLst>
                    <a:ext uri="{9D8B030D-6E8A-4147-A177-3AD203B41FA5}">
                      <a16:colId xmlns:a16="http://schemas.microsoft.com/office/drawing/2014/main" val="1890354973"/>
                    </a:ext>
                  </a:extLst>
                </a:gridCol>
                <a:gridCol w="1305169">
                  <a:extLst>
                    <a:ext uri="{9D8B030D-6E8A-4147-A177-3AD203B41FA5}">
                      <a16:colId xmlns:a16="http://schemas.microsoft.com/office/drawing/2014/main" val="1832818865"/>
                    </a:ext>
                  </a:extLst>
                </a:gridCol>
                <a:gridCol w="1240242">
                  <a:extLst>
                    <a:ext uri="{9D8B030D-6E8A-4147-A177-3AD203B41FA5}">
                      <a16:colId xmlns:a16="http://schemas.microsoft.com/office/drawing/2014/main" val="3359226510"/>
                    </a:ext>
                  </a:extLst>
                </a:gridCol>
                <a:gridCol w="967766">
                  <a:extLst>
                    <a:ext uri="{9D8B030D-6E8A-4147-A177-3AD203B41FA5}">
                      <a16:colId xmlns:a16="http://schemas.microsoft.com/office/drawing/2014/main" val="2765981335"/>
                    </a:ext>
                  </a:extLst>
                </a:gridCol>
                <a:gridCol w="957133">
                  <a:extLst>
                    <a:ext uri="{9D8B030D-6E8A-4147-A177-3AD203B41FA5}">
                      <a16:colId xmlns:a16="http://schemas.microsoft.com/office/drawing/2014/main" val="1894358556"/>
                    </a:ext>
                  </a:extLst>
                </a:gridCol>
                <a:gridCol w="1717521">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dirty="0">
                          <a:latin typeface="David" panose="020E0502060401010101" pitchFamily="34" charset="-79"/>
                          <a:cs typeface="David" panose="020E0502060401010101" pitchFamily="34" charset="-79"/>
                        </a:rPr>
                        <a:t>תרגום</a:t>
                      </a:r>
                    </a:p>
                  </a:txBody>
                  <a:tcPr anchor="ctr"/>
                </a:tc>
                <a:tc>
                  <a:txBody>
                    <a:bodyPr/>
                    <a:lstStyle/>
                    <a:p>
                      <a:pPr algn="ctr"/>
                      <a:r>
                        <a:rPr lang="he-IL" sz="1600" dirty="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student_id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תלמיד</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dirty="0" err="1">
                          <a:latin typeface="David" panose="020E0502060401010101" pitchFamily="34" charset="-79"/>
                          <a:cs typeface="David" panose="020E0502060401010101" pitchFamily="34" charset="-79"/>
                        </a:rPr>
                        <a:t>s_first_name</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שם פרטי</a:t>
                      </a:r>
                    </a:p>
                  </a:txBody>
                  <a:tcPr anchor="ctr"/>
                </a:tc>
                <a:tc>
                  <a:txBody>
                    <a:bodyPr/>
                    <a:lstStyle/>
                    <a:p>
                      <a:pPr algn="ctr"/>
                      <a:r>
                        <a:rPr lang="en-US" sz="1600" dirty="0">
                          <a:latin typeface="David" panose="020E0502060401010101" pitchFamily="34" charset="-79"/>
                          <a:cs typeface="David" panose="020E0502060401010101" pitchFamily="34" charset="-79"/>
                        </a:rPr>
                        <a:t>VARCHAR(25)</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502892">
                <a:tc>
                  <a:txBody>
                    <a:bodyPr/>
                    <a:lstStyle/>
                    <a:p>
                      <a:pPr algn="ctr"/>
                      <a:r>
                        <a:rPr lang="en-US" sz="1600" dirty="0" err="1">
                          <a:latin typeface="David" panose="020E0502060401010101" pitchFamily="34" charset="-79"/>
                          <a:cs typeface="David" panose="020E0502060401010101" pitchFamily="34" charset="-79"/>
                        </a:rPr>
                        <a:t>s_last_name</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שם משפחה</a:t>
                      </a:r>
                    </a:p>
                  </a:txBody>
                  <a:tcPr anchor="ctr"/>
                </a:tc>
                <a:tc>
                  <a:txBody>
                    <a:bodyPr/>
                    <a:lstStyle/>
                    <a:p>
                      <a:pPr algn="ctr"/>
                      <a:r>
                        <a:rPr lang="en-US" sz="1600" dirty="0">
                          <a:latin typeface="David" panose="020E0502060401010101" pitchFamily="34" charset="-79"/>
                          <a:cs typeface="David" panose="020E0502060401010101" pitchFamily="34" charset="-79"/>
                        </a:rPr>
                        <a:t>VARCHAR(25)</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351047">
                <a:tc>
                  <a:txBody>
                    <a:bodyPr/>
                    <a:lstStyle/>
                    <a:p>
                      <a:pPr algn="ctr"/>
                      <a:r>
                        <a:rPr lang="en-US" sz="1600">
                          <a:latin typeface="David" panose="020E0502060401010101" pitchFamily="34" charset="-79"/>
                          <a:cs typeface="David" panose="020E0502060401010101" pitchFamily="34" charset="-79"/>
                        </a:rPr>
                        <a:t>s_level_code</a:t>
                      </a:r>
                    </a:p>
                  </a:txBody>
                  <a:tcPr anchor="ctr"/>
                </a:tc>
                <a:tc>
                  <a:txBody>
                    <a:bodyPr/>
                    <a:lstStyle/>
                    <a:p>
                      <a:pPr algn="ctr"/>
                      <a:r>
                        <a:rPr lang="he-IL" sz="1600">
                          <a:latin typeface="David" panose="020E0502060401010101" pitchFamily="34" charset="-79"/>
                          <a:cs typeface="David" panose="020E0502060401010101" pitchFamily="34" charset="-79"/>
                        </a:rPr>
                        <a:t>קוד רמה</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Levels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2778192598"/>
                  </a:ext>
                </a:extLst>
              </a:tr>
              <a:tr h="351047">
                <a:tc>
                  <a:txBody>
                    <a:bodyPr/>
                    <a:lstStyle/>
                    <a:p>
                      <a:pPr algn="ctr"/>
                      <a:r>
                        <a:rPr lang="en-US" sz="1600">
                          <a:latin typeface="David" panose="020E0502060401010101" pitchFamily="34" charset="-79"/>
                          <a:cs typeface="David" panose="020E0502060401010101" pitchFamily="34" charset="-79"/>
                        </a:rPr>
                        <a:t>s_u_id</a:t>
                      </a:r>
                    </a:p>
                  </a:txBody>
                  <a:tcPr anchor="ctr"/>
                </a:tc>
                <a:tc>
                  <a:txBody>
                    <a:bodyPr/>
                    <a:lstStyle/>
                    <a:p>
                      <a:pPr algn="ctr"/>
                      <a:r>
                        <a:rPr lang="he-IL" sz="1600">
                          <a:latin typeface="David" panose="020E0502060401010101" pitchFamily="34" charset="-79"/>
                          <a:cs typeface="David" panose="020E0502060401010101" pitchFamily="34" charset="-79"/>
                        </a:rPr>
                        <a:t>קוד הורה</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Users</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06544773"/>
                  </a:ext>
                </a:extLst>
              </a:tr>
              <a:tr h="502892">
                <a:tc>
                  <a:txBody>
                    <a:bodyPr/>
                    <a:lstStyle/>
                    <a:p>
                      <a:pPr algn="ctr"/>
                      <a:r>
                        <a:rPr lang="en-US" sz="1600" dirty="0" err="1">
                          <a:latin typeface="David" panose="020E0502060401010101" pitchFamily="34" charset="-79"/>
                          <a:cs typeface="David" panose="020E0502060401010101" pitchFamily="34" charset="-79"/>
                        </a:rPr>
                        <a:t>s_want_volunteer</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רוצה מתנדב</a:t>
                      </a:r>
                    </a:p>
                  </a:txBody>
                  <a:tcPr anchor="ctr"/>
                </a:tc>
                <a:tc>
                  <a:txBody>
                    <a:bodyPr/>
                    <a:lstStyle/>
                    <a:p>
                      <a:pPr algn="ctr"/>
                      <a:r>
                        <a:rPr lang="en-US" sz="1600">
                          <a:latin typeface="David" panose="020E0502060401010101" pitchFamily="34" charset="-79"/>
                          <a:cs typeface="David" panose="020E0502060401010101" pitchFamily="34" charset="-79"/>
                        </a:rPr>
                        <a:t>BIT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ברירת מחדל: 0 (לא)</a:t>
                      </a:r>
                    </a:p>
                  </a:txBody>
                  <a:tcPr anchor="ctr"/>
                </a:tc>
                <a:extLst>
                  <a:ext uri="{0D108BD9-81ED-4DB2-BD59-A6C34878D82A}">
                    <a16:rowId xmlns:a16="http://schemas.microsoft.com/office/drawing/2014/main" val="2763952153"/>
                  </a:ext>
                </a:extLst>
              </a:tr>
            </a:tbl>
          </a:graphicData>
        </a:graphic>
      </p:graphicFrame>
    </p:spTree>
    <p:extLst>
      <p:ext uri="{BB962C8B-B14F-4D97-AF65-F5344CB8AC3E}">
        <p14:creationId xmlns:p14="http://schemas.microsoft.com/office/powerpoint/2010/main" val="82587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514079" y="1541227"/>
            <a:ext cx="305464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782949" y="1548294"/>
            <a:ext cx="4785769"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-Professions </a:t>
            </a:r>
            <a:r>
              <a:rPr lang="he-IL" sz="2400" b="1" dirty="0">
                <a:latin typeface="David" panose="020E0502060401010101" pitchFamily="34" charset="-79"/>
                <a:cs typeface="David" panose="020E0502060401010101" pitchFamily="34" charset="-79"/>
              </a:rPr>
              <a:t>מקצועות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9</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950717586"/>
              </p:ext>
            </p:extLst>
          </p:nvPr>
        </p:nvGraphicFramePr>
        <p:xfrm>
          <a:off x="1820199" y="2359215"/>
          <a:ext cx="9748519" cy="1173452"/>
        </p:xfrm>
        <a:graphic>
          <a:graphicData uri="http://schemas.openxmlformats.org/drawingml/2006/table">
            <a:tbl>
              <a:tblPr rtl="1" firstRow="1" bandRow="1">
                <a:tableStyleId>{21E4AEA4-8DFA-4A89-87EB-49C32662AFE0}</a:tableStyleId>
              </a:tblPr>
              <a:tblGrid>
                <a:gridCol w="1385272">
                  <a:extLst>
                    <a:ext uri="{9D8B030D-6E8A-4147-A177-3AD203B41FA5}">
                      <a16:colId xmlns:a16="http://schemas.microsoft.com/office/drawing/2014/main" val="2871101326"/>
                    </a:ext>
                  </a:extLst>
                </a:gridCol>
                <a:gridCol w="1227015">
                  <a:extLst>
                    <a:ext uri="{9D8B030D-6E8A-4147-A177-3AD203B41FA5}">
                      <a16:colId xmlns:a16="http://schemas.microsoft.com/office/drawing/2014/main" val="1281013793"/>
                    </a:ext>
                  </a:extLst>
                </a:gridCol>
                <a:gridCol w="1484923">
                  <a:extLst>
                    <a:ext uri="{9D8B030D-6E8A-4147-A177-3AD203B41FA5}">
                      <a16:colId xmlns:a16="http://schemas.microsoft.com/office/drawing/2014/main" val="1890354973"/>
                    </a:ext>
                  </a:extLst>
                </a:gridCol>
                <a:gridCol w="1203570">
                  <a:extLst>
                    <a:ext uri="{9D8B030D-6E8A-4147-A177-3AD203B41FA5}">
                      <a16:colId xmlns:a16="http://schemas.microsoft.com/office/drawing/2014/main" val="1832818865"/>
                    </a:ext>
                  </a:extLst>
                </a:gridCol>
                <a:gridCol w="1138653">
                  <a:extLst>
                    <a:ext uri="{9D8B030D-6E8A-4147-A177-3AD203B41FA5}">
                      <a16:colId xmlns:a16="http://schemas.microsoft.com/office/drawing/2014/main" val="3359226510"/>
                    </a:ext>
                  </a:extLst>
                </a:gridCol>
                <a:gridCol w="879202">
                  <a:extLst>
                    <a:ext uri="{9D8B030D-6E8A-4147-A177-3AD203B41FA5}">
                      <a16:colId xmlns:a16="http://schemas.microsoft.com/office/drawing/2014/main" val="2765981335"/>
                    </a:ext>
                  </a:extLst>
                </a:gridCol>
                <a:gridCol w="869541">
                  <a:extLst>
                    <a:ext uri="{9D8B030D-6E8A-4147-A177-3AD203B41FA5}">
                      <a16:colId xmlns:a16="http://schemas.microsoft.com/office/drawing/2014/main" val="1894358556"/>
                    </a:ext>
                  </a:extLst>
                </a:gridCol>
                <a:gridCol w="1560343">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dirty="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profession_id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מקצוע</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a:latin typeface="David" panose="020E0502060401010101" pitchFamily="34" charset="-79"/>
                          <a:cs typeface="David" panose="020E0502060401010101" pitchFamily="34" charset="-79"/>
                        </a:rPr>
                        <a:t>p_name</a:t>
                      </a:r>
                    </a:p>
                  </a:txBody>
                  <a:tcPr anchor="ctr"/>
                </a:tc>
                <a:tc>
                  <a:txBody>
                    <a:bodyPr/>
                    <a:lstStyle/>
                    <a:p>
                      <a:pPr algn="ctr"/>
                      <a:r>
                        <a:rPr lang="he-IL" sz="1600" dirty="0">
                          <a:latin typeface="David" panose="020E0502060401010101" pitchFamily="34" charset="-79"/>
                          <a:cs typeface="David" panose="020E0502060401010101" pitchFamily="34" charset="-79"/>
                        </a:rPr>
                        <a:t>שם מקצוע</a:t>
                      </a:r>
                    </a:p>
                  </a:txBody>
                  <a:tcPr anchor="ctr"/>
                </a:tc>
                <a:tc>
                  <a:txBody>
                    <a:bodyPr/>
                    <a:lstStyle/>
                    <a:p>
                      <a:pPr algn="ctr"/>
                      <a:r>
                        <a:rPr lang="en-US" sz="1600" dirty="0">
                          <a:latin typeface="David" panose="020E0502060401010101" pitchFamily="34" charset="-79"/>
                          <a:cs typeface="David" panose="020E0502060401010101" pitchFamily="34" charset="-79"/>
                        </a:rPr>
                        <a:t>VARCHAR(50)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bl>
          </a:graphicData>
        </a:graphic>
      </p:graphicFrame>
    </p:spTree>
    <p:extLst>
      <p:ext uri="{BB962C8B-B14F-4D97-AF65-F5344CB8AC3E}">
        <p14:creationId xmlns:p14="http://schemas.microsoft.com/office/powerpoint/2010/main" val="246491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784490" y="1541227"/>
            <a:ext cx="278423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54390" y="1541227"/>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-Lessons</a:t>
            </a:r>
            <a:r>
              <a:rPr lang="he-IL" sz="2400" b="1" dirty="0">
                <a:latin typeface="David" panose="020E0502060401010101" pitchFamily="34" charset="-79"/>
                <a:cs typeface="David" panose="020E0502060401010101" pitchFamily="34" charset="-79"/>
              </a:rPr>
              <a:t>שיעורים</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10</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1353399624"/>
              </p:ext>
            </p:extLst>
          </p:nvPr>
        </p:nvGraphicFramePr>
        <p:xfrm>
          <a:off x="1918013" y="2359215"/>
          <a:ext cx="9672202" cy="2027391"/>
        </p:xfrm>
        <a:graphic>
          <a:graphicData uri="http://schemas.openxmlformats.org/drawingml/2006/table">
            <a:tbl>
              <a:tblPr rtl="1" firstRow="1" bandRow="1">
                <a:tableStyleId>{21E4AEA4-8DFA-4A89-87EB-49C32662AFE0}</a:tableStyleId>
              </a:tblPr>
              <a:tblGrid>
                <a:gridCol w="1547446">
                  <a:extLst>
                    <a:ext uri="{9D8B030D-6E8A-4147-A177-3AD203B41FA5}">
                      <a16:colId xmlns:a16="http://schemas.microsoft.com/office/drawing/2014/main" val="2871101326"/>
                    </a:ext>
                  </a:extLst>
                </a:gridCol>
                <a:gridCol w="1203569">
                  <a:extLst>
                    <a:ext uri="{9D8B030D-6E8A-4147-A177-3AD203B41FA5}">
                      <a16:colId xmlns:a16="http://schemas.microsoft.com/office/drawing/2014/main" val="1281013793"/>
                    </a:ext>
                  </a:extLst>
                </a:gridCol>
                <a:gridCol w="1609969">
                  <a:extLst>
                    <a:ext uri="{9D8B030D-6E8A-4147-A177-3AD203B41FA5}">
                      <a16:colId xmlns:a16="http://schemas.microsoft.com/office/drawing/2014/main" val="1890354973"/>
                    </a:ext>
                  </a:extLst>
                </a:gridCol>
                <a:gridCol w="1164493">
                  <a:extLst>
                    <a:ext uri="{9D8B030D-6E8A-4147-A177-3AD203B41FA5}">
                      <a16:colId xmlns:a16="http://schemas.microsoft.com/office/drawing/2014/main" val="1832818865"/>
                    </a:ext>
                  </a:extLst>
                </a:gridCol>
                <a:gridCol w="1477107">
                  <a:extLst>
                    <a:ext uri="{9D8B030D-6E8A-4147-A177-3AD203B41FA5}">
                      <a16:colId xmlns:a16="http://schemas.microsoft.com/office/drawing/2014/main" val="3359226510"/>
                    </a:ext>
                  </a:extLst>
                </a:gridCol>
                <a:gridCol w="711200">
                  <a:extLst>
                    <a:ext uri="{9D8B030D-6E8A-4147-A177-3AD203B41FA5}">
                      <a16:colId xmlns:a16="http://schemas.microsoft.com/office/drawing/2014/main" val="2765981335"/>
                    </a:ext>
                  </a:extLst>
                </a:gridCol>
                <a:gridCol w="758093">
                  <a:extLst>
                    <a:ext uri="{9D8B030D-6E8A-4147-A177-3AD203B41FA5}">
                      <a16:colId xmlns:a16="http://schemas.microsoft.com/office/drawing/2014/main" val="1894358556"/>
                    </a:ext>
                  </a:extLst>
                </a:gridCol>
                <a:gridCol w="1200325">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dirty="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lesson_id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שיעור</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a:latin typeface="David" panose="020E0502060401010101" pitchFamily="34" charset="-79"/>
                          <a:cs typeface="David" panose="020E0502060401010101" pitchFamily="34" charset="-79"/>
                        </a:rPr>
                        <a:t>l_profession_id</a:t>
                      </a:r>
                    </a:p>
                  </a:txBody>
                  <a:tcPr anchor="ctr"/>
                </a:tc>
                <a:tc>
                  <a:txBody>
                    <a:bodyPr/>
                    <a:lstStyle/>
                    <a:p>
                      <a:pPr algn="ctr"/>
                      <a:r>
                        <a:rPr lang="he-IL" sz="1600" dirty="0">
                          <a:latin typeface="David" panose="020E0502060401010101" pitchFamily="34" charset="-79"/>
                          <a:cs typeface="David" panose="020E0502060401010101" pitchFamily="34" charset="-79"/>
                        </a:rPr>
                        <a:t>קוד מקצוע</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 Professions V</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502892">
                <a:tc>
                  <a:txBody>
                    <a:bodyPr/>
                    <a:lstStyle/>
                    <a:p>
                      <a:pPr algn="ctr"/>
                      <a:r>
                        <a:rPr lang="en-US" sz="1600">
                          <a:latin typeface="David" panose="020E0502060401010101" pitchFamily="34" charset="-79"/>
                          <a:cs typeface="David" panose="020E0502060401010101" pitchFamily="34" charset="-79"/>
                        </a:rPr>
                        <a:t>l_level_code</a:t>
                      </a:r>
                    </a:p>
                  </a:txBody>
                  <a:tcPr anchor="ctr"/>
                </a:tc>
                <a:tc>
                  <a:txBody>
                    <a:bodyPr/>
                    <a:lstStyle/>
                    <a:p>
                      <a:pPr algn="ctr"/>
                      <a:r>
                        <a:rPr lang="he-IL" sz="1600">
                          <a:latin typeface="David" panose="020E0502060401010101" pitchFamily="34" charset="-79"/>
                          <a:cs typeface="David" panose="020E0502060401010101" pitchFamily="34" charset="-79"/>
                        </a:rPr>
                        <a:t>קוד רמה</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Levels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351047">
                <a:tc>
                  <a:txBody>
                    <a:bodyPr/>
                    <a:lstStyle/>
                    <a:p>
                      <a:pPr algn="ctr"/>
                      <a:r>
                        <a:rPr lang="en-US" sz="1600">
                          <a:latin typeface="David" panose="020E0502060401010101" pitchFamily="34" charset="-79"/>
                          <a:cs typeface="David" panose="020E0502060401010101" pitchFamily="34" charset="-79"/>
                        </a:rPr>
                        <a:t>lesson_topic</a:t>
                      </a:r>
                    </a:p>
                  </a:txBody>
                  <a:tcPr anchor="ctr"/>
                </a:tc>
                <a:tc>
                  <a:txBody>
                    <a:bodyPr/>
                    <a:lstStyle/>
                    <a:p>
                      <a:pPr algn="ctr"/>
                      <a:r>
                        <a:rPr lang="he-IL" sz="1600">
                          <a:latin typeface="David" panose="020E0502060401010101" pitchFamily="34" charset="-79"/>
                          <a:cs typeface="David" panose="020E0502060401010101" pitchFamily="34" charset="-79"/>
                        </a:rPr>
                        <a:t>נושא השיעור</a:t>
                      </a:r>
                    </a:p>
                  </a:txBody>
                  <a:tcPr anchor="ctr"/>
                </a:tc>
                <a:tc>
                  <a:txBody>
                    <a:bodyPr/>
                    <a:lstStyle/>
                    <a:p>
                      <a:pPr algn="ctr"/>
                      <a:r>
                        <a:rPr lang="en-US" sz="1600">
                          <a:latin typeface="David" panose="020E0502060401010101" pitchFamily="34" charset="-79"/>
                          <a:cs typeface="David" panose="020E0502060401010101" pitchFamily="34" charset="-79"/>
                        </a:rPr>
                        <a:t>VARCHAR(200)</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2778192598"/>
                  </a:ext>
                </a:extLst>
              </a:tr>
            </a:tbl>
          </a:graphicData>
        </a:graphic>
      </p:graphicFrame>
    </p:spTree>
    <p:extLst>
      <p:ext uri="{BB962C8B-B14F-4D97-AF65-F5344CB8AC3E}">
        <p14:creationId xmlns:p14="http://schemas.microsoft.com/office/powerpoint/2010/main" val="3041999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6654387" y="1541227"/>
            <a:ext cx="4914334"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776306" y="1541227"/>
            <a:ext cx="4914333" cy="461665"/>
          </a:xfrm>
          <a:prstGeom prst="rect">
            <a:avLst/>
          </a:prstGeom>
          <a:noFill/>
        </p:spPr>
        <p:txBody>
          <a:bodyPr wrap="square" rtlCol="1">
            <a:spAutoFit/>
          </a:bodyPr>
          <a:lstStyle/>
          <a:p>
            <a:r>
              <a:rPr lang="en-US" sz="2400" b="1" dirty="0" err="1">
                <a:latin typeface="David" panose="020E0502060401010101" pitchFamily="34" charset="-79"/>
                <a:cs typeface="David" panose="020E0502060401010101" pitchFamily="34" charset="-79"/>
              </a:rPr>
              <a:t>Student_Progres</a:t>
            </a:r>
            <a:r>
              <a:rPr lang="en-US" sz="2400" b="1" dirty="0">
                <a:latin typeface="David" panose="020E0502060401010101" pitchFamily="34" charset="-79"/>
                <a:cs typeface="David" panose="020E0502060401010101" pitchFamily="34" charset="-79"/>
              </a:rPr>
              <a:t>  </a:t>
            </a:r>
            <a:r>
              <a:rPr lang="he-IL" sz="2400" b="1" dirty="0">
                <a:latin typeface="David" panose="020E0502060401010101" pitchFamily="34" charset="-79"/>
                <a:cs typeface="David" panose="020E0502060401010101" pitchFamily="34" charset="-79"/>
              </a:rPr>
              <a:t>-התקדמות תלמידים</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11</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3237107573"/>
              </p:ext>
            </p:extLst>
          </p:nvPr>
        </p:nvGraphicFramePr>
        <p:xfrm>
          <a:off x="111762" y="2413923"/>
          <a:ext cx="11456959" cy="2978693"/>
        </p:xfrm>
        <a:graphic>
          <a:graphicData uri="http://schemas.openxmlformats.org/drawingml/2006/table">
            <a:tbl>
              <a:tblPr rtl="1" firstRow="1" bandRow="1">
                <a:tableStyleId>{21E4AEA4-8DFA-4A89-87EB-49C32662AFE0}</a:tableStyleId>
              </a:tblPr>
              <a:tblGrid>
                <a:gridCol w="1441622">
                  <a:extLst>
                    <a:ext uri="{9D8B030D-6E8A-4147-A177-3AD203B41FA5}">
                      <a16:colId xmlns:a16="http://schemas.microsoft.com/office/drawing/2014/main" val="2871101326"/>
                    </a:ext>
                  </a:extLst>
                </a:gridCol>
                <a:gridCol w="1430762">
                  <a:extLst>
                    <a:ext uri="{9D8B030D-6E8A-4147-A177-3AD203B41FA5}">
                      <a16:colId xmlns:a16="http://schemas.microsoft.com/office/drawing/2014/main" val="1281013793"/>
                    </a:ext>
                  </a:extLst>
                </a:gridCol>
                <a:gridCol w="1576520">
                  <a:extLst>
                    <a:ext uri="{9D8B030D-6E8A-4147-A177-3AD203B41FA5}">
                      <a16:colId xmlns:a16="http://schemas.microsoft.com/office/drawing/2014/main" val="1890354973"/>
                    </a:ext>
                  </a:extLst>
                </a:gridCol>
                <a:gridCol w="1312984">
                  <a:extLst>
                    <a:ext uri="{9D8B030D-6E8A-4147-A177-3AD203B41FA5}">
                      <a16:colId xmlns:a16="http://schemas.microsoft.com/office/drawing/2014/main" val="1832818865"/>
                    </a:ext>
                  </a:extLst>
                </a:gridCol>
                <a:gridCol w="1367693">
                  <a:extLst>
                    <a:ext uri="{9D8B030D-6E8A-4147-A177-3AD203B41FA5}">
                      <a16:colId xmlns:a16="http://schemas.microsoft.com/office/drawing/2014/main" val="3359226510"/>
                    </a:ext>
                  </a:extLst>
                </a:gridCol>
                <a:gridCol w="820615">
                  <a:extLst>
                    <a:ext uri="{9D8B030D-6E8A-4147-A177-3AD203B41FA5}">
                      <a16:colId xmlns:a16="http://schemas.microsoft.com/office/drawing/2014/main" val="2765981335"/>
                    </a:ext>
                  </a:extLst>
                </a:gridCol>
                <a:gridCol w="890954">
                  <a:extLst>
                    <a:ext uri="{9D8B030D-6E8A-4147-A177-3AD203B41FA5}">
                      <a16:colId xmlns:a16="http://schemas.microsoft.com/office/drawing/2014/main" val="1894358556"/>
                    </a:ext>
                  </a:extLst>
                </a:gridCol>
                <a:gridCol w="2615809">
                  <a:extLst>
                    <a:ext uri="{9D8B030D-6E8A-4147-A177-3AD203B41FA5}">
                      <a16:colId xmlns:a16="http://schemas.microsoft.com/office/drawing/2014/main" val="4151655796"/>
                    </a:ext>
                  </a:extLst>
                </a:gridCol>
              </a:tblGrid>
              <a:tr h="297574">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324626">
                <a:tc>
                  <a:txBody>
                    <a:bodyPr/>
                    <a:lstStyle/>
                    <a:p>
                      <a:pPr algn="ctr"/>
                      <a:r>
                        <a:rPr lang="en-US" sz="1600" dirty="0" err="1">
                          <a:latin typeface="David" panose="020E0502060401010101" pitchFamily="34" charset="-79"/>
                          <a:cs typeface="David" panose="020E0502060401010101" pitchFamily="34" charset="-79"/>
                        </a:rPr>
                        <a:t>progress_id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קוד התקדמות</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מתחיל מ-1001</a:t>
                      </a:r>
                    </a:p>
                  </a:txBody>
                  <a:tcPr anchor="ctr"/>
                </a:tc>
                <a:extLst>
                  <a:ext uri="{0D108BD9-81ED-4DB2-BD59-A6C34878D82A}">
                    <a16:rowId xmlns:a16="http://schemas.microsoft.com/office/drawing/2014/main" val="1912075820"/>
                  </a:ext>
                </a:extLst>
              </a:tr>
              <a:tr h="568095">
                <a:tc>
                  <a:txBody>
                    <a:bodyPr/>
                    <a:lstStyle/>
                    <a:p>
                      <a:pPr algn="ctr"/>
                      <a:r>
                        <a:rPr lang="en-US" sz="1600">
                          <a:latin typeface="David" panose="020E0502060401010101" pitchFamily="34" charset="-79"/>
                          <a:cs typeface="David" panose="020E0502060401010101" pitchFamily="34" charset="-79"/>
                        </a:rPr>
                        <a:t>sp_student_id</a:t>
                      </a:r>
                    </a:p>
                  </a:txBody>
                  <a:tcPr anchor="ctr"/>
                </a:tc>
                <a:tc>
                  <a:txBody>
                    <a:bodyPr/>
                    <a:lstStyle/>
                    <a:p>
                      <a:pPr algn="ctr"/>
                      <a:r>
                        <a:rPr lang="he-IL" sz="1600" dirty="0">
                          <a:latin typeface="David" panose="020E0502060401010101" pitchFamily="34" charset="-79"/>
                          <a:cs typeface="David" panose="020E0502060401010101" pitchFamily="34" charset="-79"/>
                        </a:rPr>
                        <a:t>קוד תלמיד</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Students</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446336">
                <a:tc>
                  <a:txBody>
                    <a:bodyPr/>
                    <a:lstStyle/>
                    <a:p>
                      <a:pPr algn="ctr"/>
                      <a:r>
                        <a:rPr lang="en-US" sz="1600">
                          <a:latin typeface="David" panose="020E0502060401010101" pitchFamily="34" charset="-79"/>
                          <a:cs typeface="David" panose="020E0502060401010101" pitchFamily="34" charset="-79"/>
                        </a:rPr>
                        <a:t>sp_lesson_id</a:t>
                      </a:r>
                    </a:p>
                  </a:txBody>
                  <a:tcPr anchor="ctr"/>
                </a:tc>
                <a:tc>
                  <a:txBody>
                    <a:bodyPr/>
                    <a:lstStyle/>
                    <a:p>
                      <a:pPr algn="ctr"/>
                      <a:r>
                        <a:rPr lang="he-IL" sz="1600">
                          <a:latin typeface="David" panose="020E0502060401010101" pitchFamily="34" charset="-79"/>
                          <a:cs typeface="David" panose="020E0502060401010101" pitchFamily="34" charset="-79"/>
                        </a:rPr>
                        <a:t>קוד שיעור</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Lessons</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426194">
                <a:tc>
                  <a:txBody>
                    <a:bodyPr/>
                    <a:lstStyle/>
                    <a:p>
                      <a:pPr algn="ctr"/>
                      <a:r>
                        <a:rPr lang="en-US" sz="1600">
                          <a:latin typeface="David" panose="020E0502060401010101" pitchFamily="34" charset="-79"/>
                          <a:cs typeface="David" panose="020E0502060401010101" pitchFamily="34" charset="-79"/>
                        </a:rPr>
                        <a:t>sp_status</a:t>
                      </a:r>
                    </a:p>
                  </a:txBody>
                  <a:tcPr anchor="ctr"/>
                </a:tc>
                <a:tc>
                  <a:txBody>
                    <a:bodyPr/>
                    <a:lstStyle/>
                    <a:p>
                      <a:pPr algn="ctr"/>
                      <a:r>
                        <a:rPr lang="he-IL" sz="1600">
                          <a:latin typeface="David" panose="020E0502060401010101" pitchFamily="34" charset="-79"/>
                          <a:cs typeface="David" panose="020E0502060401010101" pitchFamily="34" charset="-79"/>
                        </a:rPr>
                        <a:t>סטטוס</a:t>
                      </a:r>
                    </a:p>
                  </a:txBody>
                  <a:tcPr anchor="ctr"/>
                </a:tc>
                <a:tc>
                  <a:txBody>
                    <a:bodyPr/>
                    <a:lstStyle/>
                    <a:p>
                      <a:pPr algn="ctr"/>
                      <a:r>
                        <a:rPr lang="en-US" sz="1600" dirty="0">
                          <a:latin typeface="David" panose="020E0502060401010101" pitchFamily="34" charset="-79"/>
                          <a:cs typeface="David" panose="020E0502060401010101" pitchFamily="34" charset="-79"/>
                        </a:rPr>
                        <a:t>VARCHAR(20)</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טרם החל / בתהליך / הושלם</a:t>
                      </a:r>
                      <a:endParaRPr lang="en-US"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2778192598"/>
                  </a:ext>
                </a:extLst>
              </a:tr>
              <a:tr h="446258">
                <a:tc>
                  <a:txBody>
                    <a:bodyPr/>
                    <a:lstStyle/>
                    <a:p>
                      <a:pPr algn="ctr"/>
                      <a:r>
                        <a:rPr lang="en-US" sz="1600">
                          <a:latin typeface="David" panose="020E0502060401010101" pitchFamily="34" charset="-79"/>
                          <a:cs typeface="David" panose="020E0502060401010101" pitchFamily="34" charset="-79"/>
                        </a:rPr>
                        <a:t>sp_score</a:t>
                      </a:r>
                    </a:p>
                  </a:txBody>
                  <a:tcPr anchor="ctr"/>
                </a:tc>
                <a:tc>
                  <a:txBody>
                    <a:bodyPr/>
                    <a:lstStyle/>
                    <a:p>
                      <a:pPr algn="ctr"/>
                      <a:r>
                        <a:rPr lang="he-IL" sz="1600">
                          <a:latin typeface="David" panose="020E0502060401010101" pitchFamily="34" charset="-79"/>
                          <a:cs typeface="David" panose="020E0502060401010101" pitchFamily="34" charset="-79"/>
                        </a:rPr>
                        <a:t>ציון</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NULL  </a:t>
                      </a:r>
                      <a:r>
                        <a:rPr lang="he-IL" sz="1600" dirty="0">
                          <a:latin typeface="David" panose="020E0502060401010101" pitchFamily="34" charset="-79"/>
                          <a:cs typeface="David" panose="020E0502060401010101" pitchFamily="34" charset="-79"/>
                        </a:rPr>
                        <a:t> אם </a:t>
                      </a:r>
                      <a:r>
                        <a:rPr lang="en-US" sz="1600" dirty="0">
                          <a:latin typeface="David" panose="020E0502060401010101" pitchFamily="34" charset="-79"/>
                          <a:cs typeface="David" panose="020E0502060401010101" pitchFamily="34" charset="-79"/>
                        </a:rPr>
                        <a:t>Not Started</a:t>
                      </a:r>
                    </a:p>
                  </a:txBody>
                  <a:tcPr anchor="ctr"/>
                </a:tc>
                <a:extLst>
                  <a:ext uri="{0D108BD9-81ED-4DB2-BD59-A6C34878D82A}">
                    <a16:rowId xmlns:a16="http://schemas.microsoft.com/office/drawing/2014/main" val="306544773"/>
                  </a:ext>
                </a:extLst>
              </a:tr>
              <a:tr h="421250">
                <a:tc>
                  <a:txBody>
                    <a:bodyPr/>
                    <a:lstStyle/>
                    <a:p>
                      <a:pPr algn="ctr"/>
                      <a:r>
                        <a:rPr lang="en-US" sz="1600">
                          <a:latin typeface="David" panose="020E0502060401010101" pitchFamily="34" charset="-79"/>
                          <a:cs typeface="David" panose="020E0502060401010101" pitchFamily="34" charset="-79"/>
                        </a:rPr>
                        <a:t>sp_last_update</a:t>
                      </a:r>
                    </a:p>
                  </a:txBody>
                  <a:tcPr anchor="ctr"/>
                </a:tc>
                <a:tc>
                  <a:txBody>
                    <a:bodyPr/>
                    <a:lstStyle/>
                    <a:p>
                      <a:pPr algn="ctr"/>
                      <a:r>
                        <a:rPr lang="he-IL" sz="1600">
                          <a:latin typeface="David" panose="020E0502060401010101" pitchFamily="34" charset="-79"/>
                          <a:cs typeface="David" panose="020E0502060401010101" pitchFamily="34" charset="-79"/>
                        </a:rPr>
                        <a:t>עדכון אחרון</a:t>
                      </a:r>
                    </a:p>
                  </a:txBody>
                  <a:tcPr anchor="ctr"/>
                </a:tc>
                <a:tc>
                  <a:txBody>
                    <a:bodyPr/>
                    <a:lstStyle/>
                    <a:p>
                      <a:pPr algn="ctr"/>
                      <a:r>
                        <a:rPr lang="en-US" sz="1600">
                          <a:latin typeface="David" panose="020E0502060401010101" pitchFamily="34" charset="-79"/>
                          <a:cs typeface="David" panose="020E0502060401010101" pitchFamily="34" charset="-79"/>
                        </a:rPr>
                        <a:t>DATETIME</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ברירת מחדל: תאריך נוכחי</a:t>
                      </a:r>
                    </a:p>
                  </a:txBody>
                  <a:tcPr anchor="ctr"/>
                </a:tc>
                <a:extLst>
                  <a:ext uri="{0D108BD9-81ED-4DB2-BD59-A6C34878D82A}">
                    <a16:rowId xmlns:a16="http://schemas.microsoft.com/office/drawing/2014/main" val="2763952153"/>
                  </a:ext>
                </a:extLst>
              </a:tr>
            </a:tbl>
          </a:graphicData>
        </a:graphic>
      </p:graphicFrame>
    </p:spTree>
    <p:extLst>
      <p:ext uri="{BB962C8B-B14F-4D97-AF65-F5344CB8AC3E}">
        <p14:creationId xmlns:p14="http://schemas.microsoft.com/office/powerpoint/2010/main" val="3277846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784490" y="1541227"/>
            <a:ext cx="2784231"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54390" y="1541227"/>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-Orders </a:t>
            </a:r>
            <a:r>
              <a:rPr lang="he-IL" sz="2400" b="1" dirty="0">
                <a:latin typeface="David" panose="020E0502060401010101" pitchFamily="34" charset="-79"/>
                <a:cs typeface="David" panose="020E0502060401010101" pitchFamily="34" charset="-79"/>
              </a:rPr>
              <a:t>הזמנות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12</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1702947698"/>
              </p:ext>
            </p:extLst>
          </p:nvPr>
        </p:nvGraphicFramePr>
        <p:xfrm>
          <a:off x="1492738" y="2382662"/>
          <a:ext cx="10075983" cy="1875963"/>
        </p:xfrm>
        <a:graphic>
          <a:graphicData uri="http://schemas.openxmlformats.org/drawingml/2006/table">
            <a:tbl>
              <a:tblPr rtl="1" firstRow="1" bandRow="1">
                <a:tableStyleId>{21E4AEA4-8DFA-4A89-87EB-49C32662AFE0}</a:tableStyleId>
              </a:tblPr>
              <a:tblGrid>
                <a:gridCol w="1369641">
                  <a:extLst>
                    <a:ext uri="{9D8B030D-6E8A-4147-A177-3AD203B41FA5}">
                      <a16:colId xmlns:a16="http://schemas.microsoft.com/office/drawing/2014/main" val="2871101326"/>
                    </a:ext>
                  </a:extLst>
                </a:gridCol>
                <a:gridCol w="1305169">
                  <a:extLst>
                    <a:ext uri="{9D8B030D-6E8A-4147-A177-3AD203B41FA5}">
                      <a16:colId xmlns:a16="http://schemas.microsoft.com/office/drawing/2014/main" val="1281013793"/>
                    </a:ext>
                  </a:extLst>
                </a:gridCol>
                <a:gridCol w="1367693">
                  <a:extLst>
                    <a:ext uri="{9D8B030D-6E8A-4147-A177-3AD203B41FA5}">
                      <a16:colId xmlns:a16="http://schemas.microsoft.com/office/drawing/2014/main" val="1890354973"/>
                    </a:ext>
                  </a:extLst>
                </a:gridCol>
                <a:gridCol w="1094153">
                  <a:extLst>
                    <a:ext uri="{9D8B030D-6E8A-4147-A177-3AD203B41FA5}">
                      <a16:colId xmlns:a16="http://schemas.microsoft.com/office/drawing/2014/main" val="1832818865"/>
                    </a:ext>
                  </a:extLst>
                </a:gridCol>
                <a:gridCol w="1302777">
                  <a:extLst>
                    <a:ext uri="{9D8B030D-6E8A-4147-A177-3AD203B41FA5}">
                      <a16:colId xmlns:a16="http://schemas.microsoft.com/office/drawing/2014/main" val="3359226510"/>
                    </a:ext>
                  </a:extLst>
                </a:gridCol>
                <a:gridCol w="705777">
                  <a:extLst>
                    <a:ext uri="{9D8B030D-6E8A-4147-A177-3AD203B41FA5}">
                      <a16:colId xmlns:a16="http://schemas.microsoft.com/office/drawing/2014/main" val="2765981335"/>
                    </a:ext>
                  </a:extLst>
                </a:gridCol>
                <a:gridCol w="711200">
                  <a:extLst>
                    <a:ext uri="{9D8B030D-6E8A-4147-A177-3AD203B41FA5}">
                      <a16:colId xmlns:a16="http://schemas.microsoft.com/office/drawing/2014/main" val="1894358556"/>
                    </a:ext>
                  </a:extLst>
                </a:gridCol>
                <a:gridCol w="2219573">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dirty="0">
                          <a:latin typeface="David" panose="020E0502060401010101" pitchFamily="34" charset="-79"/>
                          <a:cs typeface="David" panose="020E0502060401010101" pitchFamily="34" charset="-79"/>
                        </a:rPr>
                        <a:t>תרגום</a:t>
                      </a:r>
                    </a:p>
                  </a:txBody>
                  <a:tcPr anchor="ctr"/>
                </a:tc>
                <a:tc>
                  <a:txBody>
                    <a:bodyPr/>
                    <a:lstStyle/>
                    <a:p>
                      <a:pPr algn="ctr"/>
                      <a:r>
                        <a:rPr lang="he-IL" sz="1600" dirty="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dirty="0" err="1">
                          <a:latin typeface="David" panose="020E0502060401010101" pitchFamily="34" charset="-79"/>
                          <a:cs typeface="David" panose="020E0502060401010101" pitchFamily="34" charset="-79"/>
                        </a:rPr>
                        <a:t>order_id</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הזמנה</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424624">
                <a:tc>
                  <a:txBody>
                    <a:bodyPr/>
                    <a:lstStyle/>
                    <a:p>
                      <a:pPr algn="ctr"/>
                      <a:r>
                        <a:rPr lang="en-US" sz="1600">
                          <a:latin typeface="David" panose="020E0502060401010101" pitchFamily="34" charset="-79"/>
                          <a:cs typeface="David" panose="020E0502060401010101" pitchFamily="34" charset="-79"/>
                        </a:rPr>
                        <a:t>o_user_id</a:t>
                      </a:r>
                    </a:p>
                  </a:txBody>
                  <a:tcPr anchor="ctr"/>
                </a:tc>
                <a:tc>
                  <a:txBody>
                    <a:bodyPr/>
                    <a:lstStyle/>
                    <a:p>
                      <a:pPr algn="ctr"/>
                      <a:r>
                        <a:rPr lang="he-IL" sz="1600" dirty="0">
                          <a:latin typeface="David" panose="020E0502060401010101" pitchFamily="34" charset="-79"/>
                          <a:cs typeface="David" panose="020E0502060401010101" pitchFamily="34" charset="-79"/>
                        </a:rPr>
                        <a:t>קוד הורה</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Users</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429732">
                <a:tc>
                  <a:txBody>
                    <a:bodyPr/>
                    <a:lstStyle/>
                    <a:p>
                      <a:pPr algn="ctr"/>
                      <a:r>
                        <a:rPr lang="en-US" sz="1600">
                          <a:latin typeface="David" panose="020E0502060401010101" pitchFamily="34" charset="-79"/>
                          <a:cs typeface="David" panose="020E0502060401010101" pitchFamily="34" charset="-79"/>
                        </a:rPr>
                        <a:t>o_student_id</a:t>
                      </a:r>
                    </a:p>
                  </a:txBody>
                  <a:tcPr anchor="ctr"/>
                </a:tc>
                <a:tc>
                  <a:txBody>
                    <a:bodyPr/>
                    <a:lstStyle/>
                    <a:p>
                      <a:pPr algn="ctr"/>
                      <a:r>
                        <a:rPr lang="he-IL" sz="1600" dirty="0">
                          <a:latin typeface="David" panose="020E0502060401010101" pitchFamily="34" charset="-79"/>
                          <a:cs typeface="David" panose="020E0502060401010101" pitchFamily="34" charset="-79"/>
                        </a:rPr>
                        <a:t>קוד תלמיד</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Students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351047">
                <a:tc>
                  <a:txBody>
                    <a:bodyPr/>
                    <a:lstStyle/>
                    <a:p>
                      <a:pPr algn="ctr"/>
                      <a:r>
                        <a:rPr lang="en-US" sz="1600">
                          <a:latin typeface="David" panose="020E0502060401010101" pitchFamily="34" charset="-79"/>
                          <a:cs typeface="David" panose="020E0502060401010101" pitchFamily="34" charset="-79"/>
                        </a:rPr>
                        <a:t>o_date</a:t>
                      </a:r>
                    </a:p>
                  </a:txBody>
                  <a:tcPr anchor="ctr"/>
                </a:tc>
                <a:tc>
                  <a:txBody>
                    <a:bodyPr/>
                    <a:lstStyle/>
                    <a:p>
                      <a:pPr algn="ctr"/>
                      <a:r>
                        <a:rPr lang="he-IL" sz="1600">
                          <a:latin typeface="David" panose="020E0502060401010101" pitchFamily="34" charset="-79"/>
                          <a:cs typeface="David" panose="020E0502060401010101" pitchFamily="34" charset="-79"/>
                        </a:rPr>
                        <a:t>תאריך הזמנה</a:t>
                      </a:r>
                    </a:p>
                  </a:txBody>
                  <a:tcPr anchor="ctr"/>
                </a:tc>
                <a:tc>
                  <a:txBody>
                    <a:bodyPr/>
                    <a:lstStyle/>
                    <a:p>
                      <a:pPr algn="ctr"/>
                      <a:r>
                        <a:rPr lang="en-US" sz="1600" dirty="0">
                          <a:latin typeface="David" panose="020E0502060401010101" pitchFamily="34" charset="-79"/>
                          <a:cs typeface="David" panose="020E0502060401010101" pitchFamily="34" charset="-79"/>
                        </a:rPr>
                        <a:t>DATETIME</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ברירת מחדל: תאריך נוכחי</a:t>
                      </a:r>
                    </a:p>
                  </a:txBody>
                  <a:tcPr anchor="ctr"/>
                </a:tc>
                <a:extLst>
                  <a:ext uri="{0D108BD9-81ED-4DB2-BD59-A6C34878D82A}">
                    <a16:rowId xmlns:a16="http://schemas.microsoft.com/office/drawing/2014/main" val="2778192598"/>
                  </a:ext>
                </a:extLst>
              </a:tr>
            </a:tbl>
          </a:graphicData>
        </a:graphic>
      </p:graphicFrame>
    </p:spTree>
    <p:extLst>
      <p:ext uri="{BB962C8B-B14F-4D97-AF65-F5344CB8AC3E}">
        <p14:creationId xmlns:p14="http://schemas.microsoft.com/office/powerpoint/2010/main" val="280160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7729415" y="1541227"/>
            <a:ext cx="3839306"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694458" y="1541227"/>
            <a:ext cx="4914333" cy="461665"/>
          </a:xfrm>
          <a:prstGeom prst="rect">
            <a:avLst/>
          </a:prstGeom>
          <a:noFill/>
        </p:spPr>
        <p:txBody>
          <a:bodyPr wrap="square" rtlCol="1">
            <a:spAutoFit/>
          </a:bodyPr>
          <a:lstStyle/>
          <a:p>
            <a:r>
              <a:rPr lang="en-US" sz="2400" b="1" dirty="0" err="1">
                <a:latin typeface="David" panose="020E0502060401010101" pitchFamily="34" charset="-79"/>
                <a:cs typeface="David" panose="020E0502060401010101" pitchFamily="34" charset="-79"/>
              </a:rPr>
              <a:t>Order_Items</a:t>
            </a:r>
            <a:r>
              <a:rPr lang="en-US" sz="2400" b="1" dirty="0">
                <a:latin typeface="David" panose="020E0502060401010101" pitchFamily="34" charset="-79"/>
                <a:cs typeface="David" panose="020E0502060401010101" pitchFamily="34" charset="-79"/>
              </a:rPr>
              <a:t> </a:t>
            </a:r>
            <a:r>
              <a:rPr lang="he-IL" sz="2400" b="1" dirty="0">
                <a:latin typeface="David" panose="020E0502060401010101" pitchFamily="34" charset="-79"/>
                <a:cs typeface="David" panose="020E0502060401010101" pitchFamily="34" charset="-79"/>
              </a:rPr>
              <a:t>-פירוט הזמנות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13</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2853935013"/>
              </p:ext>
            </p:extLst>
          </p:nvPr>
        </p:nvGraphicFramePr>
        <p:xfrm>
          <a:off x="1820199" y="2359215"/>
          <a:ext cx="9748519" cy="1564108"/>
        </p:xfrm>
        <a:graphic>
          <a:graphicData uri="http://schemas.openxmlformats.org/drawingml/2006/table">
            <a:tbl>
              <a:tblPr rtl="1" firstRow="1" bandRow="1">
                <a:tableStyleId>{21E4AEA4-8DFA-4A89-87EB-49C32662AFE0}</a:tableStyleId>
              </a:tblPr>
              <a:tblGrid>
                <a:gridCol w="1682256">
                  <a:extLst>
                    <a:ext uri="{9D8B030D-6E8A-4147-A177-3AD203B41FA5}">
                      <a16:colId xmlns:a16="http://schemas.microsoft.com/office/drawing/2014/main" val="2871101326"/>
                    </a:ext>
                  </a:extLst>
                </a:gridCol>
                <a:gridCol w="1094154">
                  <a:extLst>
                    <a:ext uri="{9D8B030D-6E8A-4147-A177-3AD203B41FA5}">
                      <a16:colId xmlns:a16="http://schemas.microsoft.com/office/drawing/2014/main" val="1281013793"/>
                    </a:ext>
                  </a:extLst>
                </a:gridCol>
                <a:gridCol w="1131693">
                  <a:extLst>
                    <a:ext uri="{9D8B030D-6E8A-4147-A177-3AD203B41FA5}">
                      <a16:colId xmlns:a16="http://schemas.microsoft.com/office/drawing/2014/main" val="1890354973"/>
                    </a:ext>
                  </a:extLst>
                </a:gridCol>
                <a:gridCol w="1236681">
                  <a:extLst>
                    <a:ext uri="{9D8B030D-6E8A-4147-A177-3AD203B41FA5}">
                      <a16:colId xmlns:a16="http://schemas.microsoft.com/office/drawing/2014/main" val="1832818865"/>
                    </a:ext>
                  </a:extLst>
                </a:gridCol>
                <a:gridCol w="1531503">
                  <a:extLst>
                    <a:ext uri="{9D8B030D-6E8A-4147-A177-3AD203B41FA5}">
                      <a16:colId xmlns:a16="http://schemas.microsoft.com/office/drawing/2014/main" val="3359226510"/>
                    </a:ext>
                  </a:extLst>
                </a:gridCol>
                <a:gridCol w="773723">
                  <a:extLst>
                    <a:ext uri="{9D8B030D-6E8A-4147-A177-3AD203B41FA5}">
                      <a16:colId xmlns:a16="http://schemas.microsoft.com/office/drawing/2014/main" val="2765981335"/>
                    </a:ext>
                  </a:extLst>
                </a:gridCol>
                <a:gridCol w="738166">
                  <a:extLst>
                    <a:ext uri="{9D8B030D-6E8A-4147-A177-3AD203B41FA5}">
                      <a16:colId xmlns:a16="http://schemas.microsoft.com/office/drawing/2014/main" val="1894358556"/>
                    </a:ext>
                  </a:extLst>
                </a:gridCol>
                <a:gridCol w="1560343">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410973">
                <a:tc>
                  <a:txBody>
                    <a:bodyPr/>
                    <a:lstStyle/>
                    <a:p>
                      <a:pPr algn="ctr"/>
                      <a:r>
                        <a:rPr lang="en-US" sz="1600">
                          <a:latin typeface="David" panose="020E0502060401010101" pitchFamily="34" charset="-79"/>
                          <a:cs typeface="David" panose="020E0502060401010101" pitchFamily="34" charset="-79"/>
                        </a:rPr>
                        <a:t>order_item_id</a:t>
                      </a:r>
                    </a:p>
                  </a:txBody>
                  <a:tcPr anchor="ctr"/>
                </a:tc>
                <a:tc>
                  <a:txBody>
                    <a:bodyPr/>
                    <a:lstStyle/>
                    <a:p>
                      <a:pPr algn="ctr"/>
                      <a:r>
                        <a:rPr lang="he-IL" sz="1600" dirty="0">
                          <a:latin typeface="David" panose="020E0502060401010101" pitchFamily="34" charset="-79"/>
                          <a:cs typeface="David" panose="020E0502060401010101" pitchFamily="34" charset="-79"/>
                        </a:rPr>
                        <a:t>קוד פריט</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442717">
                <a:tc>
                  <a:txBody>
                    <a:bodyPr/>
                    <a:lstStyle/>
                    <a:p>
                      <a:pPr algn="ctr"/>
                      <a:r>
                        <a:rPr lang="en-US" sz="1600">
                          <a:latin typeface="David" panose="020E0502060401010101" pitchFamily="34" charset="-79"/>
                          <a:cs typeface="David" panose="020E0502060401010101" pitchFamily="34" charset="-79"/>
                        </a:rPr>
                        <a:t>oi_order_id</a:t>
                      </a:r>
                    </a:p>
                  </a:txBody>
                  <a:tcPr anchor="ctr"/>
                </a:tc>
                <a:tc>
                  <a:txBody>
                    <a:bodyPr/>
                    <a:lstStyle/>
                    <a:p>
                      <a:pPr algn="ctr"/>
                      <a:r>
                        <a:rPr lang="he-IL" sz="1600">
                          <a:latin typeface="David" panose="020E0502060401010101" pitchFamily="34" charset="-79"/>
                          <a:cs typeface="David" panose="020E0502060401010101" pitchFamily="34" charset="-79"/>
                        </a:rPr>
                        <a:t>קוד הזמנה</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Orders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375138">
                <a:tc>
                  <a:txBody>
                    <a:bodyPr/>
                    <a:lstStyle/>
                    <a:p>
                      <a:pPr algn="ctr"/>
                      <a:r>
                        <a:rPr lang="en-US" sz="1600">
                          <a:latin typeface="David" panose="020E0502060401010101" pitchFamily="34" charset="-79"/>
                          <a:cs typeface="David" panose="020E0502060401010101" pitchFamily="34" charset="-79"/>
                        </a:rPr>
                        <a:t>oi_profession_id</a:t>
                      </a:r>
                    </a:p>
                  </a:txBody>
                  <a:tcPr anchor="ctr"/>
                </a:tc>
                <a:tc>
                  <a:txBody>
                    <a:bodyPr/>
                    <a:lstStyle/>
                    <a:p>
                      <a:pPr algn="ctr"/>
                      <a:r>
                        <a:rPr lang="he-IL" sz="1600">
                          <a:latin typeface="David" panose="020E0502060401010101" pitchFamily="34" charset="-79"/>
                          <a:cs typeface="David" panose="020E0502060401010101" pitchFamily="34" charset="-79"/>
                        </a:rPr>
                        <a:t>קוד מקצוע</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Professions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bl>
          </a:graphicData>
        </a:graphic>
      </p:graphicFrame>
    </p:spTree>
    <p:extLst>
      <p:ext uri="{BB962C8B-B14F-4D97-AF65-F5344CB8AC3E}">
        <p14:creationId xmlns:p14="http://schemas.microsoft.com/office/powerpoint/2010/main" val="3243673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8323385" y="1541227"/>
            <a:ext cx="3245336"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6584046" y="1550639"/>
            <a:ext cx="4914333"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-Volunteers </a:t>
            </a:r>
            <a:r>
              <a:rPr lang="he-IL" sz="2400" b="1" dirty="0">
                <a:latin typeface="David" panose="020E0502060401010101" pitchFamily="34" charset="-79"/>
                <a:cs typeface="David" panose="020E0502060401010101" pitchFamily="34" charset="-79"/>
              </a:rPr>
              <a:t>מתנדבים</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14</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3520716489"/>
              </p:ext>
            </p:extLst>
          </p:nvPr>
        </p:nvGraphicFramePr>
        <p:xfrm>
          <a:off x="1820199" y="2359215"/>
          <a:ext cx="9748519" cy="2027391"/>
        </p:xfrm>
        <a:graphic>
          <a:graphicData uri="http://schemas.openxmlformats.org/drawingml/2006/table">
            <a:tbl>
              <a:tblPr rtl="1" firstRow="1" bandRow="1">
                <a:tableStyleId>{21E4AEA4-8DFA-4A89-87EB-49C32662AFE0}</a:tableStyleId>
              </a:tblPr>
              <a:tblGrid>
                <a:gridCol w="1447795">
                  <a:extLst>
                    <a:ext uri="{9D8B030D-6E8A-4147-A177-3AD203B41FA5}">
                      <a16:colId xmlns:a16="http://schemas.microsoft.com/office/drawing/2014/main" val="2871101326"/>
                    </a:ext>
                  </a:extLst>
                </a:gridCol>
                <a:gridCol w="1320800">
                  <a:extLst>
                    <a:ext uri="{9D8B030D-6E8A-4147-A177-3AD203B41FA5}">
                      <a16:colId xmlns:a16="http://schemas.microsoft.com/office/drawing/2014/main" val="1281013793"/>
                    </a:ext>
                  </a:extLst>
                </a:gridCol>
                <a:gridCol w="1500554">
                  <a:extLst>
                    <a:ext uri="{9D8B030D-6E8A-4147-A177-3AD203B41FA5}">
                      <a16:colId xmlns:a16="http://schemas.microsoft.com/office/drawing/2014/main" val="1890354973"/>
                    </a:ext>
                  </a:extLst>
                </a:gridCol>
                <a:gridCol w="1336431">
                  <a:extLst>
                    <a:ext uri="{9D8B030D-6E8A-4147-A177-3AD203B41FA5}">
                      <a16:colId xmlns:a16="http://schemas.microsoft.com/office/drawing/2014/main" val="1832818865"/>
                    </a:ext>
                  </a:extLst>
                </a:gridCol>
                <a:gridCol w="1086338">
                  <a:extLst>
                    <a:ext uri="{9D8B030D-6E8A-4147-A177-3AD203B41FA5}">
                      <a16:colId xmlns:a16="http://schemas.microsoft.com/office/drawing/2014/main" val="3359226510"/>
                    </a:ext>
                  </a:extLst>
                </a:gridCol>
                <a:gridCol w="883138">
                  <a:extLst>
                    <a:ext uri="{9D8B030D-6E8A-4147-A177-3AD203B41FA5}">
                      <a16:colId xmlns:a16="http://schemas.microsoft.com/office/drawing/2014/main" val="2765981335"/>
                    </a:ext>
                  </a:extLst>
                </a:gridCol>
                <a:gridCol w="844062">
                  <a:extLst>
                    <a:ext uri="{9D8B030D-6E8A-4147-A177-3AD203B41FA5}">
                      <a16:colId xmlns:a16="http://schemas.microsoft.com/office/drawing/2014/main" val="1894358556"/>
                    </a:ext>
                  </a:extLst>
                </a:gridCol>
                <a:gridCol w="1329401">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dirty="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a:latin typeface="David" panose="020E0502060401010101" pitchFamily="34" charset="-79"/>
                          <a:cs typeface="David" panose="020E0502060401010101" pitchFamily="34" charset="-79"/>
                        </a:rPr>
                        <a:t>volunteer_id</a:t>
                      </a:r>
                    </a:p>
                  </a:txBody>
                  <a:tcPr anchor="ctr"/>
                </a:tc>
                <a:tc>
                  <a:txBody>
                    <a:bodyPr/>
                    <a:lstStyle/>
                    <a:p>
                      <a:pPr algn="ctr"/>
                      <a:r>
                        <a:rPr lang="he-IL" sz="1600" dirty="0">
                          <a:latin typeface="David" panose="020E0502060401010101" pitchFamily="34" charset="-79"/>
                          <a:cs typeface="David" panose="020E0502060401010101" pitchFamily="34" charset="-79"/>
                        </a:rPr>
                        <a:t>קוד מתנדב</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a:latin typeface="David" panose="020E0502060401010101" pitchFamily="34" charset="-79"/>
                          <a:cs typeface="David" panose="020E0502060401010101" pitchFamily="34" charset="-79"/>
                        </a:rPr>
                        <a:t>v_first_name</a:t>
                      </a:r>
                    </a:p>
                  </a:txBody>
                  <a:tcPr anchor="ctr"/>
                </a:tc>
                <a:tc>
                  <a:txBody>
                    <a:bodyPr/>
                    <a:lstStyle/>
                    <a:p>
                      <a:pPr algn="ctr"/>
                      <a:r>
                        <a:rPr lang="he-IL" sz="1600">
                          <a:latin typeface="David" panose="020E0502060401010101" pitchFamily="34" charset="-79"/>
                          <a:cs typeface="David" panose="020E0502060401010101" pitchFamily="34" charset="-79"/>
                        </a:rPr>
                        <a:t>שם פרטי</a:t>
                      </a:r>
                    </a:p>
                  </a:txBody>
                  <a:tcPr anchor="ctr"/>
                </a:tc>
                <a:tc>
                  <a:txBody>
                    <a:bodyPr/>
                    <a:lstStyle/>
                    <a:p>
                      <a:pPr algn="ctr"/>
                      <a:r>
                        <a:rPr lang="en-US" sz="1600" dirty="0">
                          <a:latin typeface="David" panose="020E0502060401010101" pitchFamily="34" charset="-79"/>
                          <a:cs typeface="David" panose="020E0502060401010101" pitchFamily="34" charset="-79"/>
                        </a:rPr>
                        <a:t>VARCHAR(25)</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1696808687"/>
                  </a:ext>
                </a:extLst>
              </a:tr>
              <a:tr h="502892">
                <a:tc>
                  <a:txBody>
                    <a:bodyPr/>
                    <a:lstStyle/>
                    <a:p>
                      <a:pPr algn="ctr"/>
                      <a:r>
                        <a:rPr lang="en-US" sz="1600">
                          <a:latin typeface="David" panose="020E0502060401010101" pitchFamily="34" charset="-79"/>
                          <a:cs typeface="David" panose="020E0502060401010101" pitchFamily="34" charset="-79"/>
                        </a:rPr>
                        <a:t>v_last_name</a:t>
                      </a:r>
                    </a:p>
                  </a:txBody>
                  <a:tcPr anchor="ctr"/>
                </a:tc>
                <a:tc>
                  <a:txBody>
                    <a:bodyPr/>
                    <a:lstStyle/>
                    <a:p>
                      <a:pPr algn="ctr"/>
                      <a:r>
                        <a:rPr lang="he-IL" sz="1600">
                          <a:latin typeface="David" panose="020E0502060401010101" pitchFamily="34" charset="-79"/>
                          <a:cs typeface="David" panose="020E0502060401010101" pitchFamily="34" charset="-79"/>
                        </a:rPr>
                        <a:t>שם משפחה</a:t>
                      </a:r>
                    </a:p>
                  </a:txBody>
                  <a:tcPr anchor="ctr"/>
                </a:tc>
                <a:tc>
                  <a:txBody>
                    <a:bodyPr/>
                    <a:lstStyle/>
                    <a:p>
                      <a:pPr algn="ctr"/>
                      <a:r>
                        <a:rPr lang="en-US" sz="1600">
                          <a:latin typeface="David" panose="020E0502060401010101" pitchFamily="34" charset="-79"/>
                          <a:cs typeface="David" panose="020E0502060401010101" pitchFamily="34" charset="-79"/>
                        </a:rPr>
                        <a:t>VARCHAR(25)</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351047">
                <a:tc>
                  <a:txBody>
                    <a:bodyPr/>
                    <a:lstStyle/>
                    <a:p>
                      <a:pPr algn="ctr"/>
                      <a:r>
                        <a:rPr lang="en-US" sz="1600" dirty="0" err="1">
                          <a:latin typeface="David" panose="020E0502060401010101" pitchFamily="34" charset="-79"/>
                          <a:cs typeface="David" panose="020E0502060401010101" pitchFamily="34" charset="-79"/>
                        </a:rPr>
                        <a:t>v_age</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גיל</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מינימום גיל 16</a:t>
                      </a:r>
                    </a:p>
                  </a:txBody>
                  <a:tcPr anchor="ctr"/>
                </a:tc>
                <a:extLst>
                  <a:ext uri="{0D108BD9-81ED-4DB2-BD59-A6C34878D82A}">
                    <a16:rowId xmlns:a16="http://schemas.microsoft.com/office/drawing/2014/main" val="2778192598"/>
                  </a:ext>
                </a:extLst>
              </a:tr>
            </a:tbl>
          </a:graphicData>
        </a:graphic>
      </p:graphicFrame>
    </p:spTree>
    <p:extLst>
      <p:ext uri="{BB962C8B-B14F-4D97-AF65-F5344CB8AC3E}">
        <p14:creationId xmlns:p14="http://schemas.microsoft.com/office/powerpoint/2010/main" val="2971409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חץ: מחומש 6">
            <a:extLst>
              <a:ext uri="{FF2B5EF4-FFF2-40B4-BE49-F238E27FC236}">
                <a16:creationId xmlns:a16="http://schemas.microsoft.com/office/drawing/2014/main" id="{D7C5ED62-B7FB-4A98-A013-2EB1B98283BA}"/>
              </a:ext>
            </a:extLst>
          </p:cNvPr>
          <p:cNvSpPr/>
          <p:nvPr/>
        </p:nvSpPr>
        <p:spPr>
          <a:xfrm flipH="1">
            <a:off x="7377722" y="1551406"/>
            <a:ext cx="4190997" cy="461665"/>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78EF0750-3BF6-4384-8292-4CD96AE477FF}"/>
              </a:ext>
            </a:extLst>
          </p:cNvPr>
          <p:cNvSpPr txBox="1"/>
          <p:nvPr/>
        </p:nvSpPr>
        <p:spPr>
          <a:xfrm>
            <a:off x="7604370" y="1569287"/>
            <a:ext cx="4073767" cy="461665"/>
          </a:xfrm>
          <a:prstGeom prst="rect">
            <a:avLst/>
          </a:prstGeom>
          <a:noFill/>
        </p:spPr>
        <p:txBody>
          <a:bodyPr wrap="square" rtlCol="1">
            <a:spAutoFit/>
          </a:bodyPr>
          <a:lstStyle/>
          <a:p>
            <a:r>
              <a:rPr lang="en-US" sz="2400" b="1" dirty="0">
                <a:latin typeface="David" panose="020E0502060401010101" pitchFamily="34" charset="-79"/>
                <a:cs typeface="David" panose="020E0502060401010101" pitchFamily="34" charset="-79"/>
              </a:rPr>
              <a:t>Volunteering </a:t>
            </a:r>
            <a:r>
              <a:rPr lang="he-IL" sz="2400" b="1" dirty="0">
                <a:latin typeface="David" panose="020E0502060401010101" pitchFamily="34" charset="-79"/>
                <a:cs typeface="David" panose="020E0502060401010101" pitchFamily="34" charset="-79"/>
              </a:rPr>
              <a:t>-שיבוץ התנדבויות</a:t>
            </a:r>
          </a:p>
        </p:txBody>
      </p:sp>
      <p:sp>
        <p:nvSpPr>
          <p:cNvPr id="3" name="מציין מיקום של מספר שקופית 2">
            <a:extLst>
              <a:ext uri="{FF2B5EF4-FFF2-40B4-BE49-F238E27FC236}">
                <a16:creationId xmlns:a16="http://schemas.microsoft.com/office/drawing/2014/main" id="{BFDC8361-9FDC-4BFD-964F-127FC1F93CC2}"/>
              </a:ext>
            </a:extLst>
          </p:cNvPr>
          <p:cNvSpPr>
            <a:spLocks noGrp="1"/>
          </p:cNvSpPr>
          <p:nvPr>
            <p:ph type="sldNum" sz="quarter" idx="12"/>
          </p:nvPr>
        </p:nvSpPr>
        <p:spPr/>
        <p:txBody>
          <a:bodyPr/>
          <a:lstStyle/>
          <a:p>
            <a:fld id="{9D77A262-A0C6-4C11-A684-4A90AD65C1E2}" type="slidenum">
              <a:rPr lang="he-IL" smtClean="0"/>
              <a:t>15</a:t>
            </a:fld>
            <a:endParaRPr lang="he-IL"/>
          </a:p>
        </p:txBody>
      </p:sp>
      <p:graphicFrame>
        <p:nvGraphicFramePr>
          <p:cNvPr id="4" name="טבלה 5">
            <a:extLst>
              <a:ext uri="{FF2B5EF4-FFF2-40B4-BE49-F238E27FC236}">
                <a16:creationId xmlns:a16="http://schemas.microsoft.com/office/drawing/2014/main" id="{AD7F1F1A-8966-46D8-817F-B212F7087414}"/>
              </a:ext>
            </a:extLst>
          </p:cNvPr>
          <p:cNvGraphicFramePr>
            <a:graphicFrameLocks noGrp="1"/>
          </p:cNvGraphicFramePr>
          <p:nvPr>
            <p:extLst>
              <p:ext uri="{D42A27DB-BD31-4B8C-83A1-F6EECF244321}">
                <p14:modId xmlns:p14="http://schemas.microsoft.com/office/powerpoint/2010/main" val="1553656250"/>
              </p:ext>
            </p:extLst>
          </p:nvPr>
        </p:nvGraphicFramePr>
        <p:xfrm>
          <a:off x="523628" y="2585863"/>
          <a:ext cx="11045091" cy="2606511"/>
        </p:xfrm>
        <a:graphic>
          <a:graphicData uri="http://schemas.openxmlformats.org/drawingml/2006/table">
            <a:tbl>
              <a:tblPr rtl="1" firstRow="1" bandRow="1">
                <a:tableStyleId>{21E4AEA4-8DFA-4A89-87EB-49C32662AFE0}</a:tableStyleId>
              </a:tblPr>
              <a:tblGrid>
                <a:gridCol w="1635368">
                  <a:extLst>
                    <a:ext uri="{9D8B030D-6E8A-4147-A177-3AD203B41FA5}">
                      <a16:colId xmlns:a16="http://schemas.microsoft.com/office/drawing/2014/main" val="2871101326"/>
                    </a:ext>
                  </a:extLst>
                </a:gridCol>
                <a:gridCol w="1055077">
                  <a:extLst>
                    <a:ext uri="{9D8B030D-6E8A-4147-A177-3AD203B41FA5}">
                      <a16:colId xmlns:a16="http://schemas.microsoft.com/office/drawing/2014/main" val="1281013793"/>
                    </a:ext>
                  </a:extLst>
                </a:gridCol>
                <a:gridCol w="1570892">
                  <a:extLst>
                    <a:ext uri="{9D8B030D-6E8A-4147-A177-3AD203B41FA5}">
                      <a16:colId xmlns:a16="http://schemas.microsoft.com/office/drawing/2014/main" val="1890354973"/>
                    </a:ext>
                  </a:extLst>
                </a:gridCol>
                <a:gridCol w="1320800">
                  <a:extLst>
                    <a:ext uri="{9D8B030D-6E8A-4147-A177-3AD203B41FA5}">
                      <a16:colId xmlns:a16="http://schemas.microsoft.com/office/drawing/2014/main" val="1832818865"/>
                    </a:ext>
                  </a:extLst>
                </a:gridCol>
                <a:gridCol w="1531815">
                  <a:extLst>
                    <a:ext uri="{9D8B030D-6E8A-4147-A177-3AD203B41FA5}">
                      <a16:colId xmlns:a16="http://schemas.microsoft.com/office/drawing/2014/main" val="3359226510"/>
                    </a:ext>
                  </a:extLst>
                </a:gridCol>
                <a:gridCol w="734647">
                  <a:extLst>
                    <a:ext uri="{9D8B030D-6E8A-4147-A177-3AD203B41FA5}">
                      <a16:colId xmlns:a16="http://schemas.microsoft.com/office/drawing/2014/main" val="2765981335"/>
                    </a:ext>
                  </a:extLst>
                </a:gridCol>
                <a:gridCol w="750276">
                  <a:extLst>
                    <a:ext uri="{9D8B030D-6E8A-4147-A177-3AD203B41FA5}">
                      <a16:colId xmlns:a16="http://schemas.microsoft.com/office/drawing/2014/main" val="1894358556"/>
                    </a:ext>
                  </a:extLst>
                </a:gridCol>
                <a:gridCol w="2446216">
                  <a:extLst>
                    <a:ext uri="{9D8B030D-6E8A-4147-A177-3AD203B41FA5}">
                      <a16:colId xmlns:a16="http://schemas.microsoft.com/office/drawing/2014/main" val="4151655796"/>
                    </a:ext>
                  </a:extLst>
                </a:gridCol>
              </a:tblGrid>
              <a:tr h="291148">
                <a:tc>
                  <a:txBody>
                    <a:bodyPr/>
                    <a:lstStyle/>
                    <a:p>
                      <a:pPr algn="ctr"/>
                      <a:r>
                        <a:rPr lang="he-IL" sz="1600" dirty="0">
                          <a:latin typeface="David" panose="020E0502060401010101" pitchFamily="34" charset="-79"/>
                          <a:cs typeface="David" panose="020E0502060401010101" pitchFamily="34" charset="-79"/>
                        </a:rPr>
                        <a:t>שם שדה</a:t>
                      </a:r>
                    </a:p>
                  </a:txBody>
                  <a:tcPr anchor="ctr"/>
                </a:tc>
                <a:tc>
                  <a:txBody>
                    <a:bodyPr/>
                    <a:lstStyle/>
                    <a:p>
                      <a:pPr algn="ctr"/>
                      <a:r>
                        <a:rPr lang="he-IL" sz="1600">
                          <a:latin typeface="David" panose="020E0502060401010101" pitchFamily="34" charset="-79"/>
                          <a:cs typeface="David" panose="020E0502060401010101" pitchFamily="34" charset="-79"/>
                        </a:rPr>
                        <a:t>תרגום</a:t>
                      </a:r>
                    </a:p>
                  </a:txBody>
                  <a:tcPr anchor="ctr"/>
                </a:tc>
                <a:tc>
                  <a:txBody>
                    <a:bodyPr/>
                    <a:lstStyle/>
                    <a:p>
                      <a:pPr algn="ctr"/>
                      <a:r>
                        <a:rPr lang="he-IL" sz="1600">
                          <a:latin typeface="David" panose="020E0502060401010101" pitchFamily="34" charset="-79"/>
                          <a:cs typeface="David" panose="020E0502060401010101" pitchFamily="34" charset="-79"/>
                        </a:rPr>
                        <a:t>סוג טיפוס</a:t>
                      </a:r>
                    </a:p>
                  </a:txBody>
                  <a:tcPr anchor="ctr"/>
                </a:tc>
                <a:tc>
                  <a:txBody>
                    <a:bodyPr/>
                    <a:lstStyle/>
                    <a:p>
                      <a:pPr algn="ctr"/>
                      <a:r>
                        <a:rPr lang="he-IL" sz="1600">
                          <a:latin typeface="David" panose="020E0502060401010101" pitchFamily="34" charset="-79"/>
                          <a:cs typeface="David" panose="020E0502060401010101" pitchFamily="34" charset="-79"/>
                        </a:rPr>
                        <a:t>מפתח ראשי</a:t>
                      </a:r>
                    </a:p>
                  </a:txBody>
                  <a:tcPr anchor="ctr"/>
                </a:tc>
                <a:tc>
                  <a:txBody>
                    <a:bodyPr/>
                    <a:lstStyle/>
                    <a:p>
                      <a:pPr algn="ctr"/>
                      <a:r>
                        <a:rPr lang="he-IL" sz="1600">
                          <a:latin typeface="David" panose="020E0502060401010101" pitchFamily="34" charset="-79"/>
                          <a:cs typeface="David" panose="020E0502060401010101" pitchFamily="34" charset="-79"/>
                        </a:rPr>
                        <a:t>מפתח זר</a:t>
                      </a:r>
                    </a:p>
                  </a:txBody>
                  <a:tcPr anchor="ctr"/>
                </a:tc>
                <a:tc>
                  <a:txBody>
                    <a:bodyPr/>
                    <a:lstStyle/>
                    <a:p>
                      <a:pPr algn="ctr"/>
                      <a:r>
                        <a:rPr lang="he-IL" sz="1600">
                          <a:latin typeface="David" panose="020E0502060401010101" pitchFamily="34" charset="-79"/>
                          <a:cs typeface="David" panose="020E0502060401010101" pitchFamily="34" charset="-79"/>
                        </a:rPr>
                        <a:t>חובה</a:t>
                      </a:r>
                    </a:p>
                  </a:txBody>
                  <a:tcPr anchor="ctr"/>
                </a:tc>
                <a:tc>
                  <a:txBody>
                    <a:bodyPr/>
                    <a:lstStyle/>
                    <a:p>
                      <a:pPr algn="ctr"/>
                      <a:r>
                        <a:rPr lang="he-IL" sz="1600">
                          <a:latin typeface="David" panose="020E0502060401010101" pitchFamily="34" charset="-79"/>
                          <a:cs typeface="David" panose="020E0502060401010101" pitchFamily="34" charset="-79"/>
                        </a:rPr>
                        <a:t>ייחודי</a:t>
                      </a:r>
                    </a:p>
                  </a:txBody>
                  <a:tcPr anchor="ctr"/>
                </a:tc>
                <a:tc>
                  <a:txBody>
                    <a:bodyPr/>
                    <a:lstStyle/>
                    <a:p>
                      <a:pPr algn="ctr"/>
                      <a:r>
                        <a:rPr lang="he-IL" sz="1600">
                          <a:latin typeface="David" panose="020E0502060401010101" pitchFamily="34" charset="-79"/>
                          <a:cs typeface="David" panose="020E0502060401010101" pitchFamily="34" charset="-79"/>
                        </a:rPr>
                        <a:t>הערה</a:t>
                      </a:r>
                    </a:p>
                  </a:txBody>
                  <a:tcPr anchor="ctr"/>
                </a:tc>
                <a:extLst>
                  <a:ext uri="{0D108BD9-81ED-4DB2-BD59-A6C34878D82A}">
                    <a16:rowId xmlns:a16="http://schemas.microsoft.com/office/drawing/2014/main" val="2833434017"/>
                  </a:ext>
                </a:extLst>
              </a:tr>
              <a:tr h="291148">
                <a:tc>
                  <a:txBody>
                    <a:bodyPr/>
                    <a:lstStyle/>
                    <a:p>
                      <a:pPr algn="ctr"/>
                      <a:r>
                        <a:rPr lang="en-US" sz="1600">
                          <a:latin typeface="David" panose="020E0502060401010101" pitchFamily="34" charset="-79"/>
                          <a:cs typeface="David" panose="020E0502060401010101" pitchFamily="34" charset="-79"/>
                        </a:rPr>
                        <a:t>volunteering_id</a:t>
                      </a:r>
                    </a:p>
                  </a:txBody>
                  <a:tcPr anchor="ctr"/>
                </a:tc>
                <a:tc>
                  <a:txBody>
                    <a:bodyPr/>
                    <a:lstStyle/>
                    <a:p>
                      <a:pPr algn="ctr"/>
                      <a:r>
                        <a:rPr lang="he-IL" sz="1600" dirty="0">
                          <a:latin typeface="David" panose="020E0502060401010101" pitchFamily="34" charset="-79"/>
                          <a:cs typeface="David" panose="020E0502060401010101" pitchFamily="34" charset="-79"/>
                        </a:rPr>
                        <a:t>קוד שיבוץ</a:t>
                      </a:r>
                    </a:p>
                  </a:txBody>
                  <a:tcPr anchor="ctr"/>
                </a:tc>
                <a:tc>
                  <a:txBody>
                    <a:bodyPr/>
                    <a:lstStyle/>
                    <a:p>
                      <a:pPr algn="ctr"/>
                      <a:r>
                        <a:rPr lang="en-US" sz="1600" dirty="0">
                          <a:latin typeface="David" panose="020E0502060401010101" pitchFamily="34" charset="-79"/>
                          <a:cs typeface="David" panose="020E0502060401010101" pitchFamily="34" charset="-79"/>
                        </a:rPr>
                        <a:t>INT</a:t>
                      </a: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קוד אוטומטי</a:t>
                      </a:r>
                    </a:p>
                  </a:txBody>
                  <a:tcPr anchor="ctr"/>
                </a:tc>
                <a:extLst>
                  <a:ext uri="{0D108BD9-81ED-4DB2-BD59-A6C34878D82A}">
                    <a16:rowId xmlns:a16="http://schemas.microsoft.com/office/drawing/2014/main" val="1912075820"/>
                  </a:ext>
                </a:extLst>
              </a:tr>
              <a:tr h="502892">
                <a:tc>
                  <a:txBody>
                    <a:bodyPr/>
                    <a:lstStyle/>
                    <a:p>
                      <a:pPr algn="ctr"/>
                      <a:r>
                        <a:rPr lang="en-US" sz="1600">
                          <a:latin typeface="David" panose="020E0502060401010101" pitchFamily="34" charset="-79"/>
                          <a:cs typeface="David" panose="020E0502060401010101" pitchFamily="34" charset="-79"/>
                        </a:rPr>
                        <a:t>v_volunteer_id</a:t>
                      </a:r>
                    </a:p>
                  </a:txBody>
                  <a:tcPr anchor="ctr"/>
                </a:tc>
                <a:tc>
                  <a:txBody>
                    <a:bodyPr/>
                    <a:lstStyle/>
                    <a:p>
                      <a:pPr algn="ctr"/>
                      <a:r>
                        <a:rPr lang="he-IL" sz="1600">
                          <a:latin typeface="David" panose="020E0502060401010101" pitchFamily="34" charset="-79"/>
                          <a:cs typeface="David" panose="020E0502060401010101" pitchFamily="34" charset="-79"/>
                        </a:rPr>
                        <a:t>קוד מתנדב</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Volunteers</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אינדקס ייחודי עם תאריך</a:t>
                      </a:r>
                    </a:p>
                  </a:txBody>
                  <a:tcPr anchor="ctr"/>
                </a:tc>
                <a:extLst>
                  <a:ext uri="{0D108BD9-81ED-4DB2-BD59-A6C34878D82A}">
                    <a16:rowId xmlns:a16="http://schemas.microsoft.com/office/drawing/2014/main" val="1696808687"/>
                  </a:ext>
                </a:extLst>
              </a:tr>
              <a:tr h="502892">
                <a:tc>
                  <a:txBody>
                    <a:bodyPr/>
                    <a:lstStyle/>
                    <a:p>
                      <a:pPr algn="ctr"/>
                      <a:r>
                        <a:rPr lang="en-US" sz="1600">
                          <a:latin typeface="David" panose="020E0502060401010101" pitchFamily="34" charset="-79"/>
                          <a:cs typeface="David" panose="020E0502060401010101" pitchFamily="34" charset="-79"/>
                        </a:rPr>
                        <a:t>v_student_id</a:t>
                      </a:r>
                    </a:p>
                  </a:txBody>
                  <a:tcPr anchor="ctr"/>
                </a:tc>
                <a:tc>
                  <a:txBody>
                    <a:bodyPr/>
                    <a:lstStyle/>
                    <a:p>
                      <a:pPr algn="ctr"/>
                      <a:r>
                        <a:rPr lang="he-IL" sz="1600">
                          <a:latin typeface="David" panose="020E0502060401010101" pitchFamily="34" charset="-79"/>
                          <a:cs typeface="David" panose="020E0502060401010101" pitchFamily="34" charset="-79"/>
                        </a:rPr>
                        <a:t>קוד תלמיד</a:t>
                      </a:r>
                    </a:p>
                  </a:txBody>
                  <a:tcPr anchor="ctr"/>
                </a:tc>
                <a:tc>
                  <a:txBody>
                    <a:bodyPr/>
                    <a:lstStyle/>
                    <a:p>
                      <a:pPr algn="ctr"/>
                      <a:r>
                        <a:rPr lang="en-US" sz="1600">
                          <a:latin typeface="David" panose="020E0502060401010101" pitchFamily="34" charset="-79"/>
                          <a:cs typeface="David" panose="020E0502060401010101" pitchFamily="34" charset="-79"/>
                        </a:rPr>
                        <a:t>INT</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Students</a:t>
                      </a: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extLst>
                  <a:ext uri="{0D108BD9-81ED-4DB2-BD59-A6C34878D82A}">
                    <a16:rowId xmlns:a16="http://schemas.microsoft.com/office/drawing/2014/main" val="3912822942"/>
                  </a:ext>
                </a:extLst>
              </a:tr>
              <a:tr h="351047">
                <a:tc>
                  <a:txBody>
                    <a:bodyPr/>
                    <a:lstStyle/>
                    <a:p>
                      <a:pPr algn="ctr"/>
                      <a:r>
                        <a:rPr lang="en-US" sz="1600">
                          <a:latin typeface="David" panose="020E0502060401010101" pitchFamily="34" charset="-79"/>
                          <a:cs typeface="David" panose="020E0502060401010101" pitchFamily="34" charset="-79"/>
                        </a:rPr>
                        <a:t>v_volunteer_date</a:t>
                      </a:r>
                    </a:p>
                  </a:txBody>
                  <a:tcPr anchor="ctr"/>
                </a:tc>
                <a:tc>
                  <a:txBody>
                    <a:bodyPr/>
                    <a:lstStyle/>
                    <a:p>
                      <a:pPr algn="ctr"/>
                      <a:r>
                        <a:rPr lang="he-IL" sz="1600">
                          <a:latin typeface="David" panose="020E0502060401010101" pitchFamily="34" charset="-79"/>
                          <a:cs typeface="David" panose="020E0502060401010101" pitchFamily="34" charset="-79"/>
                        </a:rPr>
                        <a:t>תאריך התנדבות</a:t>
                      </a:r>
                    </a:p>
                  </a:txBody>
                  <a:tcPr anchor="ctr"/>
                </a:tc>
                <a:tc>
                  <a:txBody>
                    <a:bodyPr/>
                    <a:lstStyle/>
                    <a:p>
                      <a:pPr algn="ctr"/>
                      <a:r>
                        <a:rPr lang="en-US" sz="1600">
                          <a:latin typeface="David" panose="020E0502060401010101" pitchFamily="34" charset="-79"/>
                          <a:cs typeface="David" panose="020E0502060401010101" pitchFamily="34" charset="-79"/>
                        </a:rPr>
                        <a:t>DATE</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en-US" sz="1600" dirty="0">
                          <a:latin typeface="David" panose="020E0502060401010101" pitchFamily="34" charset="-79"/>
                          <a:cs typeface="David" panose="020E0502060401010101" pitchFamily="34" charset="-79"/>
                        </a:rPr>
                        <a:t>V</a:t>
                      </a: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r>
                        <a:rPr lang="he-IL" sz="1600">
                          <a:latin typeface="David" panose="020E0502060401010101" pitchFamily="34" charset="-79"/>
                          <a:cs typeface="David" panose="020E0502060401010101" pitchFamily="34" charset="-79"/>
                        </a:rPr>
                        <a:t>אינדקס ייחודי עם קוד מתנדב</a:t>
                      </a:r>
                    </a:p>
                  </a:txBody>
                  <a:tcPr anchor="ctr"/>
                </a:tc>
                <a:extLst>
                  <a:ext uri="{0D108BD9-81ED-4DB2-BD59-A6C34878D82A}">
                    <a16:rowId xmlns:a16="http://schemas.microsoft.com/office/drawing/2014/main" val="2778192598"/>
                  </a:ext>
                </a:extLst>
              </a:tr>
              <a:tr h="351047">
                <a:tc>
                  <a:txBody>
                    <a:bodyPr/>
                    <a:lstStyle/>
                    <a:p>
                      <a:pPr algn="ctr"/>
                      <a:r>
                        <a:rPr lang="en-US" sz="1600">
                          <a:latin typeface="David" panose="020E0502060401010101" pitchFamily="34" charset="-79"/>
                          <a:cs typeface="David" panose="020E0502060401010101" pitchFamily="34" charset="-79"/>
                        </a:rPr>
                        <a:t>v_status</a:t>
                      </a:r>
                    </a:p>
                  </a:txBody>
                  <a:tcPr anchor="ctr"/>
                </a:tc>
                <a:tc>
                  <a:txBody>
                    <a:bodyPr/>
                    <a:lstStyle/>
                    <a:p>
                      <a:pPr algn="ctr"/>
                      <a:r>
                        <a:rPr lang="he-IL" sz="1600">
                          <a:latin typeface="David" panose="020E0502060401010101" pitchFamily="34" charset="-79"/>
                          <a:cs typeface="David" panose="020E0502060401010101" pitchFamily="34" charset="-79"/>
                        </a:rPr>
                        <a:t>סטטוס</a:t>
                      </a:r>
                    </a:p>
                  </a:txBody>
                  <a:tcPr anchor="ctr"/>
                </a:tc>
                <a:tc>
                  <a:txBody>
                    <a:bodyPr/>
                    <a:lstStyle/>
                    <a:p>
                      <a:pPr algn="ctr"/>
                      <a:r>
                        <a:rPr lang="en-US" sz="1600">
                          <a:latin typeface="David" panose="020E0502060401010101" pitchFamily="34" charset="-79"/>
                          <a:cs typeface="David" panose="020E0502060401010101" pitchFamily="34" charset="-79"/>
                        </a:rPr>
                        <a:t>VARCHAR(20)</a:t>
                      </a: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endParaRPr lang="he-IL"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ברירת מחדל: </a:t>
                      </a:r>
                      <a:r>
                        <a:rPr lang="en-US" sz="1600" dirty="0">
                          <a:latin typeface="David" panose="020E0502060401010101" pitchFamily="34" charset="-79"/>
                          <a:cs typeface="David" panose="020E0502060401010101" pitchFamily="34" charset="-79"/>
                        </a:rPr>
                        <a:t>execute</a:t>
                      </a:r>
                    </a:p>
                  </a:txBody>
                  <a:tcPr anchor="ctr"/>
                </a:tc>
                <a:extLst>
                  <a:ext uri="{0D108BD9-81ED-4DB2-BD59-A6C34878D82A}">
                    <a16:rowId xmlns:a16="http://schemas.microsoft.com/office/drawing/2014/main" val="306544773"/>
                  </a:ext>
                </a:extLst>
              </a:tr>
            </a:tbl>
          </a:graphicData>
        </a:graphic>
      </p:graphicFrame>
    </p:spTree>
    <p:extLst>
      <p:ext uri="{BB962C8B-B14F-4D97-AF65-F5344CB8AC3E}">
        <p14:creationId xmlns:p14="http://schemas.microsoft.com/office/powerpoint/2010/main" val="3942481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חץ: מחומש 4">
            <a:extLst>
              <a:ext uri="{FF2B5EF4-FFF2-40B4-BE49-F238E27FC236}">
                <a16:creationId xmlns:a16="http://schemas.microsoft.com/office/drawing/2014/main" id="{A14E527F-7F19-42A8-A3C9-12BC66E78008}"/>
              </a:ext>
            </a:extLst>
          </p:cNvPr>
          <p:cNvSpPr/>
          <p:nvPr/>
        </p:nvSpPr>
        <p:spPr>
          <a:xfrm flipH="1">
            <a:off x="9488074" y="834025"/>
            <a:ext cx="1984910" cy="523220"/>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תיבת טקסט 3">
            <a:extLst>
              <a:ext uri="{FF2B5EF4-FFF2-40B4-BE49-F238E27FC236}">
                <a16:creationId xmlns:a16="http://schemas.microsoft.com/office/drawing/2014/main" id="{9A7DFAA8-3A25-4CBA-8032-8FC61E1547C9}"/>
              </a:ext>
            </a:extLst>
          </p:cNvPr>
          <p:cNvSpPr txBox="1"/>
          <p:nvPr/>
        </p:nvSpPr>
        <p:spPr>
          <a:xfrm>
            <a:off x="9729612" y="834025"/>
            <a:ext cx="1501833" cy="523220"/>
          </a:xfrm>
          <a:prstGeom prst="rect">
            <a:avLst/>
          </a:prstGeom>
          <a:noFill/>
        </p:spPr>
        <p:txBody>
          <a:bodyPr wrap="square" rtlCol="1">
            <a:spAutoFit/>
          </a:bodyPr>
          <a:lstStyle/>
          <a:p>
            <a:r>
              <a:rPr lang="he-IL" sz="2800" b="1" dirty="0">
                <a:latin typeface="David" panose="020E0502060401010101" pitchFamily="34" charset="-79"/>
                <a:cs typeface="David" panose="020E0502060401010101" pitchFamily="34" charset="-79"/>
              </a:rPr>
              <a:t>אילוצים:</a:t>
            </a:r>
          </a:p>
        </p:txBody>
      </p:sp>
      <p:sp>
        <p:nvSpPr>
          <p:cNvPr id="6" name="Rectangle 1">
            <a:extLst>
              <a:ext uri="{FF2B5EF4-FFF2-40B4-BE49-F238E27FC236}">
                <a16:creationId xmlns:a16="http://schemas.microsoft.com/office/drawing/2014/main" id="{4D0C745C-64C5-4EEA-B153-DD28E59C392A}"/>
              </a:ext>
            </a:extLst>
          </p:cNvPr>
          <p:cNvSpPr>
            <a:spLocks noChangeArrowheads="1"/>
          </p:cNvSpPr>
          <p:nvPr/>
        </p:nvSpPr>
        <p:spPr bwMode="auto">
          <a:xfrm>
            <a:off x="4884615" y="1694489"/>
            <a:ext cx="658836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he-IL" sz="1600" b="1" dirty="0">
                <a:latin typeface="David" panose="020E0502060401010101" pitchFamily="34" charset="-79"/>
                <a:cs typeface="David" panose="020E0502060401010101" pitchFamily="34" charset="-79"/>
              </a:rPr>
              <a:t>מפתח ראשי</a:t>
            </a:r>
            <a:r>
              <a:rPr lang="he-IL" sz="1600" dirty="0">
                <a:latin typeface="David" panose="020E0502060401010101" pitchFamily="34" charset="-79"/>
                <a:cs typeface="David" panose="020E0502060401010101" pitchFamily="34" charset="-79"/>
              </a:rPr>
              <a:t> </a:t>
            </a:r>
            <a:r>
              <a:rPr lang="he-IL" sz="1600" b="1" dirty="0">
                <a:latin typeface="David" panose="020E0502060401010101" pitchFamily="34" charset="-79"/>
                <a:cs typeface="David" panose="020E0502060401010101" pitchFamily="34" charset="-79"/>
              </a:rPr>
              <a:t>-</a:t>
            </a:r>
            <a:r>
              <a:rPr lang="he-IL" sz="1600" dirty="0">
                <a:latin typeface="David" panose="020E0502060401010101" pitchFamily="34" charset="-79"/>
                <a:cs typeface="David" panose="020E0502060401010101" pitchFamily="34" charset="-79"/>
              </a:rPr>
              <a:t> כל טבלה מכילה מזהה ייחודי אוטומטי המשמש לזיהוי כל רשומה.</a:t>
            </a:r>
          </a:p>
          <a:p>
            <a:pPr marL="342900" indent="-342900">
              <a:buFont typeface="+mj-lt"/>
              <a:buAutoNum type="arabicPeriod"/>
            </a:pPr>
            <a:r>
              <a:rPr lang="he-IL" sz="1600" b="1" dirty="0">
                <a:latin typeface="David" panose="020E0502060401010101" pitchFamily="34" charset="-79"/>
                <a:cs typeface="David" panose="020E0502060401010101" pitchFamily="34" charset="-79"/>
              </a:rPr>
              <a:t>מפתח זר</a:t>
            </a:r>
            <a:r>
              <a:rPr lang="he-IL" sz="1600" dirty="0">
                <a:latin typeface="David" panose="020E0502060401010101" pitchFamily="34" charset="-79"/>
                <a:cs typeface="David" panose="020E0502060401010101" pitchFamily="34" charset="-79"/>
              </a:rPr>
              <a:t> </a:t>
            </a:r>
            <a:r>
              <a:rPr lang="he-IL" sz="1600" b="1" dirty="0">
                <a:latin typeface="David" panose="020E0502060401010101" pitchFamily="34" charset="-79"/>
                <a:cs typeface="David" panose="020E0502060401010101" pitchFamily="34" charset="-79"/>
              </a:rPr>
              <a:t>-</a:t>
            </a:r>
            <a:r>
              <a:rPr lang="he-IL" sz="1600" dirty="0">
                <a:latin typeface="David" panose="020E0502060401010101" pitchFamily="34" charset="-79"/>
                <a:cs typeface="David" panose="020E0502060401010101" pitchFamily="34" charset="-79"/>
              </a:rPr>
              <a:t> קשרים בין הטבלאות מוגדרים באמצעות מפתחות זרים, המבטיחים שלא ניתן להכניס נתונים שאינם מתייחסים לרשומה קיימת בטבלה המקושרת.</a:t>
            </a:r>
          </a:p>
          <a:p>
            <a:pPr marL="342900" indent="-342900">
              <a:buFont typeface="+mj-lt"/>
              <a:buAutoNum type="arabicPeriod"/>
            </a:pPr>
            <a:r>
              <a:rPr lang="he-IL" sz="1600" b="1" dirty="0">
                <a:latin typeface="David" panose="020E0502060401010101" pitchFamily="34" charset="-79"/>
                <a:cs typeface="David" panose="020E0502060401010101" pitchFamily="34" charset="-79"/>
              </a:rPr>
              <a:t>ייחודיות</a:t>
            </a:r>
            <a:r>
              <a:rPr lang="he-IL" sz="1600" dirty="0">
                <a:latin typeface="David" panose="020E0502060401010101" pitchFamily="34" charset="-79"/>
                <a:cs typeface="David" panose="020E0502060401010101" pitchFamily="34" charset="-79"/>
              </a:rPr>
              <a:t> </a:t>
            </a:r>
            <a:r>
              <a:rPr lang="he-IL" sz="1600" b="1" dirty="0">
                <a:latin typeface="David" panose="020E0502060401010101" pitchFamily="34" charset="-79"/>
                <a:cs typeface="David" panose="020E0502060401010101" pitchFamily="34" charset="-79"/>
              </a:rPr>
              <a:t>-</a:t>
            </a:r>
            <a:r>
              <a:rPr lang="he-IL" sz="1600" dirty="0">
                <a:latin typeface="David" panose="020E0502060401010101" pitchFamily="34" charset="-79"/>
                <a:cs typeface="David" panose="020E0502060401010101" pitchFamily="34" charset="-79"/>
              </a:rPr>
              <a:t> שדות מסוימים מוגדרים כייחודיים, כגון כתובת האימייל ושם המקצוע, כדי למנוע כפילויות. בנוסף, קיים אינדקס ייחודי המונע שיבוץ מתנדב לשני תלמידים שונים באותו יום.</a:t>
            </a:r>
          </a:p>
          <a:p>
            <a:pPr marL="342900" indent="-342900">
              <a:buFont typeface="+mj-lt"/>
              <a:buAutoNum type="arabicPeriod"/>
            </a:pPr>
            <a:r>
              <a:rPr lang="he-IL" sz="1600" b="1" dirty="0">
                <a:latin typeface="David" panose="020E0502060401010101" pitchFamily="34" charset="-79"/>
                <a:cs typeface="David" panose="020E0502060401010101" pitchFamily="34" charset="-79"/>
              </a:rPr>
              <a:t>בדיקת תקינות</a:t>
            </a:r>
            <a:r>
              <a:rPr lang="en-US" sz="1600" b="1" dirty="0">
                <a:latin typeface="David" panose="020E0502060401010101" pitchFamily="34" charset="-79"/>
                <a:cs typeface="David" panose="020E0502060401010101" pitchFamily="34" charset="-79"/>
              </a:rPr>
              <a:t>(CHECK)</a:t>
            </a:r>
            <a:r>
              <a:rPr lang="en-US" sz="1600" dirty="0">
                <a:latin typeface="David" panose="020E0502060401010101" pitchFamily="34" charset="-79"/>
                <a:cs typeface="David" panose="020E0502060401010101" pitchFamily="34" charset="-79"/>
              </a:rPr>
              <a:t> </a:t>
            </a:r>
            <a:r>
              <a:rPr lang="he-IL" sz="1600" dirty="0">
                <a:latin typeface="David" panose="020E0502060401010101" pitchFamily="34" charset="-79"/>
                <a:cs typeface="David" panose="020E0502060401010101" pitchFamily="34" charset="-79"/>
              </a:rPr>
              <a:t> </a:t>
            </a:r>
            <a:r>
              <a:rPr lang="he-IL" sz="1600" b="1" dirty="0">
                <a:latin typeface="David" panose="020E0502060401010101" pitchFamily="34" charset="-79"/>
                <a:cs typeface="David" panose="020E0502060401010101" pitchFamily="34" charset="-79"/>
              </a:rPr>
              <a:t>-</a:t>
            </a:r>
            <a:r>
              <a:rPr lang="he-IL" sz="1600" dirty="0">
                <a:latin typeface="David" panose="020E0502060401010101" pitchFamily="34" charset="-79"/>
                <a:cs typeface="David" panose="020E0502060401010101" pitchFamily="34" charset="-79"/>
              </a:rPr>
              <a:t> גיל המתנדב חייב להיות 16 לפחות. סטטוס ההתקדמות מוגבל לשלושה ערכים בלבד. בנוסף, קיים אילוץ המוודא הגיון בין הציון לסטטוס - אם השיעור טרם התחיל הציון חייב להיות ריק, ואם השיעור בתהליך או הושלם חייב להיות ציון.</a:t>
            </a:r>
          </a:p>
          <a:p>
            <a:pPr marL="342900" indent="-342900">
              <a:buFont typeface="+mj-lt"/>
              <a:buAutoNum type="arabicPeriod"/>
            </a:pPr>
            <a:r>
              <a:rPr lang="he-IL" sz="1600" b="1" dirty="0">
                <a:latin typeface="David" panose="020E0502060401010101" pitchFamily="34" charset="-79"/>
                <a:cs typeface="David" panose="020E0502060401010101" pitchFamily="34" charset="-79"/>
              </a:rPr>
              <a:t>ברירות מחדל (</a:t>
            </a:r>
            <a:r>
              <a:rPr lang="en-US" sz="1600" b="1" dirty="0">
                <a:latin typeface="David" panose="020E0502060401010101" pitchFamily="34" charset="-79"/>
                <a:cs typeface="David" panose="020E0502060401010101" pitchFamily="34" charset="-79"/>
              </a:rPr>
              <a:t> - (DEFAULT</a:t>
            </a:r>
            <a:r>
              <a:rPr lang="he-IL" sz="1600" dirty="0">
                <a:latin typeface="David" panose="020E0502060401010101" pitchFamily="34" charset="-79"/>
                <a:cs typeface="David" panose="020E0502060401010101" pitchFamily="34" charset="-79"/>
              </a:rPr>
              <a:t>שדות מסוימים מקבלים ערך אוטומטי בעת הכנסת רשומה, כגון תאריך יצירה, סטטוס התנדבות וסימון רצון במתנדב.</a:t>
            </a:r>
          </a:p>
        </p:txBody>
      </p:sp>
      <p:sp>
        <p:nvSpPr>
          <p:cNvPr id="10" name="Rectangle 5">
            <a:extLst>
              <a:ext uri="{FF2B5EF4-FFF2-40B4-BE49-F238E27FC236}">
                <a16:creationId xmlns:a16="http://schemas.microsoft.com/office/drawing/2014/main" id="{6866C8E9-7B87-4D6B-B018-EC9590BF6E5B}"/>
              </a:ext>
            </a:extLst>
          </p:cNvPr>
          <p:cNvSpPr>
            <a:spLocks noChangeArrowheads="1"/>
          </p:cNvSpPr>
          <p:nvPr/>
        </p:nvSpPr>
        <p:spPr bwMode="auto">
          <a:xfrm>
            <a:off x="719016" y="4910965"/>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98C58763-397D-42B2-97D6-2C1E20DBB139}"/>
              </a:ext>
            </a:extLst>
          </p:cNvPr>
          <p:cNvSpPr>
            <a:spLocks noChangeArrowheads="1"/>
          </p:cNvSpPr>
          <p:nvPr/>
        </p:nvSpPr>
        <p:spPr bwMode="auto">
          <a:xfrm>
            <a:off x="12007269" y="59323"/>
            <a:ext cx="18473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he-IL" altLang="he-IL" sz="1600" b="0" i="0" u="none" strike="noStrike" cap="none" normalizeH="0" baseline="0" dirty="0">
              <a:ln>
                <a:noFill/>
              </a:ln>
              <a:solidFill>
                <a:schemeClr val="tx1"/>
              </a:solidFill>
              <a:effectLst/>
              <a:latin typeface="Arial" panose="020B0604020202020204" pitchFamily="34" charset="0"/>
            </a:endParaRPr>
          </a:p>
        </p:txBody>
      </p:sp>
      <p:sp>
        <p:nvSpPr>
          <p:cNvPr id="15" name="מציין מיקום של מספר שקופית 14">
            <a:extLst>
              <a:ext uri="{FF2B5EF4-FFF2-40B4-BE49-F238E27FC236}">
                <a16:creationId xmlns:a16="http://schemas.microsoft.com/office/drawing/2014/main" id="{02D180B0-A08F-4612-9D6C-509C41B71011}"/>
              </a:ext>
            </a:extLst>
          </p:cNvPr>
          <p:cNvSpPr>
            <a:spLocks noGrp="1"/>
          </p:cNvSpPr>
          <p:nvPr>
            <p:ph type="sldNum" sz="quarter" idx="12"/>
          </p:nvPr>
        </p:nvSpPr>
        <p:spPr/>
        <p:txBody>
          <a:bodyPr/>
          <a:lstStyle/>
          <a:p>
            <a:fld id="{9D77A262-A0C6-4C11-A684-4A90AD65C1E2}" type="slidenum">
              <a:rPr lang="he-IL" smtClean="0"/>
              <a:t>16</a:t>
            </a:fld>
            <a:endParaRPr lang="he-IL"/>
          </a:p>
        </p:txBody>
      </p:sp>
    </p:spTree>
    <p:extLst>
      <p:ext uri="{BB962C8B-B14F-4D97-AF65-F5344CB8AC3E}">
        <p14:creationId xmlns:p14="http://schemas.microsoft.com/office/powerpoint/2010/main" val="2726816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חץ: מחומש 4">
            <a:extLst>
              <a:ext uri="{FF2B5EF4-FFF2-40B4-BE49-F238E27FC236}">
                <a16:creationId xmlns:a16="http://schemas.microsoft.com/office/drawing/2014/main" id="{A14E527F-7F19-42A8-A3C9-12BC66E78008}"/>
              </a:ext>
            </a:extLst>
          </p:cNvPr>
          <p:cNvSpPr/>
          <p:nvPr/>
        </p:nvSpPr>
        <p:spPr>
          <a:xfrm flipH="1">
            <a:off x="7213600" y="1216074"/>
            <a:ext cx="4134140" cy="523220"/>
          </a:xfrm>
          <a:prstGeom prst="homePlate">
            <a:avLst/>
          </a:prstGeom>
          <a:solidFill>
            <a:srgbClr val="F1975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תיבת טקסט 3">
            <a:extLst>
              <a:ext uri="{FF2B5EF4-FFF2-40B4-BE49-F238E27FC236}">
                <a16:creationId xmlns:a16="http://schemas.microsoft.com/office/drawing/2014/main" id="{9A7DFAA8-3A25-4CBA-8032-8FC61E1547C9}"/>
              </a:ext>
            </a:extLst>
          </p:cNvPr>
          <p:cNvSpPr txBox="1"/>
          <p:nvPr/>
        </p:nvSpPr>
        <p:spPr>
          <a:xfrm>
            <a:off x="7623751" y="1216071"/>
            <a:ext cx="3524540" cy="523220"/>
          </a:xfrm>
          <a:prstGeom prst="rect">
            <a:avLst/>
          </a:prstGeom>
          <a:noFill/>
        </p:spPr>
        <p:txBody>
          <a:bodyPr wrap="square" rtlCol="1">
            <a:spAutoFit/>
          </a:bodyPr>
          <a:lstStyle/>
          <a:p>
            <a:r>
              <a:rPr lang="he-IL" sz="2800" b="1" dirty="0">
                <a:latin typeface="David" panose="020E0502060401010101" pitchFamily="34" charset="-79"/>
                <a:cs typeface="David" panose="020E0502060401010101" pitchFamily="34" charset="-79"/>
              </a:rPr>
              <a:t>סיכום אילוצים במערכת</a:t>
            </a:r>
          </a:p>
        </p:txBody>
      </p:sp>
      <p:sp>
        <p:nvSpPr>
          <p:cNvPr id="10" name="Rectangle 5">
            <a:extLst>
              <a:ext uri="{FF2B5EF4-FFF2-40B4-BE49-F238E27FC236}">
                <a16:creationId xmlns:a16="http://schemas.microsoft.com/office/drawing/2014/main" id="{6866C8E9-7B87-4D6B-B018-EC9590BF6E5B}"/>
              </a:ext>
            </a:extLst>
          </p:cNvPr>
          <p:cNvSpPr>
            <a:spLocks noChangeArrowheads="1"/>
          </p:cNvSpPr>
          <p:nvPr/>
        </p:nvSpPr>
        <p:spPr bwMode="auto">
          <a:xfrm>
            <a:off x="719016" y="4910965"/>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98C58763-397D-42B2-97D6-2C1E20DBB139}"/>
              </a:ext>
            </a:extLst>
          </p:cNvPr>
          <p:cNvSpPr>
            <a:spLocks noChangeArrowheads="1"/>
          </p:cNvSpPr>
          <p:nvPr/>
        </p:nvSpPr>
        <p:spPr bwMode="auto">
          <a:xfrm>
            <a:off x="12007269" y="59323"/>
            <a:ext cx="18473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he-IL" altLang="he-IL" sz="16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2">
            <a:extLst>
              <a:ext uri="{FF2B5EF4-FFF2-40B4-BE49-F238E27FC236}">
                <a16:creationId xmlns:a16="http://schemas.microsoft.com/office/drawing/2014/main" id="{1906E9C2-6B9C-473F-99E8-3B356FCD0E7C}"/>
              </a:ext>
            </a:extLst>
          </p:cNvPr>
          <p:cNvGraphicFramePr>
            <a:graphicFrameLocks noGrp="1"/>
          </p:cNvGraphicFramePr>
          <p:nvPr>
            <p:extLst>
              <p:ext uri="{D42A27DB-BD31-4B8C-83A1-F6EECF244321}">
                <p14:modId xmlns:p14="http://schemas.microsoft.com/office/powerpoint/2010/main" val="653742095"/>
              </p:ext>
            </p:extLst>
          </p:nvPr>
        </p:nvGraphicFramePr>
        <p:xfrm>
          <a:off x="2236799" y="2140464"/>
          <a:ext cx="9104866" cy="3677859"/>
        </p:xfrm>
        <a:graphic>
          <a:graphicData uri="http://schemas.openxmlformats.org/drawingml/2006/table">
            <a:tbl>
              <a:tblPr firstRow="1" bandRow="1">
                <a:tableStyleId>{21E4AEA4-8DFA-4A89-87EB-49C32662AFE0}</a:tableStyleId>
              </a:tblPr>
              <a:tblGrid>
                <a:gridCol w="1747823">
                  <a:extLst>
                    <a:ext uri="{9D8B030D-6E8A-4147-A177-3AD203B41FA5}">
                      <a16:colId xmlns:a16="http://schemas.microsoft.com/office/drawing/2014/main" val="20000"/>
                    </a:ext>
                  </a:extLst>
                </a:gridCol>
                <a:gridCol w="3686237">
                  <a:extLst>
                    <a:ext uri="{9D8B030D-6E8A-4147-A177-3AD203B41FA5}">
                      <a16:colId xmlns:a16="http://schemas.microsoft.com/office/drawing/2014/main" val="20001"/>
                    </a:ext>
                  </a:extLst>
                </a:gridCol>
                <a:gridCol w="3670806">
                  <a:extLst>
                    <a:ext uri="{9D8B030D-6E8A-4147-A177-3AD203B41FA5}">
                      <a16:colId xmlns:a16="http://schemas.microsoft.com/office/drawing/2014/main" val="20002"/>
                    </a:ext>
                  </a:extLst>
                </a:gridCol>
              </a:tblGrid>
              <a:tr h="408651">
                <a:tc>
                  <a:txBody>
                    <a:bodyPr/>
                    <a:lstStyle/>
                    <a:p>
                      <a:pPr algn="ctr"/>
                      <a:r>
                        <a:rPr sz="1600">
                          <a:latin typeface="David" panose="020E0502060401010101" pitchFamily="34" charset="-79"/>
                          <a:cs typeface="David" panose="020E0502060401010101" pitchFamily="34" charset="-79"/>
                        </a:rPr>
                        <a:t>סוג האילוץ</a:t>
                      </a:r>
                    </a:p>
                  </a:txBody>
                  <a:tcPr/>
                </a:tc>
                <a:tc>
                  <a:txBody>
                    <a:bodyPr/>
                    <a:lstStyle/>
                    <a:p>
                      <a:pPr algn="ctr"/>
                      <a:r>
                        <a:rPr sz="1600" dirty="0" err="1">
                          <a:latin typeface="David" panose="020E0502060401010101" pitchFamily="34" charset="-79"/>
                          <a:cs typeface="David" panose="020E0502060401010101" pitchFamily="34" charset="-79"/>
                        </a:rPr>
                        <a:t>שם</a:t>
                      </a:r>
                      <a:r>
                        <a:rPr sz="1600" dirty="0">
                          <a:latin typeface="David" panose="020E0502060401010101" pitchFamily="34" charset="-79"/>
                          <a:cs typeface="David" panose="020E0502060401010101" pitchFamily="34" charset="-79"/>
                        </a:rPr>
                        <a:t> </a:t>
                      </a:r>
                      <a:r>
                        <a:rPr sz="1600" dirty="0" err="1">
                          <a:latin typeface="David" panose="020E0502060401010101" pitchFamily="34" charset="-79"/>
                          <a:cs typeface="David" panose="020E0502060401010101" pitchFamily="34" charset="-79"/>
                        </a:rPr>
                        <a:t>השדה</a:t>
                      </a:r>
                      <a:r>
                        <a:rPr sz="1600" dirty="0">
                          <a:latin typeface="David" panose="020E0502060401010101" pitchFamily="34" charset="-79"/>
                          <a:cs typeface="David" panose="020E0502060401010101" pitchFamily="34" charset="-79"/>
                        </a:rPr>
                        <a:t> </a:t>
                      </a:r>
                      <a:r>
                        <a:rPr lang="he-IL" sz="1600" dirty="0">
                          <a:latin typeface="David" panose="020E0502060401010101" pitchFamily="34" charset="-79"/>
                          <a:cs typeface="David" panose="020E0502060401010101" pitchFamily="34" charset="-79"/>
                        </a:rPr>
                        <a:t>-</a:t>
                      </a:r>
                      <a:r>
                        <a:rPr sz="1600" dirty="0" err="1">
                          <a:latin typeface="David" panose="020E0502060401010101" pitchFamily="34" charset="-79"/>
                          <a:cs typeface="David" panose="020E0502060401010101" pitchFamily="34" charset="-79"/>
                        </a:rPr>
                        <a:t>דוגמה</a:t>
                      </a:r>
                      <a:endParaRPr sz="1600" dirty="0">
                        <a:latin typeface="David" panose="020E0502060401010101" pitchFamily="34" charset="-79"/>
                        <a:cs typeface="David" panose="020E0502060401010101" pitchFamily="34" charset="-79"/>
                      </a:endParaRPr>
                    </a:p>
                  </a:txBody>
                  <a:tcPr/>
                </a:tc>
                <a:tc>
                  <a:txBody>
                    <a:bodyPr/>
                    <a:lstStyle/>
                    <a:p>
                      <a:pPr algn="ctr"/>
                      <a:r>
                        <a:rPr sz="1600" dirty="0" err="1">
                          <a:latin typeface="David" panose="020E0502060401010101" pitchFamily="34" charset="-79"/>
                          <a:cs typeface="David" panose="020E0502060401010101" pitchFamily="34" charset="-79"/>
                        </a:rPr>
                        <a:t>מה</a:t>
                      </a:r>
                      <a:r>
                        <a:rPr sz="1600" dirty="0">
                          <a:latin typeface="David" panose="020E0502060401010101" pitchFamily="34" charset="-79"/>
                          <a:cs typeface="David" panose="020E0502060401010101" pitchFamily="34" charset="-79"/>
                        </a:rPr>
                        <a:t> </a:t>
                      </a:r>
                      <a:r>
                        <a:rPr sz="1600" dirty="0" err="1">
                          <a:latin typeface="David" panose="020E0502060401010101" pitchFamily="34" charset="-79"/>
                          <a:cs typeface="David" panose="020E0502060401010101" pitchFamily="34" charset="-79"/>
                        </a:rPr>
                        <a:t>הוא</a:t>
                      </a:r>
                      <a:r>
                        <a:rPr sz="1600" dirty="0">
                          <a:latin typeface="David" panose="020E0502060401010101" pitchFamily="34" charset="-79"/>
                          <a:cs typeface="David" panose="020E0502060401010101" pitchFamily="34" charset="-79"/>
                        </a:rPr>
                        <a:t> </a:t>
                      </a:r>
                      <a:r>
                        <a:rPr sz="1600" dirty="0" err="1">
                          <a:latin typeface="David" panose="020E0502060401010101" pitchFamily="34" charset="-79"/>
                          <a:cs typeface="David" panose="020E0502060401010101" pitchFamily="34" charset="-79"/>
                        </a:rPr>
                        <a:t>עושה</a:t>
                      </a:r>
                      <a:r>
                        <a:rPr sz="1600" dirty="0">
                          <a:latin typeface="David" panose="020E0502060401010101" pitchFamily="34" charset="-79"/>
                          <a:cs typeface="David" panose="020E0502060401010101" pitchFamily="34" charset="-79"/>
                        </a:rPr>
                        <a:t> </a:t>
                      </a:r>
                      <a:r>
                        <a:rPr sz="1600" dirty="0" err="1">
                          <a:latin typeface="David" panose="020E0502060401010101" pitchFamily="34" charset="-79"/>
                          <a:cs typeface="David" panose="020E0502060401010101" pitchFamily="34" charset="-79"/>
                        </a:rPr>
                        <a:t>בפועל</a:t>
                      </a:r>
                      <a:endParaRPr sz="1600" dirty="0">
                        <a:latin typeface="David" panose="020E0502060401010101" pitchFamily="34" charset="-79"/>
                        <a:cs typeface="David" panose="020E0502060401010101" pitchFamily="34" charset="-79"/>
                      </a:endParaRPr>
                    </a:p>
                  </a:txBody>
                  <a:tcPr/>
                </a:tc>
                <a:extLst>
                  <a:ext uri="{0D108BD9-81ED-4DB2-BD59-A6C34878D82A}">
                    <a16:rowId xmlns:a16="http://schemas.microsoft.com/office/drawing/2014/main" val="10000"/>
                  </a:ext>
                </a:extLst>
              </a:tr>
              <a:tr h="408651">
                <a:tc>
                  <a:txBody>
                    <a:bodyPr/>
                    <a:lstStyle/>
                    <a:p>
                      <a:pPr algn="ctr"/>
                      <a:r>
                        <a:rPr lang="en-US" sz="1600">
                          <a:latin typeface="David" panose="020E0502060401010101" pitchFamily="34" charset="-79"/>
                          <a:cs typeface="David" panose="020E0502060401010101" pitchFamily="34" charset="-79"/>
                        </a:rPr>
                        <a:t>PRIMARY KEY</a:t>
                      </a:r>
                    </a:p>
                  </a:txBody>
                  <a:tcPr anchor="ctr"/>
                </a:tc>
                <a:tc>
                  <a:txBody>
                    <a:bodyPr/>
                    <a:lstStyle/>
                    <a:p>
                      <a:pPr algn="ctr"/>
                      <a:r>
                        <a:rPr lang="nl-NL" sz="1600" dirty="0">
                          <a:latin typeface="David" panose="020E0502060401010101" pitchFamily="34" charset="-79"/>
                          <a:cs typeface="David" panose="020E0502060401010101" pitchFamily="34" charset="-79"/>
                        </a:rPr>
                        <a:t>u_id, student_id, lesson_id...</a:t>
                      </a:r>
                    </a:p>
                  </a:txBody>
                  <a:tcPr anchor="ctr"/>
                </a:tc>
                <a:tc>
                  <a:txBody>
                    <a:bodyPr/>
                    <a:lstStyle/>
                    <a:p>
                      <a:pPr algn="ctr"/>
                      <a:r>
                        <a:rPr lang="he-IL" sz="1600" dirty="0">
                          <a:latin typeface="David" panose="020E0502060401010101" pitchFamily="34" charset="-79"/>
                          <a:cs typeface="David" panose="020E0502060401010101" pitchFamily="34" charset="-79"/>
                        </a:rPr>
                        <a:t>מזהה כל רשומה באופן ייחודי ואוטומטי</a:t>
                      </a:r>
                    </a:p>
                  </a:txBody>
                  <a:tcPr anchor="ctr"/>
                </a:tc>
                <a:extLst>
                  <a:ext uri="{0D108BD9-81ED-4DB2-BD59-A6C34878D82A}">
                    <a16:rowId xmlns:a16="http://schemas.microsoft.com/office/drawing/2014/main" val="10001"/>
                  </a:ext>
                </a:extLst>
              </a:tr>
              <a:tr h="408651">
                <a:tc>
                  <a:txBody>
                    <a:bodyPr/>
                    <a:lstStyle/>
                    <a:p>
                      <a:pPr algn="ctr"/>
                      <a:r>
                        <a:rPr lang="en-US" sz="1600">
                          <a:latin typeface="David" panose="020E0502060401010101" pitchFamily="34" charset="-79"/>
                          <a:cs typeface="David" panose="020E0502060401010101" pitchFamily="34" charset="-79"/>
                        </a:rPr>
                        <a:t>FOREIGN KEY</a:t>
                      </a:r>
                    </a:p>
                  </a:txBody>
                  <a:tcPr anchor="ctr"/>
                </a:tc>
                <a:tc>
                  <a:txBody>
                    <a:bodyPr/>
                    <a:lstStyle/>
                    <a:p>
                      <a:pPr algn="ctr"/>
                      <a:r>
                        <a:rPr lang="en-US" sz="1600" dirty="0" err="1">
                          <a:latin typeface="David" panose="020E0502060401010101" pitchFamily="34" charset="-79"/>
                          <a:cs typeface="David" panose="020E0502060401010101" pitchFamily="34" charset="-79"/>
                        </a:rPr>
                        <a:t>s_level_code</a:t>
                      </a:r>
                      <a:r>
                        <a:rPr lang="en-US" sz="1600" dirty="0">
                          <a:latin typeface="David" panose="020E0502060401010101" pitchFamily="34" charset="-79"/>
                          <a:cs typeface="David" panose="020E0502060401010101" pitchFamily="34" charset="-79"/>
                        </a:rPr>
                        <a:t>, </a:t>
                      </a:r>
                      <a:r>
                        <a:rPr lang="en-US" sz="1600" dirty="0" err="1">
                          <a:latin typeface="David" panose="020E0502060401010101" pitchFamily="34" charset="-79"/>
                          <a:cs typeface="David" panose="020E0502060401010101" pitchFamily="34" charset="-79"/>
                        </a:rPr>
                        <a:t>s_u_id</a:t>
                      </a:r>
                      <a:r>
                        <a:rPr lang="en-US" sz="1600" dirty="0">
                          <a:latin typeface="David" panose="020E0502060401010101" pitchFamily="34" charset="-79"/>
                          <a:cs typeface="David" panose="020E0502060401010101" pitchFamily="34" charset="-79"/>
                        </a:rPr>
                        <a:t>, </a:t>
                      </a:r>
                      <a:r>
                        <a:rPr lang="en-US" sz="1600" dirty="0" err="1">
                          <a:latin typeface="David" panose="020E0502060401010101" pitchFamily="34" charset="-79"/>
                          <a:cs typeface="David" panose="020E0502060401010101" pitchFamily="34" charset="-79"/>
                        </a:rPr>
                        <a:t>sp_lesson_id</a:t>
                      </a:r>
                      <a:r>
                        <a:rPr lang="en-US" sz="1600" dirty="0">
                          <a:latin typeface="David" panose="020E0502060401010101" pitchFamily="34" charset="-79"/>
                          <a:cs typeface="David" panose="020E0502060401010101" pitchFamily="34" charset="-79"/>
                        </a:rPr>
                        <a:t>...</a:t>
                      </a:r>
                    </a:p>
                  </a:txBody>
                  <a:tcPr anchor="ctr"/>
                </a:tc>
                <a:tc>
                  <a:txBody>
                    <a:bodyPr/>
                    <a:lstStyle/>
                    <a:p>
                      <a:pPr algn="ctr"/>
                      <a:r>
                        <a:rPr lang="he-IL" sz="1600" dirty="0">
                          <a:latin typeface="David" panose="020E0502060401010101" pitchFamily="34" charset="-79"/>
                          <a:cs typeface="David" panose="020E0502060401010101" pitchFamily="34" charset="-79"/>
                        </a:rPr>
                        <a:t>מבטיח שהערך המוכנס קיים בטבלה המקושרת</a:t>
                      </a:r>
                    </a:p>
                  </a:txBody>
                  <a:tcPr anchor="ctr"/>
                </a:tc>
                <a:extLst>
                  <a:ext uri="{0D108BD9-81ED-4DB2-BD59-A6C34878D82A}">
                    <a16:rowId xmlns:a16="http://schemas.microsoft.com/office/drawing/2014/main" val="10002"/>
                  </a:ext>
                </a:extLst>
              </a:tr>
              <a:tr h="408651">
                <a:tc>
                  <a:txBody>
                    <a:bodyPr/>
                    <a:lstStyle/>
                    <a:p>
                      <a:pPr algn="ctr"/>
                      <a:r>
                        <a:rPr lang="en-US" sz="1600" dirty="0">
                          <a:latin typeface="David" panose="020E0502060401010101" pitchFamily="34" charset="-79"/>
                          <a:cs typeface="David" panose="020E0502060401010101" pitchFamily="34" charset="-79"/>
                        </a:rPr>
                        <a:t>UNIQUE</a:t>
                      </a:r>
                    </a:p>
                  </a:txBody>
                  <a:tcPr anchor="ctr"/>
                </a:tc>
                <a:tc>
                  <a:txBody>
                    <a:bodyPr/>
                    <a:lstStyle/>
                    <a:p>
                      <a:pPr algn="ctr"/>
                      <a:r>
                        <a:rPr lang="en-US" sz="1600">
                          <a:latin typeface="David" panose="020E0502060401010101" pitchFamily="34" charset="-79"/>
                          <a:cs typeface="David" panose="020E0502060401010101" pitchFamily="34" charset="-79"/>
                        </a:rPr>
                        <a:t>u_email, p_name</a:t>
                      </a:r>
                    </a:p>
                  </a:txBody>
                  <a:tcPr anchor="ctr"/>
                </a:tc>
                <a:tc>
                  <a:txBody>
                    <a:bodyPr/>
                    <a:lstStyle/>
                    <a:p>
                      <a:pPr algn="ctr"/>
                      <a:r>
                        <a:rPr lang="he-IL" sz="1600" dirty="0">
                          <a:latin typeface="David" panose="020E0502060401010101" pitchFamily="34" charset="-79"/>
                          <a:cs typeface="David" panose="020E0502060401010101" pitchFamily="34" charset="-79"/>
                        </a:rPr>
                        <a:t>מונע כפילות של אימייל או שם מקצוע</a:t>
                      </a:r>
                    </a:p>
                  </a:txBody>
                  <a:tcPr anchor="ctr"/>
                </a:tc>
                <a:extLst>
                  <a:ext uri="{0D108BD9-81ED-4DB2-BD59-A6C34878D82A}">
                    <a16:rowId xmlns:a16="http://schemas.microsoft.com/office/drawing/2014/main" val="10003"/>
                  </a:ext>
                </a:extLst>
              </a:tr>
              <a:tr h="408651">
                <a:tc>
                  <a:txBody>
                    <a:bodyPr/>
                    <a:lstStyle/>
                    <a:p>
                      <a:pPr algn="ctr"/>
                      <a:r>
                        <a:rPr lang="en-US" sz="1600">
                          <a:latin typeface="David" panose="020E0502060401010101" pitchFamily="34" charset="-79"/>
                          <a:cs typeface="David" panose="020E0502060401010101" pitchFamily="34" charset="-79"/>
                        </a:rPr>
                        <a:t>UNIQUE INDEX</a:t>
                      </a:r>
                    </a:p>
                  </a:txBody>
                  <a:tcPr anchor="ctr"/>
                </a:tc>
                <a:tc>
                  <a:txBody>
                    <a:bodyPr/>
                    <a:lstStyle/>
                    <a:p>
                      <a:pPr algn="ctr"/>
                      <a:r>
                        <a:rPr lang="en-US" sz="1600">
                          <a:latin typeface="David" panose="020E0502060401010101" pitchFamily="34" charset="-79"/>
                          <a:cs typeface="David" panose="020E0502060401010101" pitchFamily="34" charset="-79"/>
                        </a:rPr>
                        <a:t>v_volunteer_id + v_volunteer_date</a:t>
                      </a:r>
                    </a:p>
                  </a:txBody>
                  <a:tcPr anchor="ctr"/>
                </a:tc>
                <a:tc>
                  <a:txBody>
                    <a:bodyPr/>
                    <a:lstStyle/>
                    <a:p>
                      <a:pPr algn="ctr"/>
                      <a:r>
                        <a:rPr lang="he-IL" sz="1600" dirty="0">
                          <a:latin typeface="David" panose="020E0502060401010101" pitchFamily="34" charset="-79"/>
                          <a:cs typeface="David" panose="020E0502060401010101" pitchFamily="34" charset="-79"/>
                        </a:rPr>
                        <a:t>מונע שיבוץ מתנדב לשני תלמידים באותו יום</a:t>
                      </a:r>
                    </a:p>
                  </a:txBody>
                  <a:tcPr anchor="ctr"/>
                </a:tc>
                <a:extLst>
                  <a:ext uri="{0D108BD9-81ED-4DB2-BD59-A6C34878D82A}">
                    <a16:rowId xmlns:a16="http://schemas.microsoft.com/office/drawing/2014/main" val="2580651685"/>
                  </a:ext>
                </a:extLst>
              </a:tr>
              <a:tr h="408651">
                <a:tc>
                  <a:txBody>
                    <a:bodyPr/>
                    <a:lstStyle/>
                    <a:p>
                      <a:pPr algn="ctr"/>
                      <a:r>
                        <a:rPr lang="en-US" sz="1600" dirty="0">
                          <a:latin typeface="David" panose="020E0502060401010101" pitchFamily="34" charset="-79"/>
                          <a:cs typeface="David" panose="020E0502060401010101" pitchFamily="34" charset="-79"/>
                        </a:rPr>
                        <a:t>CHECK</a:t>
                      </a:r>
                    </a:p>
                  </a:txBody>
                  <a:tcPr anchor="ctr"/>
                </a:tc>
                <a:tc>
                  <a:txBody>
                    <a:bodyPr/>
                    <a:lstStyle/>
                    <a:p>
                      <a:pPr algn="ctr"/>
                      <a:r>
                        <a:rPr lang="en-US" sz="1600">
                          <a:latin typeface="David" panose="020E0502060401010101" pitchFamily="34" charset="-79"/>
                          <a:cs typeface="David" panose="020E0502060401010101" pitchFamily="34" charset="-79"/>
                        </a:rPr>
                        <a:t>v_age &gt;= 16</a:t>
                      </a:r>
                    </a:p>
                  </a:txBody>
                  <a:tcPr anchor="ctr"/>
                </a:tc>
                <a:tc>
                  <a:txBody>
                    <a:bodyPr/>
                    <a:lstStyle/>
                    <a:p>
                      <a:pPr algn="ctr"/>
                      <a:r>
                        <a:rPr lang="he-IL" sz="1600" dirty="0">
                          <a:latin typeface="David" panose="020E0502060401010101" pitchFamily="34" charset="-79"/>
                          <a:cs typeface="David" panose="020E0502060401010101" pitchFamily="34" charset="-79"/>
                        </a:rPr>
                        <a:t>מגביל גיל מתנדב למינימום 16</a:t>
                      </a:r>
                    </a:p>
                  </a:txBody>
                  <a:tcPr anchor="ctr"/>
                </a:tc>
                <a:extLst>
                  <a:ext uri="{0D108BD9-81ED-4DB2-BD59-A6C34878D82A}">
                    <a16:rowId xmlns:a16="http://schemas.microsoft.com/office/drawing/2014/main" val="1256661833"/>
                  </a:ext>
                </a:extLst>
              </a:tr>
              <a:tr h="408651">
                <a:tc>
                  <a:txBody>
                    <a:bodyPr/>
                    <a:lstStyle/>
                    <a:p>
                      <a:pPr algn="ctr"/>
                      <a:r>
                        <a:rPr lang="en-US" sz="1600">
                          <a:latin typeface="David" panose="020E0502060401010101" pitchFamily="34" charset="-79"/>
                          <a:cs typeface="David" panose="020E0502060401010101" pitchFamily="34" charset="-79"/>
                        </a:rPr>
                        <a:t>CHECK</a:t>
                      </a:r>
                    </a:p>
                  </a:txBody>
                  <a:tcPr anchor="ctr"/>
                </a:tc>
                <a:tc>
                  <a:txBody>
                    <a:bodyPr/>
                    <a:lstStyle/>
                    <a:p>
                      <a:pPr algn="ctr"/>
                      <a:r>
                        <a:rPr lang="en-US" sz="1600">
                          <a:latin typeface="David" panose="020E0502060401010101" pitchFamily="34" charset="-79"/>
                          <a:cs typeface="David" panose="020E0502060401010101" pitchFamily="34" charset="-79"/>
                        </a:rPr>
                        <a:t>sp_status IN (...)</a:t>
                      </a:r>
                    </a:p>
                  </a:txBody>
                  <a:tcPr anchor="ctr"/>
                </a:tc>
                <a:tc>
                  <a:txBody>
                    <a:bodyPr/>
                    <a:lstStyle/>
                    <a:p>
                      <a:pPr algn="ctr"/>
                      <a:r>
                        <a:rPr lang="he-IL" sz="1600" dirty="0">
                          <a:latin typeface="David" panose="020E0502060401010101" pitchFamily="34" charset="-79"/>
                          <a:cs typeface="David" panose="020E0502060401010101" pitchFamily="34" charset="-79"/>
                        </a:rPr>
                        <a:t>מגביל סטטוס לשלושה ערכים בלבד</a:t>
                      </a:r>
                    </a:p>
                  </a:txBody>
                  <a:tcPr anchor="ctr"/>
                </a:tc>
                <a:extLst>
                  <a:ext uri="{0D108BD9-81ED-4DB2-BD59-A6C34878D82A}">
                    <a16:rowId xmlns:a16="http://schemas.microsoft.com/office/drawing/2014/main" val="307689379"/>
                  </a:ext>
                </a:extLst>
              </a:tr>
              <a:tr h="408651">
                <a:tc>
                  <a:txBody>
                    <a:bodyPr/>
                    <a:lstStyle/>
                    <a:p>
                      <a:pPr algn="ctr"/>
                      <a:r>
                        <a:rPr lang="en-US" sz="1600">
                          <a:latin typeface="David" panose="020E0502060401010101" pitchFamily="34" charset="-79"/>
                          <a:cs typeface="David" panose="020E0502060401010101" pitchFamily="34" charset="-79"/>
                        </a:rPr>
                        <a:t>CHECK</a:t>
                      </a:r>
                    </a:p>
                  </a:txBody>
                  <a:tcPr anchor="ctr"/>
                </a:tc>
                <a:tc>
                  <a:txBody>
                    <a:bodyPr/>
                    <a:lstStyle/>
                    <a:p>
                      <a:pPr algn="ctr"/>
                      <a:r>
                        <a:rPr lang="en-US" sz="1600" dirty="0" err="1">
                          <a:latin typeface="David" panose="020E0502060401010101" pitchFamily="34" charset="-79"/>
                          <a:cs typeface="David" panose="020E0502060401010101" pitchFamily="34" charset="-79"/>
                        </a:rPr>
                        <a:t>chk_score_with_status</a:t>
                      </a:r>
                      <a:endParaRPr lang="en-US" sz="1600" dirty="0">
                        <a:latin typeface="David" panose="020E0502060401010101" pitchFamily="34" charset="-79"/>
                        <a:cs typeface="David" panose="020E0502060401010101" pitchFamily="34" charset="-79"/>
                      </a:endParaRPr>
                    </a:p>
                  </a:txBody>
                  <a:tcPr anchor="ctr"/>
                </a:tc>
                <a:tc>
                  <a:txBody>
                    <a:bodyPr/>
                    <a:lstStyle/>
                    <a:p>
                      <a:pPr algn="ctr"/>
                      <a:r>
                        <a:rPr lang="he-IL" sz="1600" dirty="0">
                          <a:latin typeface="David" panose="020E0502060401010101" pitchFamily="34" charset="-79"/>
                          <a:cs typeface="David" panose="020E0502060401010101" pitchFamily="34" charset="-79"/>
                        </a:rPr>
                        <a:t>מוודא הגיון בין ציון לסטטוס השיעור</a:t>
                      </a:r>
                    </a:p>
                  </a:txBody>
                  <a:tcPr anchor="ctr"/>
                </a:tc>
                <a:extLst>
                  <a:ext uri="{0D108BD9-81ED-4DB2-BD59-A6C34878D82A}">
                    <a16:rowId xmlns:a16="http://schemas.microsoft.com/office/drawing/2014/main" val="10004"/>
                  </a:ext>
                </a:extLst>
              </a:tr>
              <a:tr h="408651">
                <a:tc>
                  <a:txBody>
                    <a:bodyPr/>
                    <a:lstStyle/>
                    <a:p>
                      <a:pPr algn="ctr"/>
                      <a:r>
                        <a:rPr lang="en-US" sz="1600">
                          <a:latin typeface="David" panose="020E0502060401010101" pitchFamily="34" charset="-79"/>
                          <a:cs typeface="David" panose="020E0502060401010101" pitchFamily="34" charset="-79"/>
                        </a:rPr>
                        <a:t>DEFAULT</a:t>
                      </a:r>
                    </a:p>
                  </a:txBody>
                  <a:tcPr anchor="ctr"/>
                </a:tc>
                <a:tc>
                  <a:txBody>
                    <a:bodyPr/>
                    <a:lstStyle/>
                    <a:p>
                      <a:pPr algn="ctr"/>
                      <a:r>
                        <a:rPr lang="en-US" sz="1600">
                          <a:latin typeface="David" panose="020E0502060401010101" pitchFamily="34" charset="-79"/>
                          <a:cs typeface="David" panose="020E0502060401010101" pitchFamily="34" charset="-79"/>
                        </a:rPr>
                        <a:t>created_at, v_status, s_want_volunteer</a:t>
                      </a:r>
                    </a:p>
                  </a:txBody>
                  <a:tcPr anchor="ctr"/>
                </a:tc>
                <a:tc>
                  <a:txBody>
                    <a:bodyPr/>
                    <a:lstStyle/>
                    <a:p>
                      <a:pPr algn="ctr"/>
                      <a:r>
                        <a:rPr lang="he-IL" sz="1600" dirty="0">
                          <a:latin typeface="David" panose="020E0502060401010101" pitchFamily="34" charset="-79"/>
                          <a:cs typeface="David" panose="020E0502060401010101" pitchFamily="34" charset="-79"/>
                        </a:rPr>
                        <a:t>מכניס ערך אוטומטי </a:t>
                      </a:r>
                      <a:r>
                        <a:rPr lang="he-IL" sz="1600" dirty="0" err="1">
                          <a:latin typeface="David" panose="020E0502060401010101" pitchFamily="34" charset="-79"/>
                          <a:cs typeface="David" panose="020E0502060401010101" pitchFamily="34" charset="-79"/>
                        </a:rPr>
                        <a:t>כשלא</a:t>
                      </a:r>
                      <a:r>
                        <a:rPr lang="he-IL" sz="1600" dirty="0">
                          <a:latin typeface="David" panose="020E0502060401010101" pitchFamily="34" charset="-79"/>
                          <a:cs typeface="David" panose="020E0502060401010101" pitchFamily="34" charset="-79"/>
                        </a:rPr>
                        <a:t> סופק ערך ידני</a:t>
                      </a:r>
                    </a:p>
                  </a:txBody>
                  <a:tcPr anchor="ctr"/>
                </a:tc>
                <a:extLst>
                  <a:ext uri="{0D108BD9-81ED-4DB2-BD59-A6C34878D82A}">
                    <a16:rowId xmlns:a16="http://schemas.microsoft.com/office/drawing/2014/main" val="10005"/>
                  </a:ext>
                </a:extLst>
              </a:tr>
            </a:tbl>
          </a:graphicData>
        </a:graphic>
      </p:graphicFrame>
      <p:sp>
        <p:nvSpPr>
          <p:cNvPr id="7" name="מציין מיקום של מספר שקופית 6">
            <a:extLst>
              <a:ext uri="{FF2B5EF4-FFF2-40B4-BE49-F238E27FC236}">
                <a16:creationId xmlns:a16="http://schemas.microsoft.com/office/drawing/2014/main" id="{37323479-55ED-4A6E-86DD-47AFD8534DC6}"/>
              </a:ext>
            </a:extLst>
          </p:cNvPr>
          <p:cNvSpPr>
            <a:spLocks noGrp="1"/>
          </p:cNvSpPr>
          <p:nvPr>
            <p:ph type="sldNum" sz="quarter" idx="12"/>
          </p:nvPr>
        </p:nvSpPr>
        <p:spPr/>
        <p:txBody>
          <a:bodyPr/>
          <a:lstStyle/>
          <a:p>
            <a:fld id="{9D77A262-A0C6-4C11-A684-4A90AD65C1E2}" type="slidenum">
              <a:rPr lang="he-IL" smtClean="0"/>
              <a:t>17</a:t>
            </a:fld>
            <a:endParaRPr lang="he-IL"/>
          </a:p>
        </p:txBody>
      </p:sp>
    </p:spTree>
    <p:extLst>
      <p:ext uri="{BB962C8B-B14F-4D97-AF65-F5344CB8AC3E}">
        <p14:creationId xmlns:p14="http://schemas.microsoft.com/office/powerpoint/2010/main" val="3624492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מלבן: פינות מעוגלות 8">
            <a:extLst>
              <a:ext uri="{FF2B5EF4-FFF2-40B4-BE49-F238E27FC236}">
                <a16:creationId xmlns:a16="http://schemas.microsoft.com/office/drawing/2014/main" id="{132DE5D7-CB27-EC92-4AEC-5116CD75AF52}"/>
              </a:ext>
            </a:extLst>
          </p:cNvPr>
          <p:cNvSpPr/>
          <p:nvPr/>
        </p:nvSpPr>
        <p:spPr>
          <a:xfrm>
            <a:off x="5833032" y="4988976"/>
            <a:ext cx="1198179" cy="503452"/>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משתמשים</a:t>
            </a:r>
          </a:p>
        </p:txBody>
      </p:sp>
      <p:sp>
        <p:nvSpPr>
          <p:cNvPr id="10" name="מלבן: פינות מעוגלות 9">
            <a:extLst>
              <a:ext uri="{FF2B5EF4-FFF2-40B4-BE49-F238E27FC236}">
                <a16:creationId xmlns:a16="http://schemas.microsoft.com/office/drawing/2014/main" id="{B17B5C62-1772-1F2A-A506-CA6D43CB313B}"/>
              </a:ext>
            </a:extLst>
          </p:cNvPr>
          <p:cNvSpPr/>
          <p:nvPr/>
        </p:nvSpPr>
        <p:spPr>
          <a:xfrm>
            <a:off x="3608560" y="5016865"/>
            <a:ext cx="1198179" cy="503451"/>
          </a:xfrm>
          <a:prstGeom prst="roundRect">
            <a:avLst/>
          </a:prstGeom>
          <a:noFill/>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הזמנות</a:t>
            </a:r>
          </a:p>
        </p:txBody>
      </p:sp>
      <p:sp>
        <p:nvSpPr>
          <p:cNvPr id="11" name="מלבן: פינות מעוגלות 10">
            <a:extLst>
              <a:ext uri="{FF2B5EF4-FFF2-40B4-BE49-F238E27FC236}">
                <a16:creationId xmlns:a16="http://schemas.microsoft.com/office/drawing/2014/main" id="{CDC07687-DE80-3345-3A9A-DF14677F821C}"/>
              </a:ext>
            </a:extLst>
          </p:cNvPr>
          <p:cNvSpPr/>
          <p:nvPr/>
        </p:nvSpPr>
        <p:spPr>
          <a:xfrm>
            <a:off x="775399" y="4575621"/>
            <a:ext cx="1198179" cy="496042"/>
          </a:xfrm>
          <a:prstGeom prst="roundRect">
            <a:avLst/>
          </a:prstGeom>
          <a:noFill/>
          <a:ln w="19050"/>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פירוט הזמנה</a:t>
            </a:r>
          </a:p>
        </p:txBody>
      </p:sp>
      <p:sp>
        <p:nvSpPr>
          <p:cNvPr id="12" name="מלבן: פינות מעוגלות 11">
            <a:extLst>
              <a:ext uri="{FF2B5EF4-FFF2-40B4-BE49-F238E27FC236}">
                <a16:creationId xmlns:a16="http://schemas.microsoft.com/office/drawing/2014/main" id="{ECEE5B91-E536-10F9-B50C-6FA860B5E841}"/>
              </a:ext>
            </a:extLst>
          </p:cNvPr>
          <p:cNvSpPr/>
          <p:nvPr/>
        </p:nvSpPr>
        <p:spPr>
          <a:xfrm>
            <a:off x="7903767" y="1991992"/>
            <a:ext cx="1198179" cy="503452"/>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רמה</a:t>
            </a:r>
          </a:p>
        </p:txBody>
      </p:sp>
      <p:sp>
        <p:nvSpPr>
          <p:cNvPr id="14" name="מלבן: פינות מעוגלות 13">
            <a:extLst>
              <a:ext uri="{FF2B5EF4-FFF2-40B4-BE49-F238E27FC236}">
                <a16:creationId xmlns:a16="http://schemas.microsoft.com/office/drawing/2014/main" id="{B4E01C0D-FA9F-0ED8-5A2D-B06BF993D822}"/>
              </a:ext>
            </a:extLst>
          </p:cNvPr>
          <p:cNvSpPr/>
          <p:nvPr/>
        </p:nvSpPr>
        <p:spPr>
          <a:xfrm>
            <a:off x="10481048" y="4226878"/>
            <a:ext cx="1198179" cy="480207"/>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מתנדבים</a:t>
            </a:r>
          </a:p>
        </p:txBody>
      </p:sp>
      <p:sp>
        <p:nvSpPr>
          <p:cNvPr id="16" name="מלבן: פינות מעוגלות 15">
            <a:extLst>
              <a:ext uri="{FF2B5EF4-FFF2-40B4-BE49-F238E27FC236}">
                <a16:creationId xmlns:a16="http://schemas.microsoft.com/office/drawing/2014/main" id="{D4E3E34B-6B31-1D26-03BB-94344D39016A}"/>
              </a:ext>
            </a:extLst>
          </p:cNvPr>
          <p:cNvSpPr/>
          <p:nvPr/>
        </p:nvSpPr>
        <p:spPr>
          <a:xfrm>
            <a:off x="2791477" y="1957754"/>
            <a:ext cx="1198179" cy="503453"/>
          </a:xfrm>
          <a:prstGeom prst="roundRect">
            <a:avLst/>
          </a:prstGeom>
          <a:noFill/>
          <a:ln w="19050"/>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שיעורים</a:t>
            </a:r>
          </a:p>
        </p:txBody>
      </p:sp>
      <p:sp>
        <p:nvSpPr>
          <p:cNvPr id="17" name="מלבן: פינות מעוגלות 16">
            <a:extLst>
              <a:ext uri="{FF2B5EF4-FFF2-40B4-BE49-F238E27FC236}">
                <a16:creationId xmlns:a16="http://schemas.microsoft.com/office/drawing/2014/main" id="{2760C48B-3081-448A-ACE6-47716C5D70A6}"/>
              </a:ext>
            </a:extLst>
          </p:cNvPr>
          <p:cNvSpPr/>
          <p:nvPr/>
        </p:nvSpPr>
        <p:spPr>
          <a:xfrm>
            <a:off x="8602353" y="4963555"/>
            <a:ext cx="1198179" cy="506198"/>
          </a:xfrm>
          <a:prstGeom prst="roundRect">
            <a:avLst/>
          </a:prstGeom>
          <a:noFill/>
          <a:ln w="19050">
            <a:solidFill>
              <a:schemeClr val="accent2"/>
            </a:solidFill>
          </a:ln>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ea typeface="Calibri" panose="020F0502020204030204" pitchFamily="34" charset="0"/>
                <a:cs typeface="David" panose="020E0502060401010101" pitchFamily="34" charset="-79"/>
              </a:rPr>
              <a:t>שיבוץ התנדבויות </a:t>
            </a:r>
          </a:p>
        </p:txBody>
      </p:sp>
      <p:sp>
        <p:nvSpPr>
          <p:cNvPr id="18" name="מלבן: פינות מעוגלות 17">
            <a:extLst>
              <a:ext uri="{FF2B5EF4-FFF2-40B4-BE49-F238E27FC236}">
                <a16:creationId xmlns:a16="http://schemas.microsoft.com/office/drawing/2014/main" id="{C552C6C4-7475-2C76-0642-90B6D3288764}"/>
              </a:ext>
            </a:extLst>
          </p:cNvPr>
          <p:cNvSpPr/>
          <p:nvPr/>
        </p:nvSpPr>
        <p:spPr>
          <a:xfrm>
            <a:off x="791363" y="2528035"/>
            <a:ext cx="1198179" cy="503453"/>
          </a:xfrm>
          <a:prstGeom prst="roundRect">
            <a:avLst/>
          </a:prstGeom>
          <a:noFill/>
          <a:ln w="19050"/>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מקצועות</a:t>
            </a:r>
          </a:p>
        </p:txBody>
      </p:sp>
      <p:cxnSp>
        <p:nvCxnSpPr>
          <p:cNvPr id="20" name="מחבר ישר 19">
            <a:extLst>
              <a:ext uri="{FF2B5EF4-FFF2-40B4-BE49-F238E27FC236}">
                <a16:creationId xmlns:a16="http://schemas.microsoft.com/office/drawing/2014/main" id="{F938480C-128E-983B-5557-47B701B50C32}"/>
              </a:ext>
            </a:extLst>
          </p:cNvPr>
          <p:cNvCxnSpPr>
            <a:cxnSpLocks/>
            <a:stCxn id="17" idx="2"/>
            <a:endCxn id="96" idx="7"/>
          </p:cNvCxnSpPr>
          <p:nvPr/>
        </p:nvCxnSpPr>
        <p:spPr>
          <a:xfrm flipH="1">
            <a:off x="8891964" y="5469753"/>
            <a:ext cx="309479" cy="56555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מחבר ישר 21">
            <a:extLst>
              <a:ext uri="{FF2B5EF4-FFF2-40B4-BE49-F238E27FC236}">
                <a16:creationId xmlns:a16="http://schemas.microsoft.com/office/drawing/2014/main" id="{3C393F3C-095E-4A2C-8B21-D1E7C5553FD9}"/>
              </a:ext>
            </a:extLst>
          </p:cNvPr>
          <p:cNvCxnSpPr>
            <a:cxnSpLocks/>
            <a:stCxn id="17" idx="2"/>
            <a:endCxn id="98" idx="1"/>
          </p:cNvCxnSpPr>
          <p:nvPr/>
        </p:nvCxnSpPr>
        <p:spPr>
          <a:xfrm>
            <a:off x="9201443" y="5469753"/>
            <a:ext cx="294226" cy="609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מחבר ישר 22">
            <a:extLst>
              <a:ext uri="{FF2B5EF4-FFF2-40B4-BE49-F238E27FC236}">
                <a16:creationId xmlns:a16="http://schemas.microsoft.com/office/drawing/2014/main" id="{56463D91-3441-929C-4DE8-E0F5B14876E3}"/>
              </a:ext>
            </a:extLst>
          </p:cNvPr>
          <p:cNvCxnSpPr>
            <a:cxnSpLocks/>
            <a:stCxn id="14" idx="2"/>
            <a:endCxn id="99" idx="1"/>
          </p:cNvCxnSpPr>
          <p:nvPr/>
        </p:nvCxnSpPr>
        <p:spPr>
          <a:xfrm>
            <a:off x="11080138" y="4707085"/>
            <a:ext cx="312532" cy="8463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מחבר ישר 31">
            <a:extLst>
              <a:ext uri="{FF2B5EF4-FFF2-40B4-BE49-F238E27FC236}">
                <a16:creationId xmlns:a16="http://schemas.microsoft.com/office/drawing/2014/main" id="{964E8F89-3C4D-230C-5A42-17E74318F402}"/>
              </a:ext>
            </a:extLst>
          </p:cNvPr>
          <p:cNvCxnSpPr>
            <a:cxnSpLocks/>
            <a:stCxn id="17" idx="2"/>
            <a:endCxn id="87" idx="0"/>
          </p:cNvCxnSpPr>
          <p:nvPr/>
        </p:nvCxnSpPr>
        <p:spPr>
          <a:xfrm flipH="1">
            <a:off x="9060436" y="5469753"/>
            <a:ext cx="141007" cy="82439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מחבר ישר 33">
            <a:extLst>
              <a:ext uri="{FF2B5EF4-FFF2-40B4-BE49-F238E27FC236}">
                <a16:creationId xmlns:a16="http://schemas.microsoft.com/office/drawing/2014/main" id="{5499E702-FC70-4635-6159-F38DA03EACD1}"/>
              </a:ext>
            </a:extLst>
          </p:cNvPr>
          <p:cNvCxnSpPr>
            <a:cxnSpLocks/>
            <a:stCxn id="102" idx="1"/>
            <a:endCxn id="17" idx="2"/>
          </p:cNvCxnSpPr>
          <p:nvPr/>
        </p:nvCxnSpPr>
        <p:spPr>
          <a:xfrm flipH="1" flipV="1">
            <a:off x="9201443" y="5469753"/>
            <a:ext cx="409735" cy="11101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מחבר ישר 34">
            <a:extLst>
              <a:ext uri="{FF2B5EF4-FFF2-40B4-BE49-F238E27FC236}">
                <a16:creationId xmlns:a16="http://schemas.microsoft.com/office/drawing/2014/main" id="{6D7A385A-85BF-6413-1B28-6B37559010DE}"/>
              </a:ext>
            </a:extLst>
          </p:cNvPr>
          <p:cNvCxnSpPr>
            <a:cxnSpLocks/>
            <a:stCxn id="101" idx="7"/>
            <a:endCxn id="17" idx="2"/>
          </p:cNvCxnSpPr>
          <p:nvPr/>
        </p:nvCxnSpPr>
        <p:spPr>
          <a:xfrm flipV="1">
            <a:off x="8830548" y="5469753"/>
            <a:ext cx="370895" cy="1114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מחבר ישר 35">
            <a:extLst>
              <a:ext uri="{FF2B5EF4-FFF2-40B4-BE49-F238E27FC236}">
                <a16:creationId xmlns:a16="http://schemas.microsoft.com/office/drawing/2014/main" id="{E2888FF8-27E8-B878-0833-F883D0FD60C7}"/>
              </a:ext>
            </a:extLst>
          </p:cNvPr>
          <p:cNvCxnSpPr>
            <a:cxnSpLocks/>
            <a:stCxn id="14" idx="1"/>
          </p:cNvCxnSpPr>
          <p:nvPr/>
        </p:nvCxnSpPr>
        <p:spPr>
          <a:xfrm flipH="1" flipV="1">
            <a:off x="9185571" y="4463031"/>
            <a:ext cx="1295477" cy="3951"/>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מחבר ישר 36">
            <a:extLst>
              <a:ext uri="{FF2B5EF4-FFF2-40B4-BE49-F238E27FC236}">
                <a16:creationId xmlns:a16="http://schemas.microsoft.com/office/drawing/2014/main" id="{12D2F56B-9278-06E0-8041-9517360AB461}"/>
              </a:ext>
            </a:extLst>
          </p:cNvPr>
          <p:cNvCxnSpPr>
            <a:cxnSpLocks/>
            <a:stCxn id="16" idx="0"/>
          </p:cNvCxnSpPr>
          <p:nvPr/>
        </p:nvCxnSpPr>
        <p:spPr>
          <a:xfrm flipV="1">
            <a:off x="3390567" y="1242251"/>
            <a:ext cx="0" cy="71550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8" name="מחבר ישר 37">
            <a:extLst>
              <a:ext uri="{FF2B5EF4-FFF2-40B4-BE49-F238E27FC236}">
                <a16:creationId xmlns:a16="http://schemas.microsoft.com/office/drawing/2014/main" id="{5D50B31A-3358-E4D1-1A30-ACF5072F7D7B}"/>
              </a:ext>
            </a:extLst>
          </p:cNvPr>
          <p:cNvCxnSpPr>
            <a:cxnSpLocks/>
          </p:cNvCxnSpPr>
          <p:nvPr/>
        </p:nvCxnSpPr>
        <p:spPr>
          <a:xfrm flipH="1" flipV="1">
            <a:off x="6038335" y="1837038"/>
            <a:ext cx="4754549" cy="3706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מחבר ישר 38">
            <a:extLst>
              <a:ext uri="{FF2B5EF4-FFF2-40B4-BE49-F238E27FC236}">
                <a16:creationId xmlns:a16="http://schemas.microsoft.com/office/drawing/2014/main" id="{76CB9920-76F2-04BE-1AF3-EC216886E5FF}"/>
              </a:ext>
            </a:extLst>
          </p:cNvPr>
          <p:cNvCxnSpPr>
            <a:cxnSpLocks/>
            <a:stCxn id="206" idx="1"/>
            <a:endCxn id="16" idx="3"/>
          </p:cNvCxnSpPr>
          <p:nvPr/>
        </p:nvCxnSpPr>
        <p:spPr>
          <a:xfrm flipH="1" flipV="1">
            <a:off x="3989656" y="2209481"/>
            <a:ext cx="1453224" cy="1625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מחבר ישר 40">
            <a:extLst>
              <a:ext uri="{FF2B5EF4-FFF2-40B4-BE49-F238E27FC236}">
                <a16:creationId xmlns:a16="http://schemas.microsoft.com/office/drawing/2014/main" id="{0D1B0A67-1F59-3FDE-C746-41C4606E6869}"/>
              </a:ext>
            </a:extLst>
          </p:cNvPr>
          <p:cNvCxnSpPr>
            <a:cxnSpLocks/>
            <a:stCxn id="206" idx="0"/>
          </p:cNvCxnSpPr>
          <p:nvPr/>
        </p:nvCxnSpPr>
        <p:spPr>
          <a:xfrm flipH="1" flipV="1">
            <a:off x="6038335" y="1830740"/>
            <a:ext cx="3635" cy="127724"/>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4" name="מחבר ישר 73">
            <a:extLst>
              <a:ext uri="{FF2B5EF4-FFF2-40B4-BE49-F238E27FC236}">
                <a16:creationId xmlns:a16="http://schemas.microsoft.com/office/drawing/2014/main" id="{6EDA8918-81CE-3E3C-C8F2-0FFD528F07A5}"/>
              </a:ext>
            </a:extLst>
          </p:cNvPr>
          <p:cNvCxnSpPr>
            <a:cxnSpLocks/>
            <a:stCxn id="11" idx="2"/>
            <a:endCxn id="152" idx="1"/>
          </p:cNvCxnSpPr>
          <p:nvPr/>
        </p:nvCxnSpPr>
        <p:spPr>
          <a:xfrm>
            <a:off x="1374489" y="5071663"/>
            <a:ext cx="354333" cy="14330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מחבר ישר 75">
            <a:extLst>
              <a:ext uri="{FF2B5EF4-FFF2-40B4-BE49-F238E27FC236}">
                <a16:creationId xmlns:a16="http://schemas.microsoft.com/office/drawing/2014/main" id="{A03B4D01-49B4-D4BB-8349-F2BFD659E8D8}"/>
              </a:ext>
            </a:extLst>
          </p:cNvPr>
          <p:cNvCxnSpPr>
            <a:cxnSpLocks/>
            <a:stCxn id="9" idx="2"/>
            <a:endCxn id="203" idx="2"/>
          </p:cNvCxnSpPr>
          <p:nvPr/>
        </p:nvCxnSpPr>
        <p:spPr>
          <a:xfrm>
            <a:off x="6432122" y="5492428"/>
            <a:ext cx="461469" cy="13038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7" name="מחבר ישר 76">
            <a:extLst>
              <a:ext uri="{FF2B5EF4-FFF2-40B4-BE49-F238E27FC236}">
                <a16:creationId xmlns:a16="http://schemas.microsoft.com/office/drawing/2014/main" id="{D4C80B61-FD4E-080E-78EE-219C8756D21E}"/>
              </a:ext>
            </a:extLst>
          </p:cNvPr>
          <p:cNvCxnSpPr>
            <a:cxnSpLocks/>
            <a:stCxn id="11" idx="2"/>
            <a:endCxn id="204" idx="7"/>
          </p:cNvCxnSpPr>
          <p:nvPr/>
        </p:nvCxnSpPr>
        <p:spPr>
          <a:xfrm flipH="1">
            <a:off x="998605" y="5071663"/>
            <a:ext cx="375884" cy="13265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מחבר ישר 82">
            <a:extLst>
              <a:ext uri="{FF2B5EF4-FFF2-40B4-BE49-F238E27FC236}">
                <a16:creationId xmlns:a16="http://schemas.microsoft.com/office/drawing/2014/main" id="{73799294-0FFF-E07A-E39B-E397FC8F6EA1}"/>
              </a:ext>
            </a:extLst>
          </p:cNvPr>
          <p:cNvCxnSpPr>
            <a:cxnSpLocks/>
            <a:stCxn id="16" idx="2"/>
            <a:endCxn id="178" idx="7"/>
          </p:cNvCxnSpPr>
          <p:nvPr/>
        </p:nvCxnSpPr>
        <p:spPr>
          <a:xfrm flipH="1">
            <a:off x="3274456" y="2461207"/>
            <a:ext cx="116111" cy="49855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0" name="מחבר ישר 89">
            <a:extLst>
              <a:ext uri="{FF2B5EF4-FFF2-40B4-BE49-F238E27FC236}">
                <a16:creationId xmlns:a16="http://schemas.microsoft.com/office/drawing/2014/main" id="{96495A5C-365C-7A29-F35C-A2B4CB6AE2F8}"/>
              </a:ext>
            </a:extLst>
          </p:cNvPr>
          <p:cNvCxnSpPr>
            <a:cxnSpLocks/>
          </p:cNvCxnSpPr>
          <p:nvPr/>
        </p:nvCxnSpPr>
        <p:spPr>
          <a:xfrm flipV="1">
            <a:off x="3412327" y="1216099"/>
            <a:ext cx="5570227" cy="26152"/>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2" name="מחבר ישר 91">
            <a:extLst>
              <a:ext uri="{FF2B5EF4-FFF2-40B4-BE49-F238E27FC236}">
                <a16:creationId xmlns:a16="http://schemas.microsoft.com/office/drawing/2014/main" id="{6169E2C6-A721-1C74-C8F8-9F562C517539}"/>
              </a:ext>
            </a:extLst>
          </p:cNvPr>
          <p:cNvCxnSpPr>
            <a:cxnSpLocks/>
            <a:stCxn id="14" idx="2"/>
            <a:endCxn id="148" idx="7"/>
          </p:cNvCxnSpPr>
          <p:nvPr/>
        </p:nvCxnSpPr>
        <p:spPr>
          <a:xfrm>
            <a:off x="11080138" y="4707085"/>
            <a:ext cx="15040" cy="57313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מחבר ישר 92">
            <a:extLst>
              <a:ext uri="{FF2B5EF4-FFF2-40B4-BE49-F238E27FC236}">
                <a16:creationId xmlns:a16="http://schemas.microsoft.com/office/drawing/2014/main" id="{881C4296-D13A-7117-70B3-F9917D9CB09C}"/>
              </a:ext>
            </a:extLst>
          </p:cNvPr>
          <p:cNvCxnSpPr>
            <a:cxnSpLocks/>
            <a:stCxn id="16" idx="2"/>
            <a:endCxn id="177" idx="1"/>
          </p:cNvCxnSpPr>
          <p:nvPr/>
        </p:nvCxnSpPr>
        <p:spPr>
          <a:xfrm>
            <a:off x="3390567" y="2461207"/>
            <a:ext cx="326143" cy="8851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5" name="מחבר ישר 94">
            <a:extLst>
              <a:ext uri="{FF2B5EF4-FFF2-40B4-BE49-F238E27FC236}">
                <a16:creationId xmlns:a16="http://schemas.microsoft.com/office/drawing/2014/main" id="{F66B14AB-0739-9C72-CBB3-29317097133E}"/>
              </a:ext>
            </a:extLst>
          </p:cNvPr>
          <p:cNvCxnSpPr>
            <a:cxnSpLocks/>
            <a:stCxn id="16" idx="2"/>
            <a:endCxn id="100" idx="1"/>
          </p:cNvCxnSpPr>
          <p:nvPr/>
        </p:nvCxnSpPr>
        <p:spPr>
          <a:xfrm>
            <a:off x="3390567" y="2461207"/>
            <a:ext cx="146188" cy="55822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7" name="אליפסה 86">
            <a:extLst>
              <a:ext uri="{FF2B5EF4-FFF2-40B4-BE49-F238E27FC236}">
                <a16:creationId xmlns:a16="http://schemas.microsoft.com/office/drawing/2014/main" id="{B9F89513-D4E3-43A1-A07A-08571338EAC5}"/>
              </a:ext>
            </a:extLst>
          </p:cNvPr>
          <p:cNvSpPr/>
          <p:nvPr/>
        </p:nvSpPr>
        <p:spPr>
          <a:xfrm>
            <a:off x="8666505" y="6294147"/>
            <a:ext cx="787862" cy="463114"/>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תלמיד</a:t>
            </a:r>
          </a:p>
        </p:txBody>
      </p:sp>
      <p:sp>
        <p:nvSpPr>
          <p:cNvPr id="96" name="אליפסה 95">
            <a:extLst>
              <a:ext uri="{FF2B5EF4-FFF2-40B4-BE49-F238E27FC236}">
                <a16:creationId xmlns:a16="http://schemas.microsoft.com/office/drawing/2014/main" id="{6CB72EFA-E1FD-4B2D-82DA-04DDA6F27DEE}"/>
              </a:ext>
            </a:extLst>
          </p:cNvPr>
          <p:cNvSpPr/>
          <p:nvPr/>
        </p:nvSpPr>
        <p:spPr>
          <a:xfrm>
            <a:off x="8219483" y="5987505"/>
            <a:ext cx="787861" cy="326448"/>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שובץ?</a:t>
            </a:r>
          </a:p>
        </p:txBody>
      </p:sp>
      <p:sp>
        <p:nvSpPr>
          <p:cNvPr id="98" name="אליפסה 97">
            <a:extLst>
              <a:ext uri="{FF2B5EF4-FFF2-40B4-BE49-F238E27FC236}">
                <a16:creationId xmlns:a16="http://schemas.microsoft.com/office/drawing/2014/main" id="{5681BC06-3406-453E-B64F-8C8488B7D48B}"/>
              </a:ext>
            </a:extLst>
          </p:cNvPr>
          <p:cNvSpPr/>
          <p:nvPr/>
        </p:nvSpPr>
        <p:spPr>
          <a:xfrm>
            <a:off x="9320200" y="6011871"/>
            <a:ext cx="1198179" cy="460802"/>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שיבוץ</a:t>
            </a:r>
          </a:p>
          <a:p>
            <a:pPr algn="ctr"/>
            <a:r>
              <a:rPr lang="he-IL" sz="1200" b="1" dirty="0">
                <a:solidFill>
                  <a:schemeClr val="tx1"/>
                </a:solidFill>
                <a:latin typeface="David" panose="020E0502060401010101" pitchFamily="34" charset="-79"/>
                <a:cs typeface="David" panose="020E0502060401010101" pitchFamily="34" charset="-79"/>
              </a:rPr>
              <a:t>התנדבויות</a:t>
            </a:r>
          </a:p>
        </p:txBody>
      </p:sp>
      <p:sp>
        <p:nvSpPr>
          <p:cNvPr id="99" name="אליפסה 98">
            <a:extLst>
              <a:ext uri="{FF2B5EF4-FFF2-40B4-BE49-F238E27FC236}">
                <a16:creationId xmlns:a16="http://schemas.microsoft.com/office/drawing/2014/main" id="{10786C98-7B57-41AB-A035-77C0E2836A02}"/>
              </a:ext>
            </a:extLst>
          </p:cNvPr>
          <p:cNvSpPr/>
          <p:nvPr/>
        </p:nvSpPr>
        <p:spPr>
          <a:xfrm>
            <a:off x="11273444" y="4722203"/>
            <a:ext cx="814127" cy="474676"/>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מתנדב</a:t>
            </a:r>
          </a:p>
        </p:txBody>
      </p:sp>
      <p:sp>
        <p:nvSpPr>
          <p:cNvPr id="100" name="אליפסה 99">
            <a:extLst>
              <a:ext uri="{FF2B5EF4-FFF2-40B4-BE49-F238E27FC236}">
                <a16:creationId xmlns:a16="http://schemas.microsoft.com/office/drawing/2014/main" id="{D1D37C7B-01EF-41DD-B756-ECA6366000D6}"/>
              </a:ext>
            </a:extLst>
          </p:cNvPr>
          <p:cNvSpPr/>
          <p:nvPr/>
        </p:nvSpPr>
        <p:spPr>
          <a:xfrm>
            <a:off x="3426954" y="2952840"/>
            <a:ext cx="749770"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שיעור</a:t>
            </a:r>
          </a:p>
        </p:txBody>
      </p:sp>
      <p:sp>
        <p:nvSpPr>
          <p:cNvPr id="101" name="אליפסה 100">
            <a:extLst>
              <a:ext uri="{FF2B5EF4-FFF2-40B4-BE49-F238E27FC236}">
                <a16:creationId xmlns:a16="http://schemas.microsoft.com/office/drawing/2014/main" id="{8795C684-F08E-49FF-9CE5-056C59A74C22}"/>
              </a:ext>
            </a:extLst>
          </p:cNvPr>
          <p:cNvSpPr/>
          <p:nvPr/>
        </p:nvSpPr>
        <p:spPr>
          <a:xfrm>
            <a:off x="8144775" y="5519363"/>
            <a:ext cx="803433" cy="422074"/>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תאריך ביצוע</a:t>
            </a:r>
          </a:p>
        </p:txBody>
      </p:sp>
      <p:sp>
        <p:nvSpPr>
          <p:cNvPr id="102" name="אליפסה 101">
            <a:extLst>
              <a:ext uri="{FF2B5EF4-FFF2-40B4-BE49-F238E27FC236}">
                <a16:creationId xmlns:a16="http://schemas.microsoft.com/office/drawing/2014/main" id="{62F435B5-0862-4040-9FBB-C032AB39AA40}"/>
              </a:ext>
            </a:extLst>
          </p:cNvPr>
          <p:cNvSpPr/>
          <p:nvPr/>
        </p:nvSpPr>
        <p:spPr>
          <a:xfrm>
            <a:off x="9483554" y="5512161"/>
            <a:ext cx="871470" cy="468505"/>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100" b="1" dirty="0">
                <a:solidFill>
                  <a:schemeClr val="tx1"/>
                </a:solidFill>
                <a:latin typeface="David" panose="020E0502060401010101" pitchFamily="34" charset="-79"/>
                <a:cs typeface="David" panose="020E0502060401010101" pitchFamily="34" charset="-79"/>
              </a:rPr>
              <a:t>קוד מתנדב</a:t>
            </a:r>
          </a:p>
        </p:txBody>
      </p:sp>
      <p:cxnSp>
        <p:nvCxnSpPr>
          <p:cNvPr id="143" name="מחבר ישר 142">
            <a:extLst>
              <a:ext uri="{FF2B5EF4-FFF2-40B4-BE49-F238E27FC236}">
                <a16:creationId xmlns:a16="http://schemas.microsoft.com/office/drawing/2014/main" id="{A6049DC9-E373-41B2-9F64-7C0A67B28DAF}"/>
              </a:ext>
            </a:extLst>
          </p:cNvPr>
          <p:cNvCxnSpPr>
            <a:cxnSpLocks/>
            <a:stCxn id="14" idx="2"/>
            <a:endCxn id="150" idx="1"/>
          </p:cNvCxnSpPr>
          <p:nvPr/>
        </p:nvCxnSpPr>
        <p:spPr>
          <a:xfrm>
            <a:off x="11080138" y="4707085"/>
            <a:ext cx="245273" cy="57050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4" name="מחבר ישר 143">
            <a:extLst>
              <a:ext uri="{FF2B5EF4-FFF2-40B4-BE49-F238E27FC236}">
                <a16:creationId xmlns:a16="http://schemas.microsoft.com/office/drawing/2014/main" id="{6EAD73FB-228D-4E17-A6A3-57DD1A9DDBCA}"/>
              </a:ext>
            </a:extLst>
          </p:cNvPr>
          <p:cNvCxnSpPr>
            <a:cxnSpLocks/>
            <a:stCxn id="14" idx="2"/>
            <a:endCxn id="149" idx="6"/>
          </p:cNvCxnSpPr>
          <p:nvPr/>
        </p:nvCxnSpPr>
        <p:spPr>
          <a:xfrm flipH="1">
            <a:off x="11030695" y="4707085"/>
            <a:ext cx="49443" cy="252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8" name="אליפסה 147">
            <a:extLst>
              <a:ext uri="{FF2B5EF4-FFF2-40B4-BE49-F238E27FC236}">
                <a16:creationId xmlns:a16="http://schemas.microsoft.com/office/drawing/2014/main" id="{14759B41-69F1-4331-AE6B-F6D3A6B45390}"/>
              </a:ext>
            </a:extLst>
          </p:cNvPr>
          <p:cNvSpPr/>
          <p:nvPr/>
        </p:nvSpPr>
        <p:spPr>
          <a:xfrm>
            <a:off x="10503549" y="5212242"/>
            <a:ext cx="693137" cy="464171"/>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שם פרטי</a:t>
            </a:r>
          </a:p>
        </p:txBody>
      </p:sp>
      <p:sp>
        <p:nvSpPr>
          <p:cNvPr id="149" name="אליפסה 148">
            <a:extLst>
              <a:ext uri="{FF2B5EF4-FFF2-40B4-BE49-F238E27FC236}">
                <a16:creationId xmlns:a16="http://schemas.microsoft.com/office/drawing/2014/main" id="{267DA3D1-7CB0-46E3-BBEA-26FFC2532282}"/>
              </a:ext>
            </a:extLst>
          </p:cNvPr>
          <p:cNvSpPr/>
          <p:nvPr/>
        </p:nvSpPr>
        <p:spPr>
          <a:xfrm>
            <a:off x="10133451" y="4735600"/>
            <a:ext cx="897244"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שם משפחה</a:t>
            </a:r>
          </a:p>
        </p:txBody>
      </p:sp>
      <p:sp>
        <p:nvSpPr>
          <p:cNvPr id="150" name="אליפסה 149">
            <a:extLst>
              <a:ext uri="{FF2B5EF4-FFF2-40B4-BE49-F238E27FC236}">
                <a16:creationId xmlns:a16="http://schemas.microsoft.com/office/drawing/2014/main" id="{FCBBF169-C32D-4A4F-9374-86C90A0A7A8F}"/>
              </a:ext>
            </a:extLst>
          </p:cNvPr>
          <p:cNvSpPr/>
          <p:nvPr/>
        </p:nvSpPr>
        <p:spPr>
          <a:xfrm>
            <a:off x="11233229" y="5211997"/>
            <a:ext cx="629457"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גיל</a:t>
            </a:r>
          </a:p>
        </p:txBody>
      </p:sp>
      <p:sp>
        <p:nvSpPr>
          <p:cNvPr id="152" name="אליפסה 151">
            <a:extLst>
              <a:ext uri="{FF2B5EF4-FFF2-40B4-BE49-F238E27FC236}">
                <a16:creationId xmlns:a16="http://schemas.microsoft.com/office/drawing/2014/main" id="{B1DAAABF-7286-4B6E-9106-7B9D73D4C395}"/>
              </a:ext>
            </a:extLst>
          </p:cNvPr>
          <p:cNvSpPr/>
          <p:nvPr/>
        </p:nvSpPr>
        <p:spPr>
          <a:xfrm>
            <a:off x="1610170" y="5149375"/>
            <a:ext cx="810208"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פירוט</a:t>
            </a:r>
          </a:p>
        </p:txBody>
      </p:sp>
      <p:sp>
        <p:nvSpPr>
          <p:cNvPr id="154" name="אליפסה 153">
            <a:extLst>
              <a:ext uri="{FF2B5EF4-FFF2-40B4-BE49-F238E27FC236}">
                <a16:creationId xmlns:a16="http://schemas.microsoft.com/office/drawing/2014/main" id="{1421072F-7A31-4304-944A-FBD3E40D585C}"/>
              </a:ext>
            </a:extLst>
          </p:cNvPr>
          <p:cNvSpPr/>
          <p:nvPr/>
        </p:nvSpPr>
        <p:spPr>
          <a:xfrm>
            <a:off x="1399116" y="3078665"/>
            <a:ext cx="809368"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שם מקצוע</a:t>
            </a:r>
          </a:p>
        </p:txBody>
      </p:sp>
      <p:sp>
        <p:nvSpPr>
          <p:cNvPr id="155" name="אליפסה 154">
            <a:extLst>
              <a:ext uri="{FF2B5EF4-FFF2-40B4-BE49-F238E27FC236}">
                <a16:creationId xmlns:a16="http://schemas.microsoft.com/office/drawing/2014/main" id="{ABF08453-F670-459D-A99D-274AD3BB4030}"/>
              </a:ext>
            </a:extLst>
          </p:cNvPr>
          <p:cNvSpPr/>
          <p:nvPr/>
        </p:nvSpPr>
        <p:spPr>
          <a:xfrm>
            <a:off x="4374313" y="5590172"/>
            <a:ext cx="854069" cy="428312"/>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הזמנה</a:t>
            </a:r>
          </a:p>
        </p:txBody>
      </p:sp>
      <p:sp>
        <p:nvSpPr>
          <p:cNvPr id="156" name="אליפסה 155">
            <a:extLst>
              <a:ext uri="{FF2B5EF4-FFF2-40B4-BE49-F238E27FC236}">
                <a16:creationId xmlns:a16="http://schemas.microsoft.com/office/drawing/2014/main" id="{A7A9E693-DC9D-4341-A22C-474B11F925ED}"/>
              </a:ext>
            </a:extLst>
          </p:cNvPr>
          <p:cNvSpPr/>
          <p:nvPr/>
        </p:nvSpPr>
        <p:spPr>
          <a:xfrm>
            <a:off x="5791005" y="6202011"/>
            <a:ext cx="1304413" cy="466949"/>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תאריך יצירת החשבון</a:t>
            </a:r>
          </a:p>
        </p:txBody>
      </p:sp>
      <p:sp>
        <p:nvSpPr>
          <p:cNvPr id="177" name="אליפסה 176">
            <a:extLst>
              <a:ext uri="{FF2B5EF4-FFF2-40B4-BE49-F238E27FC236}">
                <a16:creationId xmlns:a16="http://schemas.microsoft.com/office/drawing/2014/main" id="{9449576F-8883-45C3-8FA0-622E21B98042}"/>
              </a:ext>
            </a:extLst>
          </p:cNvPr>
          <p:cNvSpPr/>
          <p:nvPr/>
        </p:nvSpPr>
        <p:spPr>
          <a:xfrm>
            <a:off x="3605632" y="2483128"/>
            <a:ext cx="758487"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נושא שיעור</a:t>
            </a:r>
          </a:p>
        </p:txBody>
      </p:sp>
      <p:sp>
        <p:nvSpPr>
          <p:cNvPr id="178" name="אליפסה 177">
            <a:extLst>
              <a:ext uri="{FF2B5EF4-FFF2-40B4-BE49-F238E27FC236}">
                <a16:creationId xmlns:a16="http://schemas.microsoft.com/office/drawing/2014/main" id="{3441D593-87A1-4F6B-A69F-91549DB28FE7}"/>
              </a:ext>
            </a:extLst>
          </p:cNvPr>
          <p:cNvSpPr/>
          <p:nvPr/>
        </p:nvSpPr>
        <p:spPr>
          <a:xfrm>
            <a:off x="2595832" y="2893169"/>
            <a:ext cx="795057"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מקצוע</a:t>
            </a:r>
          </a:p>
        </p:txBody>
      </p:sp>
      <p:sp>
        <p:nvSpPr>
          <p:cNvPr id="179" name="אליפסה 178">
            <a:extLst>
              <a:ext uri="{FF2B5EF4-FFF2-40B4-BE49-F238E27FC236}">
                <a16:creationId xmlns:a16="http://schemas.microsoft.com/office/drawing/2014/main" id="{F292C7BF-B3AD-4EE8-BFB1-D0A6E77FC8F5}"/>
              </a:ext>
            </a:extLst>
          </p:cNvPr>
          <p:cNvSpPr/>
          <p:nvPr/>
        </p:nvSpPr>
        <p:spPr>
          <a:xfrm>
            <a:off x="517320" y="3085622"/>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מקצוע</a:t>
            </a:r>
          </a:p>
        </p:txBody>
      </p:sp>
      <p:sp>
        <p:nvSpPr>
          <p:cNvPr id="200" name="אליפסה 199">
            <a:extLst>
              <a:ext uri="{FF2B5EF4-FFF2-40B4-BE49-F238E27FC236}">
                <a16:creationId xmlns:a16="http://schemas.microsoft.com/office/drawing/2014/main" id="{8D79DCE5-AEDE-4C54-AFE0-17BA26905A9F}"/>
              </a:ext>
            </a:extLst>
          </p:cNvPr>
          <p:cNvSpPr/>
          <p:nvPr/>
        </p:nvSpPr>
        <p:spPr>
          <a:xfrm>
            <a:off x="4121348" y="6062198"/>
            <a:ext cx="1068325" cy="331132"/>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מי ביצע?</a:t>
            </a:r>
          </a:p>
        </p:txBody>
      </p:sp>
      <p:sp>
        <p:nvSpPr>
          <p:cNvPr id="201" name="אליפסה 200">
            <a:extLst>
              <a:ext uri="{FF2B5EF4-FFF2-40B4-BE49-F238E27FC236}">
                <a16:creationId xmlns:a16="http://schemas.microsoft.com/office/drawing/2014/main" id="{D5AA6B64-EE2C-4E6E-893F-0A2A8F840861}"/>
              </a:ext>
            </a:extLst>
          </p:cNvPr>
          <p:cNvSpPr/>
          <p:nvPr/>
        </p:nvSpPr>
        <p:spPr>
          <a:xfrm>
            <a:off x="8435801" y="2522552"/>
            <a:ext cx="749770"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רמה</a:t>
            </a:r>
          </a:p>
        </p:txBody>
      </p:sp>
      <p:sp>
        <p:nvSpPr>
          <p:cNvPr id="202" name="אליפסה 201">
            <a:extLst>
              <a:ext uri="{FF2B5EF4-FFF2-40B4-BE49-F238E27FC236}">
                <a16:creationId xmlns:a16="http://schemas.microsoft.com/office/drawing/2014/main" id="{3E3CFD02-5F22-4F1A-8358-E60B39DBB171}"/>
              </a:ext>
            </a:extLst>
          </p:cNvPr>
          <p:cNvSpPr/>
          <p:nvPr/>
        </p:nvSpPr>
        <p:spPr>
          <a:xfrm>
            <a:off x="7667751" y="2531912"/>
            <a:ext cx="749770"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סוג רמה</a:t>
            </a:r>
          </a:p>
        </p:txBody>
      </p:sp>
      <p:sp>
        <p:nvSpPr>
          <p:cNvPr id="203" name="אליפסה 202">
            <a:extLst>
              <a:ext uri="{FF2B5EF4-FFF2-40B4-BE49-F238E27FC236}">
                <a16:creationId xmlns:a16="http://schemas.microsoft.com/office/drawing/2014/main" id="{1FBCF4F4-1037-40A0-BAD6-7435A582EFBC}"/>
              </a:ext>
            </a:extLst>
          </p:cNvPr>
          <p:cNvSpPr/>
          <p:nvPr/>
        </p:nvSpPr>
        <p:spPr>
          <a:xfrm>
            <a:off x="6893591" y="5449745"/>
            <a:ext cx="934446" cy="346142"/>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משתמש</a:t>
            </a:r>
          </a:p>
        </p:txBody>
      </p:sp>
      <p:sp>
        <p:nvSpPr>
          <p:cNvPr id="204" name="אליפסה 203">
            <a:extLst>
              <a:ext uri="{FF2B5EF4-FFF2-40B4-BE49-F238E27FC236}">
                <a16:creationId xmlns:a16="http://schemas.microsoft.com/office/drawing/2014/main" id="{322C28A8-AC12-4F05-A675-CDDAC3DE6D2B}"/>
              </a:ext>
            </a:extLst>
          </p:cNvPr>
          <p:cNvSpPr/>
          <p:nvPr/>
        </p:nvSpPr>
        <p:spPr>
          <a:xfrm>
            <a:off x="200366" y="5138723"/>
            <a:ext cx="935195"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הזמנה</a:t>
            </a:r>
          </a:p>
        </p:txBody>
      </p:sp>
      <p:sp>
        <p:nvSpPr>
          <p:cNvPr id="208" name="תיבת טקסט 207">
            <a:extLst>
              <a:ext uri="{FF2B5EF4-FFF2-40B4-BE49-F238E27FC236}">
                <a16:creationId xmlns:a16="http://schemas.microsoft.com/office/drawing/2014/main" id="{1C805702-893F-4F30-91CF-C56798953C30}"/>
              </a:ext>
            </a:extLst>
          </p:cNvPr>
          <p:cNvSpPr txBox="1"/>
          <p:nvPr/>
        </p:nvSpPr>
        <p:spPr>
          <a:xfrm>
            <a:off x="5134169" y="1473112"/>
            <a:ext cx="387644" cy="369332"/>
          </a:xfrm>
          <a:prstGeom prst="rect">
            <a:avLst/>
          </a:prstGeom>
          <a:noFill/>
        </p:spPr>
        <p:txBody>
          <a:bodyPr wrap="square" rtlCol="1">
            <a:spAutoFit/>
          </a:bodyPr>
          <a:lstStyle/>
          <a:p>
            <a:r>
              <a:rPr lang="he-IL" dirty="0"/>
              <a:t>1</a:t>
            </a:r>
          </a:p>
        </p:txBody>
      </p:sp>
      <p:sp>
        <p:nvSpPr>
          <p:cNvPr id="211" name="תיבת טקסט 210">
            <a:extLst>
              <a:ext uri="{FF2B5EF4-FFF2-40B4-BE49-F238E27FC236}">
                <a16:creationId xmlns:a16="http://schemas.microsoft.com/office/drawing/2014/main" id="{19DDDE8F-6007-4A9F-B081-489C2F1A3D7E}"/>
              </a:ext>
            </a:extLst>
          </p:cNvPr>
          <p:cNvSpPr txBox="1"/>
          <p:nvPr/>
        </p:nvSpPr>
        <p:spPr>
          <a:xfrm>
            <a:off x="7440393" y="1886789"/>
            <a:ext cx="387644" cy="369332"/>
          </a:xfrm>
          <a:prstGeom prst="rect">
            <a:avLst/>
          </a:prstGeom>
          <a:noFill/>
        </p:spPr>
        <p:txBody>
          <a:bodyPr wrap="square" rtlCol="1">
            <a:spAutoFit/>
          </a:bodyPr>
          <a:lstStyle/>
          <a:p>
            <a:r>
              <a:rPr lang="he-IL" dirty="0"/>
              <a:t>1</a:t>
            </a:r>
          </a:p>
        </p:txBody>
      </p:sp>
      <p:sp>
        <p:nvSpPr>
          <p:cNvPr id="212" name="תיבת טקסט 211">
            <a:extLst>
              <a:ext uri="{FF2B5EF4-FFF2-40B4-BE49-F238E27FC236}">
                <a16:creationId xmlns:a16="http://schemas.microsoft.com/office/drawing/2014/main" id="{A39559DA-BCAA-4C7A-852B-8E1CC1110941}"/>
              </a:ext>
            </a:extLst>
          </p:cNvPr>
          <p:cNvSpPr txBox="1"/>
          <p:nvPr/>
        </p:nvSpPr>
        <p:spPr>
          <a:xfrm>
            <a:off x="1607722" y="2145800"/>
            <a:ext cx="335891" cy="369332"/>
          </a:xfrm>
          <a:prstGeom prst="rect">
            <a:avLst/>
          </a:prstGeom>
          <a:noFill/>
        </p:spPr>
        <p:txBody>
          <a:bodyPr wrap="square" rtlCol="1">
            <a:spAutoFit/>
          </a:bodyPr>
          <a:lstStyle/>
          <a:p>
            <a:r>
              <a:rPr lang="he-IL" dirty="0"/>
              <a:t>1</a:t>
            </a:r>
          </a:p>
        </p:txBody>
      </p:sp>
      <p:sp>
        <p:nvSpPr>
          <p:cNvPr id="213" name="תיבת טקסט 212">
            <a:extLst>
              <a:ext uri="{FF2B5EF4-FFF2-40B4-BE49-F238E27FC236}">
                <a16:creationId xmlns:a16="http://schemas.microsoft.com/office/drawing/2014/main" id="{E5AC03E4-D901-4B4A-88E0-7BA571E55CAF}"/>
              </a:ext>
            </a:extLst>
          </p:cNvPr>
          <p:cNvSpPr txBox="1"/>
          <p:nvPr/>
        </p:nvSpPr>
        <p:spPr>
          <a:xfrm>
            <a:off x="6326496" y="4588849"/>
            <a:ext cx="387644" cy="369332"/>
          </a:xfrm>
          <a:prstGeom prst="rect">
            <a:avLst/>
          </a:prstGeom>
          <a:noFill/>
        </p:spPr>
        <p:txBody>
          <a:bodyPr wrap="square" rtlCol="1">
            <a:spAutoFit/>
          </a:bodyPr>
          <a:lstStyle/>
          <a:p>
            <a:r>
              <a:rPr lang="he-IL" dirty="0"/>
              <a:t>1</a:t>
            </a:r>
          </a:p>
        </p:txBody>
      </p:sp>
      <p:sp>
        <p:nvSpPr>
          <p:cNvPr id="215" name="תיבת טקסט 214">
            <a:extLst>
              <a:ext uri="{FF2B5EF4-FFF2-40B4-BE49-F238E27FC236}">
                <a16:creationId xmlns:a16="http://schemas.microsoft.com/office/drawing/2014/main" id="{F79B0DAB-8D62-4FA5-B5DD-25E731E2DBFC}"/>
              </a:ext>
            </a:extLst>
          </p:cNvPr>
          <p:cNvSpPr txBox="1"/>
          <p:nvPr/>
        </p:nvSpPr>
        <p:spPr>
          <a:xfrm>
            <a:off x="9765091" y="4115074"/>
            <a:ext cx="415770" cy="369332"/>
          </a:xfrm>
          <a:prstGeom prst="rect">
            <a:avLst/>
          </a:prstGeom>
          <a:noFill/>
        </p:spPr>
        <p:txBody>
          <a:bodyPr wrap="square" rtlCol="1">
            <a:spAutoFit/>
          </a:bodyPr>
          <a:lstStyle/>
          <a:p>
            <a:r>
              <a:rPr lang="he-IL" dirty="0"/>
              <a:t>1</a:t>
            </a:r>
          </a:p>
        </p:txBody>
      </p:sp>
      <p:sp>
        <p:nvSpPr>
          <p:cNvPr id="216" name="תיבת טקסט 215">
            <a:extLst>
              <a:ext uri="{FF2B5EF4-FFF2-40B4-BE49-F238E27FC236}">
                <a16:creationId xmlns:a16="http://schemas.microsoft.com/office/drawing/2014/main" id="{6714F11E-1216-44F6-8AB5-4F293D2C8AA7}"/>
              </a:ext>
            </a:extLst>
          </p:cNvPr>
          <p:cNvSpPr txBox="1"/>
          <p:nvPr/>
        </p:nvSpPr>
        <p:spPr>
          <a:xfrm>
            <a:off x="280319" y="3607392"/>
            <a:ext cx="387644" cy="369332"/>
          </a:xfrm>
          <a:prstGeom prst="rect">
            <a:avLst/>
          </a:prstGeom>
          <a:noFill/>
        </p:spPr>
        <p:txBody>
          <a:bodyPr wrap="square" rtlCol="1">
            <a:spAutoFit/>
          </a:bodyPr>
          <a:lstStyle/>
          <a:p>
            <a:r>
              <a:rPr lang="he-IL" dirty="0"/>
              <a:t>1</a:t>
            </a:r>
          </a:p>
        </p:txBody>
      </p:sp>
      <p:sp>
        <p:nvSpPr>
          <p:cNvPr id="217" name="חץ: מחומש 216">
            <a:extLst>
              <a:ext uri="{FF2B5EF4-FFF2-40B4-BE49-F238E27FC236}">
                <a16:creationId xmlns:a16="http://schemas.microsoft.com/office/drawing/2014/main" id="{FB6CD1D5-285A-4A61-B312-ED52D7DAFE3A}"/>
              </a:ext>
            </a:extLst>
          </p:cNvPr>
          <p:cNvSpPr/>
          <p:nvPr/>
        </p:nvSpPr>
        <p:spPr>
          <a:xfrm flipH="1">
            <a:off x="9185571" y="1334363"/>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תרשים </a:t>
            </a:r>
            <a:r>
              <a:rPr lang="en-US" sz="2400" b="1" dirty="0">
                <a:solidFill>
                  <a:schemeClr val="tx1"/>
                </a:solidFill>
                <a:latin typeface="David" panose="020E0502060401010101" pitchFamily="34" charset="-79"/>
                <a:cs typeface="David" panose="020E0502060401010101" pitchFamily="34" charset="-79"/>
              </a:rPr>
              <a:t>ERD</a:t>
            </a:r>
            <a:r>
              <a:rPr lang="he-IL" sz="2400" b="1" dirty="0">
                <a:solidFill>
                  <a:schemeClr val="tx1"/>
                </a:solidFill>
                <a:latin typeface="David" panose="020E0502060401010101" pitchFamily="34" charset="-79"/>
                <a:cs typeface="David" panose="020E0502060401010101" pitchFamily="34" charset="-79"/>
              </a:rPr>
              <a:t>:</a:t>
            </a:r>
          </a:p>
        </p:txBody>
      </p:sp>
      <p:sp>
        <p:nvSpPr>
          <p:cNvPr id="252" name="תיבת טקסט 251">
            <a:extLst>
              <a:ext uri="{FF2B5EF4-FFF2-40B4-BE49-F238E27FC236}">
                <a16:creationId xmlns:a16="http://schemas.microsoft.com/office/drawing/2014/main" id="{C64FB162-EBA4-452F-AFA9-2C720C171509}"/>
              </a:ext>
            </a:extLst>
          </p:cNvPr>
          <p:cNvSpPr txBox="1"/>
          <p:nvPr/>
        </p:nvSpPr>
        <p:spPr>
          <a:xfrm>
            <a:off x="6881362" y="1886902"/>
            <a:ext cx="405999" cy="369332"/>
          </a:xfrm>
          <a:prstGeom prst="rect">
            <a:avLst/>
          </a:prstGeom>
          <a:noFill/>
        </p:spPr>
        <p:txBody>
          <a:bodyPr wrap="square" rtlCol="1">
            <a:spAutoFit/>
          </a:bodyPr>
          <a:lstStyle/>
          <a:p>
            <a:r>
              <a:rPr lang="en-US" dirty="0"/>
              <a:t>N</a:t>
            </a:r>
            <a:endParaRPr lang="he-IL" dirty="0"/>
          </a:p>
        </p:txBody>
      </p:sp>
      <p:sp>
        <p:nvSpPr>
          <p:cNvPr id="253" name="תיבת טקסט 252">
            <a:extLst>
              <a:ext uri="{FF2B5EF4-FFF2-40B4-BE49-F238E27FC236}">
                <a16:creationId xmlns:a16="http://schemas.microsoft.com/office/drawing/2014/main" id="{1E6551FA-AD75-4B99-9098-D23EE5B08C24}"/>
              </a:ext>
            </a:extLst>
          </p:cNvPr>
          <p:cNvSpPr txBox="1"/>
          <p:nvPr/>
        </p:nvSpPr>
        <p:spPr>
          <a:xfrm>
            <a:off x="280319" y="4165174"/>
            <a:ext cx="405999" cy="369332"/>
          </a:xfrm>
          <a:prstGeom prst="rect">
            <a:avLst/>
          </a:prstGeom>
          <a:noFill/>
        </p:spPr>
        <p:txBody>
          <a:bodyPr wrap="square" rtlCol="1">
            <a:spAutoFit/>
          </a:bodyPr>
          <a:lstStyle/>
          <a:p>
            <a:r>
              <a:rPr lang="en-US" dirty="0"/>
              <a:t>N</a:t>
            </a:r>
            <a:endParaRPr lang="he-IL" dirty="0"/>
          </a:p>
        </p:txBody>
      </p:sp>
      <p:sp>
        <p:nvSpPr>
          <p:cNvPr id="254" name="תיבת טקסט 253">
            <a:extLst>
              <a:ext uri="{FF2B5EF4-FFF2-40B4-BE49-F238E27FC236}">
                <a16:creationId xmlns:a16="http://schemas.microsoft.com/office/drawing/2014/main" id="{65E04C4D-7505-4DA5-AECB-B1148A653631}"/>
              </a:ext>
            </a:extLst>
          </p:cNvPr>
          <p:cNvSpPr txBox="1"/>
          <p:nvPr/>
        </p:nvSpPr>
        <p:spPr>
          <a:xfrm>
            <a:off x="9248388" y="4115074"/>
            <a:ext cx="315844" cy="369332"/>
          </a:xfrm>
          <a:prstGeom prst="rect">
            <a:avLst/>
          </a:prstGeom>
          <a:noFill/>
        </p:spPr>
        <p:txBody>
          <a:bodyPr wrap="square" rtlCol="1">
            <a:spAutoFit/>
          </a:bodyPr>
          <a:lstStyle/>
          <a:p>
            <a:r>
              <a:rPr lang="en-US" dirty="0"/>
              <a:t>N</a:t>
            </a:r>
            <a:endParaRPr lang="he-IL" dirty="0"/>
          </a:p>
        </p:txBody>
      </p:sp>
      <p:sp>
        <p:nvSpPr>
          <p:cNvPr id="255" name="תיבת טקסט 254">
            <a:extLst>
              <a:ext uri="{FF2B5EF4-FFF2-40B4-BE49-F238E27FC236}">
                <a16:creationId xmlns:a16="http://schemas.microsoft.com/office/drawing/2014/main" id="{BB454A79-8D21-4C6B-8620-1D61D0E9F72D}"/>
              </a:ext>
            </a:extLst>
          </p:cNvPr>
          <p:cNvSpPr txBox="1"/>
          <p:nvPr/>
        </p:nvSpPr>
        <p:spPr>
          <a:xfrm>
            <a:off x="2067222" y="2175650"/>
            <a:ext cx="503781" cy="369332"/>
          </a:xfrm>
          <a:prstGeom prst="rect">
            <a:avLst/>
          </a:prstGeom>
          <a:noFill/>
        </p:spPr>
        <p:txBody>
          <a:bodyPr wrap="square" rtlCol="1">
            <a:spAutoFit/>
          </a:bodyPr>
          <a:lstStyle/>
          <a:p>
            <a:r>
              <a:rPr lang="en-US" dirty="0"/>
              <a:t>N</a:t>
            </a:r>
            <a:endParaRPr lang="he-IL" dirty="0"/>
          </a:p>
        </p:txBody>
      </p:sp>
      <p:sp>
        <p:nvSpPr>
          <p:cNvPr id="256" name="תיבת טקסט 255">
            <a:extLst>
              <a:ext uri="{FF2B5EF4-FFF2-40B4-BE49-F238E27FC236}">
                <a16:creationId xmlns:a16="http://schemas.microsoft.com/office/drawing/2014/main" id="{F9D936A2-6E91-424A-B9DC-C9AA14E87DBF}"/>
              </a:ext>
            </a:extLst>
          </p:cNvPr>
          <p:cNvSpPr txBox="1"/>
          <p:nvPr/>
        </p:nvSpPr>
        <p:spPr>
          <a:xfrm>
            <a:off x="6359084" y="4017346"/>
            <a:ext cx="405999" cy="369332"/>
          </a:xfrm>
          <a:prstGeom prst="rect">
            <a:avLst/>
          </a:prstGeom>
          <a:noFill/>
        </p:spPr>
        <p:txBody>
          <a:bodyPr wrap="square" rtlCol="1">
            <a:spAutoFit/>
          </a:bodyPr>
          <a:lstStyle/>
          <a:p>
            <a:r>
              <a:rPr lang="en-US" dirty="0"/>
              <a:t>N</a:t>
            </a:r>
            <a:endParaRPr lang="he-IL" dirty="0"/>
          </a:p>
        </p:txBody>
      </p:sp>
      <p:sp>
        <p:nvSpPr>
          <p:cNvPr id="257" name="תיבת טקסט 256">
            <a:extLst>
              <a:ext uri="{FF2B5EF4-FFF2-40B4-BE49-F238E27FC236}">
                <a16:creationId xmlns:a16="http://schemas.microsoft.com/office/drawing/2014/main" id="{144A7766-E199-4578-A67A-2CAE73DBB0FB}"/>
              </a:ext>
            </a:extLst>
          </p:cNvPr>
          <p:cNvSpPr txBox="1"/>
          <p:nvPr/>
        </p:nvSpPr>
        <p:spPr>
          <a:xfrm>
            <a:off x="6022938" y="913551"/>
            <a:ext cx="405999" cy="369332"/>
          </a:xfrm>
          <a:prstGeom prst="rect">
            <a:avLst/>
          </a:prstGeom>
          <a:noFill/>
        </p:spPr>
        <p:txBody>
          <a:bodyPr wrap="square" rtlCol="1">
            <a:spAutoFit/>
          </a:bodyPr>
          <a:lstStyle/>
          <a:p>
            <a:r>
              <a:rPr lang="en-US" dirty="0"/>
              <a:t>N</a:t>
            </a:r>
            <a:endParaRPr lang="he-IL" dirty="0"/>
          </a:p>
        </p:txBody>
      </p:sp>
      <p:sp>
        <p:nvSpPr>
          <p:cNvPr id="258" name="תיבת טקסט 257">
            <a:extLst>
              <a:ext uri="{FF2B5EF4-FFF2-40B4-BE49-F238E27FC236}">
                <a16:creationId xmlns:a16="http://schemas.microsoft.com/office/drawing/2014/main" id="{D198FFBF-9046-4B6B-ADA1-BDA10E483AF3}"/>
              </a:ext>
            </a:extLst>
          </p:cNvPr>
          <p:cNvSpPr txBox="1"/>
          <p:nvPr/>
        </p:nvSpPr>
        <p:spPr>
          <a:xfrm>
            <a:off x="8314629" y="4349840"/>
            <a:ext cx="316901" cy="369332"/>
          </a:xfrm>
          <a:prstGeom prst="rect">
            <a:avLst/>
          </a:prstGeom>
          <a:noFill/>
        </p:spPr>
        <p:txBody>
          <a:bodyPr wrap="square" rtlCol="1">
            <a:spAutoFit/>
          </a:bodyPr>
          <a:lstStyle/>
          <a:p>
            <a:r>
              <a:rPr lang="en-US" dirty="0"/>
              <a:t>N</a:t>
            </a:r>
            <a:endParaRPr lang="he-IL" dirty="0"/>
          </a:p>
        </p:txBody>
      </p:sp>
      <p:cxnSp>
        <p:nvCxnSpPr>
          <p:cNvPr id="259" name="מחבר ישר 258">
            <a:extLst>
              <a:ext uri="{FF2B5EF4-FFF2-40B4-BE49-F238E27FC236}">
                <a16:creationId xmlns:a16="http://schemas.microsoft.com/office/drawing/2014/main" id="{E15B24C1-C404-469E-87E5-CD83F4B9153C}"/>
              </a:ext>
            </a:extLst>
          </p:cNvPr>
          <p:cNvCxnSpPr>
            <a:cxnSpLocks/>
            <a:stCxn id="9" idx="2"/>
            <a:endCxn id="275" idx="0"/>
          </p:cNvCxnSpPr>
          <p:nvPr/>
        </p:nvCxnSpPr>
        <p:spPr>
          <a:xfrm>
            <a:off x="6432122" y="5492428"/>
            <a:ext cx="332962" cy="2845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0" name="מחבר ישר 259">
            <a:extLst>
              <a:ext uri="{FF2B5EF4-FFF2-40B4-BE49-F238E27FC236}">
                <a16:creationId xmlns:a16="http://schemas.microsoft.com/office/drawing/2014/main" id="{BFF5EA3F-F810-4475-9957-91A21E8AF6FB}"/>
              </a:ext>
            </a:extLst>
          </p:cNvPr>
          <p:cNvCxnSpPr>
            <a:cxnSpLocks/>
            <a:stCxn id="9" idx="2"/>
            <a:endCxn id="277" idx="7"/>
          </p:cNvCxnSpPr>
          <p:nvPr/>
        </p:nvCxnSpPr>
        <p:spPr>
          <a:xfrm flipH="1">
            <a:off x="6303379" y="5492428"/>
            <a:ext cx="128743" cy="41791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1" name="מחבר ישר 260">
            <a:extLst>
              <a:ext uri="{FF2B5EF4-FFF2-40B4-BE49-F238E27FC236}">
                <a16:creationId xmlns:a16="http://schemas.microsoft.com/office/drawing/2014/main" id="{EA30EB86-D27A-4B5F-8385-CCC3B6AEA1CA}"/>
              </a:ext>
            </a:extLst>
          </p:cNvPr>
          <p:cNvCxnSpPr>
            <a:cxnSpLocks/>
            <a:stCxn id="9" idx="2"/>
            <a:endCxn id="274" idx="7"/>
          </p:cNvCxnSpPr>
          <p:nvPr/>
        </p:nvCxnSpPr>
        <p:spPr>
          <a:xfrm flipH="1">
            <a:off x="6145246" y="5492428"/>
            <a:ext cx="286876" cy="8351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2" name="מחבר ישר 261">
            <a:extLst>
              <a:ext uri="{FF2B5EF4-FFF2-40B4-BE49-F238E27FC236}">
                <a16:creationId xmlns:a16="http://schemas.microsoft.com/office/drawing/2014/main" id="{599233B9-555E-4EB1-BE1D-D8F2B9EB3A53}"/>
              </a:ext>
            </a:extLst>
          </p:cNvPr>
          <p:cNvCxnSpPr>
            <a:cxnSpLocks/>
            <a:stCxn id="9" idx="2"/>
            <a:endCxn id="156" idx="0"/>
          </p:cNvCxnSpPr>
          <p:nvPr/>
        </p:nvCxnSpPr>
        <p:spPr>
          <a:xfrm>
            <a:off x="6432122" y="5492428"/>
            <a:ext cx="11090" cy="70958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4" name="מחבר ישר 263">
            <a:extLst>
              <a:ext uri="{FF2B5EF4-FFF2-40B4-BE49-F238E27FC236}">
                <a16:creationId xmlns:a16="http://schemas.microsoft.com/office/drawing/2014/main" id="{0CBB93E8-FA05-4B30-ACEA-6E6AC8A709D1}"/>
              </a:ext>
            </a:extLst>
          </p:cNvPr>
          <p:cNvCxnSpPr>
            <a:cxnSpLocks/>
            <a:stCxn id="9" idx="2"/>
          </p:cNvCxnSpPr>
          <p:nvPr/>
        </p:nvCxnSpPr>
        <p:spPr>
          <a:xfrm>
            <a:off x="6432122" y="5492428"/>
            <a:ext cx="828000" cy="387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74" name="אליפסה 273">
            <a:extLst>
              <a:ext uri="{FF2B5EF4-FFF2-40B4-BE49-F238E27FC236}">
                <a16:creationId xmlns:a16="http://schemas.microsoft.com/office/drawing/2014/main" id="{5DA28BA5-2A59-4A04-84B6-0C7AC6018EE7}"/>
              </a:ext>
            </a:extLst>
          </p:cNvPr>
          <p:cNvSpPr/>
          <p:nvPr/>
        </p:nvSpPr>
        <p:spPr>
          <a:xfrm>
            <a:off x="5520818" y="5529949"/>
            <a:ext cx="731563" cy="314045"/>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טלפון</a:t>
            </a:r>
          </a:p>
        </p:txBody>
      </p:sp>
      <p:sp>
        <p:nvSpPr>
          <p:cNvPr id="275" name="אליפסה 274">
            <a:extLst>
              <a:ext uri="{FF2B5EF4-FFF2-40B4-BE49-F238E27FC236}">
                <a16:creationId xmlns:a16="http://schemas.microsoft.com/office/drawing/2014/main" id="{FFA5C916-3620-4E5D-87AE-8FF9A8C30751}"/>
              </a:ext>
            </a:extLst>
          </p:cNvPr>
          <p:cNvSpPr/>
          <p:nvPr/>
        </p:nvSpPr>
        <p:spPr>
          <a:xfrm>
            <a:off x="6445805" y="5777017"/>
            <a:ext cx="638557" cy="169659"/>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מייל</a:t>
            </a:r>
          </a:p>
        </p:txBody>
      </p:sp>
      <p:sp>
        <p:nvSpPr>
          <p:cNvPr id="276" name="אליפסה 275">
            <a:extLst>
              <a:ext uri="{FF2B5EF4-FFF2-40B4-BE49-F238E27FC236}">
                <a16:creationId xmlns:a16="http://schemas.microsoft.com/office/drawing/2014/main" id="{A10B3A86-A068-44FE-9012-18B9FBA40DF6}"/>
              </a:ext>
            </a:extLst>
          </p:cNvPr>
          <p:cNvSpPr/>
          <p:nvPr/>
        </p:nvSpPr>
        <p:spPr>
          <a:xfrm>
            <a:off x="6926726" y="5881019"/>
            <a:ext cx="957946" cy="432934"/>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סוג משתמש</a:t>
            </a:r>
          </a:p>
        </p:txBody>
      </p:sp>
      <p:sp>
        <p:nvSpPr>
          <p:cNvPr id="277" name="אליפסה 276">
            <a:extLst>
              <a:ext uri="{FF2B5EF4-FFF2-40B4-BE49-F238E27FC236}">
                <a16:creationId xmlns:a16="http://schemas.microsoft.com/office/drawing/2014/main" id="{4863330A-09D9-4F70-9B77-65EE8AD9D2F9}"/>
              </a:ext>
            </a:extLst>
          </p:cNvPr>
          <p:cNvSpPr/>
          <p:nvPr/>
        </p:nvSpPr>
        <p:spPr>
          <a:xfrm>
            <a:off x="5540350" y="5864350"/>
            <a:ext cx="893944" cy="314045"/>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סיסמה</a:t>
            </a:r>
          </a:p>
        </p:txBody>
      </p:sp>
      <p:cxnSp>
        <p:nvCxnSpPr>
          <p:cNvPr id="318" name="מחבר ישר 317">
            <a:extLst>
              <a:ext uri="{FF2B5EF4-FFF2-40B4-BE49-F238E27FC236}">
                <a16:creationId xmlns:a16="http://schemas.microsoft.com/office/drawing/2014/main" id="{3FE5328D-73DB-49A4-AB59-A54CB41EAEAC}"/>
              </a:ext>
            </a:extLst>
          </p:cNvPr>
          <p:cNvCxnSpPr>
            <a:cxnSpLocks/>
            <a:stCxn id="12" idx="2"/>
            <a:endCxn id="201" idx="1"/>
          </p:cNvCxnSpPr>
          <p:nvPr/>
        </p:nvCxnSpPr>
        <p:spPr>
          <a:xfrm>
            <a:off x="8502857" y="2495444"/>
            <a:ext cx="42745" cy="9369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2" name="מחבר ישר 321">
            <a:extLst>
              <a:ext uri="{FF2B5EF4-FFF2-40B4-BE49-F238E27FC236}">
                <a16:creationId xmlns:a16="http://schemas.microsoft.com/office/drawing/2014/main" id="{813B85C3-4512-42E0-8AA0-526E95ECB7B2}"/>
              </a:ext>
            </a:extLst>
          </p:cNvPr>
          <p:cNvCxnSpPr>
            <a:cxnSpLocks/>
            <a:stCxn id="12" idx="2"/>
            <a:endCxn id="202" idx="7"/>
          </p:cNvCxnSpPr>
          <p:nvPr/>
        </p:nvCxnSpPr>
        <p:spPr>
          <a:xfrm flipH="1">
            <a:off x="8307720" y="2495444"/>
            <a:ext cx="195137" cy="10305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6" name="מחבר ישר 325">
            <a:extLst>
              <a:ext uri="{FF2B5EF4-FFF2-40B4-BE49-F238E27FC236}">
                <a16:creationId xmlns:a16="http://schemas.microsoft.com/office/drawing/2014/main" id="{A6564B3A-84B8-460A-B079-97B194D4151E}"/>
              </a:ext>
            </a:extLst>
          </p:cNvPr>
          <p:cNvCxnSpPr>
            <a:cxnSpLocks/>
            <a:stCxn id="18" idx="2"/>
            <a:endCxn id="154" idx="1"/>
          </p:cNvCxnSpPr>
          <p:nvPr/>
        </p:nvCxnSpPr>
        <p:spPr>
          <a:xfrm>
            <a:off x="1390453" y="3031488"/>
            <a:ext cx="127192" cy="11276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7" name="מחבר ישר 326">
            <a:extLst>
              <a:ext uri="{FF2B5EF4-FFF2-40B4-BE49-F238E27FC236}">
                <a16:creationId xmlns:a16="http://schemas.microsoft.com/office/drawing/2014/main" id="{57B4565F-A031-4ED8-8687-DE607F492AD8}"/>
              </a:ext>
            </a:extLst>
          </p:cNvPr>
          <p:cNvCxnSpPr>
            <a:cxnSpLocks/>
            <a:stCxn id="18" idx="2"/>
            <a:endCxn id="179" idx="7"/>
          </p:cNvCxnSpPr>
          <p:nvPr/>
        </p:nvCxnSpPr>
        <p:spPr>
          <a:xfrm flipH="1">
            <a:off x="1208159" y="3031488"/>
            <a:ext cx="182294" cy="12072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8" name="מחבר ישר 337">
            <a:extLst>
              <a:ext uri="{FF2B5EF4-FFF2-40B4-BE49-F238E27FC236}">
                <a16:creationId xmlns:a16="http://schemas.microsoft.com/office/drawing/2014/main" id="{046C0F4D-5754-426C-8983-101481DC543D}"/>
              </a:ext>
            </a:extLst>
          </p:cNvPr>
          <p:cNvCxnSpPr>
            <a:cxnSpLocks/>
            <a:stCxn id="10" idx="2"/>
            <a:endCxn id="200" idx="1"/>
          </p:cNvCxnSpPr>
          <p:nvPr/>
        </p:nvCxnSpPr>
        <p:spPr>
          <a:xfrm>
            <a:off x="4207650" y="5520316"/>
            <a:ext cx="70151" cy="5903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9" name="מחבר ישר 338">
            <a:extLst>
              <a:ext uri="{FF2B5EF4-FFF2-40B4-BE49-F238E27FC236}">
                <a16:creationId xmlns:a16="http://schemas.microsoft.com/office/drawing/2014/main" id="{19EA0E94-4394-4CAE-9E7A-A9F8502281D2}"/>
              </a:ext>
            </a:extLst>
          </p:cNvPr>
          <p:cNvCxnSpPr>
            <a:cxnSpLocks/>
            <a:stCxn id="10" idx="2"/>
            <a:endCxn id="155" idx="1"/>
          </p:cNvCxnSpPr>
          <p:nvPr/>
        </p:nvCxnSpPr>
        <p:spPr>
          <a:xfrm>
            <a:off x="4207650" y="5520316"/>
            <a:ext cx="291739" cy="13258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06" name="מלבן: פינות מעוגלות 205">
            <a:extLst>
              <a:ext uri="{FF2B5EF4-FFF2-40B4-BE49-F238E27FC236}">
                <a16:creationId xmlns:a16="http://schemas.microsoft.com/office/drawing/2014/main" id="{5E11C288-4A13-4897-9130-409C89E83C00}"/>
              </a:ext>
            </a:extLst>
          </p:cNvPr>
          <p:cNvSpPr/>
          <p:nvPr/>
        </p:nvSpPr>
        <p:spPr>
          <a:xfrm>
            <a:off x="5442880" y="1958464"/>
            <a:ext cx="1198179" cy="534542"/>
          </a:xfrm>
          <a:prstGeom prst="roundRect">
            <a:avLst/>
          </a:prstGeom>
          <a:noFill/>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תלמידים</a:t>
            </a:r>
          </a:p>
        </p:txBody>
      </p:sp>
      <p:sp>
        <p:nvSpPr>
          <p:cNvPr id="219" name="אליפסה 218">
            <a:extLst>
              <a:ext uri="{FF2B5EF4-FFF2-40B4-BE49-F238E27FC236}">
                <a16:creationId xmlns:a16="http://schemas.microsoft.com/office/drawing/2014/main" id="{0AE8637F-23AB-462D-89E1-1A998E61D132}"/>
              </a:ext>
            </a:extLst>
          </p:cNvPr>
          <p:cNvSpPr/>
          <p:nvPr/>
        </p:nvSpPr>
        <p:spPr>
          <a:xfrm>
            <a:off x="5218494" y="3256245"/>
            <a:ext cx="993048"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רמה תפקודית</a:t>
            </a:r>
          </a:p>
        </p:txBody>
      </p:sp>
      <p:sp>
        <p:nvSpPr>
          <p:cNvPr id="221" name="אליפסה 220">
            <a:extLst>
              <a:ext uri="{FF2B5EF4-FFF2-40B4-BE49-F238E27FC236}">
                <a16:creationId xmlns:a16="http://schemas.microsoft.com/office/drawing/2014/main" id="{51973F18-67CE-4010-897A-00443CA4DC38}"/>
              </a:ext>
            </a:extLst>
          </p:cNvPr>
          <p:cNvSpPr/>
          <p:nvPr/>
        </p:nvSpPr>
        <p:spPr>
          <a:xfrm>
            <a:off x="4731963" y="2402692"/>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תלמיד</a:t>
            </a:r>
          </a:p>
        </p:txBody>
      </p:sp>
      <p:cxnSp>
        <p:nvCxnSpPr>
          <p:cNvPr id="222" name="מחבר ישר 221">
            <a:extLst>
              <a:ext uri="{FF2B5EF4-FFF2-40B4-BE49-F238E27FC236}">
                <a16:creationId xmlns:a16="http://schemas.microsoft.com/office/drawing/2014/main" id="{EE88F3A8-AF77-4F69-BAAA-E5BE44951F18}"/>
              </a:ext>
            </a:extLst>
          </p:cNvPr>
          <p:cNvCxnSpPr>
            <a:cxnSpLocks/>
            <a:stCxn id="221" idx="6"/>
            <a:endCxn id="206" idx="2"/>
          </p:cNvCxnSpPr>
          <p:nvPr/>
        </p:nvCxnSpPr>
        <p:spPr>
          <a:xfrm flipV="1">
            <a:off x="5541331" y="2493006"/>
            <a:ext cx="500639" cy="13704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3" name="מחבר ישר 222">
            <a:extLst>
              <a:ext uri="{FF2B5EF4-FFF2-40B4-BE49-F238E27FC236}">
                <a16:creationId xmlns:a16="http://schemas.microsoft.com/office/drawing/2014/main" id="{981B9618-F6A4-41DD-8706-84B9D5CA7852}"/>
              </a:ext>
            </a:extLst>
          </p:cNvPr>
          <p:cNvCxnSpPr>
            <a:cxnSpLocks/>
            <a:stCxn id="206" idx="2"/>
            <a:endCxn id="232" idx="0"/>
          </p:cNvCxnSpPr>
          <p:nvPr/>
        </p:nvCxnSpPr>
        <p:spPr>
          <a:xfrm flipH="1">
            <a:off x="5510571" y="2493006"/>
            <a:ext cx="531399" cy="34360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4" name="מחבר ישר 223">
            <a:extLst>
              <a:ext uri="{FF2B5EF4-FFF2-40B4-BE49-F238E27FC236}">
                <a16:creationId xmlns:a16="http://schemas.microsoft.com/office/drawing/2014/main" id="{479F1058-8AB6-483F-A592-E96950925461}"/>
              </a:ext>
            </a:extLst>
          </p:cNvPr>
          <p:cNvCxnSpPr>
            <a:cxnSpLocks/>
            <a:stCxn id="206" idx="2"/>
            <a:endCxn id="219" idx="7"/>
          </p:cNvCxnSpPr>
          <p:nvPr/>
        </p:nvCxnSpPr>
        <p:spPr>
          <a:xfrm>
            <a:off x="6041970" y="2493006"/>
            <a:ext cx="24143" cy="8288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32" name="אליפסה 231">
            <a:extLst>
              <a:ext uri="{FF2B5EF4-FFF2-40B4-BE49-F238E27FC236}">
                <a16:creationId xmlns:a16="http://schemas.microsoft.com/office/drawing/2014/main" id="{637FA0EA-CA61-4146-B2B4-C2E3B28FFC1A}"/>
              </a:ext>
            </a:extLst>
          </p:cNvPr>
          <p:cNvSpPr/>
          <p:nvPr/>
        </p:nvSpPr>
        <p:spPr>
          <a:xfrm>
            <a:off x="5044529" y="2836613"/>
            <a:ext cx="932084" cy="395658"/>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מי ההורה?</a:t>
            </a:r>
          </a:p>
        </p:txBody>
      </p:sp>
      <p:cxnSp>
        <p:nvCxnSpPr>
          <p:cNvPr id="266" name="מחבר ישר 265">
            <a:extLst>
              <a:ext uri="{FF2B5EF4-FFF2-40B4-BE49-F238E27FC236}">
                <a16:creationId xmlns:a16="http://schemas.microsoft.com/office/drawing/2014/main" id="{6525EAC1-6C72-41FA-BA3F-7CA1ABB05835}"/>
              </a:ext>
            </a:extLst>
          </p:cNvPr>
          <p:cNvCxnSpPr>
            <a:cxnSpLocks/>
            <a:endCxn id="18" idx="1"/>
          </p:cNvCxnSpPr>
          <p:nvPr/>
        </p:nvCxnSpPr>
        <p:spPr>
          <a:xfrm>
            <a:off x="346719" y="2779761"/>
            <a:ext cx="444644" cy="1"/>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3" name="תרשים זרימה: החלטה 62">
            <a:extLst>
              <a:ext uri="{FF2B5EF4-FFF2-40B4-BE49-F238E27FC236}">
                <a16:creationId xmlns:a16="http://schemas.microsoft.com/office/drawing/2014/main" id="{E454FE21-61CB-444B-8B87-11A6973F043D}"/>
              </a:ext>
            </a:extLst>
          </p:cNvPr>
          <p:cNvSpPr/>
          <p:nvPr/>
        </p:nvSpPr>
        <p:spPr>
          <a:xfrm>
            <a:off x="9621240" y="4295852"/>
            <a:ext cx="358584" cy="343564"/>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278" name="מחבר ישר 277">
            <a:extLst>
              <a:ext uri="{FF2B5EF4-FFF2-40B4-BE49-F238E27FC236}">
                <a16:creationId xmlns:a16="http://schemas.microsoft.com/office/drawing/2014/main" id="{31304304-B6D8-419B-B0D7-5975A8E9D067}"/>
              </a:ext>
            </a:extLst>
          </p:cNvPr>
          <p:cNvCxnSpPr>
            <a:cxnSpLocks/>
          </p:cNvCxnSpPr>
          <p:nvPr/>
        </p:nvCxnSpPr>
        <p:spPr>
          <a:xfrm flipH="1">
            <a:off x="8971272" y="1216099"/>
            <a:ext cx="7026" cy="67069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9" name="מחבר ישר 278">
            <a:extLst>
              <a:ext uri="{FF2B5EF4-FFF2-40B4-BE49-F238E27FC236}">
                <a16:creationId xmlns:a16="http://schemas.microsoft.com/office/drawing/2014/main" id="{72B97A69-D1DD-4602-A3BD-56AB1FA57EF1}"/>
              </a:ext>
            </a:extLst>
          </p:cNvPr>
          <p:cNvCxnSpPr>
            <a:cxnSpLocks/>
          </p:cNvCxnSpPr>
          <p:nvPr/>
        </p:nvCxnSpPr>
        <p:spPr>
          <a:xfrm flipH="1">
            <a:off x="6893592" y="2385641"/>
            <a:ext cx="584973"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מחבר ישר 279">
            <a:extLst>
              <a:ext uri="{FF2B5EF4-FFF2-40B4-BE49-F238E27FC236}">
                <a16:creationId xmlns:a16="http://schemas.microsoft.com/office/drawing/2014/main" id="{F828B9A6-EABC-4C10-A3AB-AE09A45FB74A}"/>
              </a:ext>
            </a:extLst>
          </p:cNvPr>
          <p:cNvCxnSpPr>
            <a:cxnSpLocks/>
          </p:cNvCxnSpPr>
          <p:nvPr/>
        </p:nvCxnSpPr>
        <p:spPr>
          <a:xfrm flipH="1">
            <a:off x="3262702" y="4816061"/>
            <a:ext cx="11754" cy="460477"/>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1" name="מחבר ישר 280">
            <a:extLst>
              <a:ext uri="{FF2B5EF4-FFF2-40B4-BE49-F238E27FC236}">
                <a16:creationId xmlns:a16="http://schemas.microsoft.com/office/drawing/2014/main" id="{AA690C55-B8BA-4289-A805-39005743A245}"/>
              </a:ext>
            </a:extLst>
          </p:cNvPr>
          <p:cNvCxnSpPr>
            <a:cxnSpLocks/>
            <a:stCxn id="11" idx="1"/>
          </p:cNvCxnSpPr>
          <p:nvPr/>
        </p:nvCxnSpPr>
        <p:spPr>
          <a:xfrm flipH="1">
            <a:off x="333381" y="4823642"/>
            <a:ext cx="442018"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2" name="מחבר ישר 281">
            <a:extLst>
              <a:ext uri="{FF2B5EF4-FFF2-40B4-BE49-F238E27FC236}">
                <a16:creationId xmlns:a16="http://schemas.microsoft.com/office/drawing/2014/main" id="{2A646F5E-9CD1-4BFC-9224-F332E562A494}"/>
              </a:ext>
            </a:extLst>
          </p:cNvPr>
          <p:cNvCxnSpPr>
            <a:cxnSpLocks/>
          </p:cNvCxnSpPr>
          <p:nvPr/>
        </p:nvCxnSpPr>
        <p:spPr>
          <a:xfrm flipH="1">
            <a:off x="349548" y="2779761"/>
            <a:ext cx="26674" cy="2074046"/>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5" name="מחבר ישר 264">
            <a:extLst>
              <a:ext uri="{FF2B5EF4-FFF2-40B4-BE49-F238E27FC236}">
                <a16:creationId xmlns:a16="http://schemas.microsoft.com/office/drawing/2014/main" id="{85CC459B-43C7-475D-9C34-D250D70D78DD}"/>
              </a:ext>
            </a:extLst>
          </p:cNvPr>
          <p:cNvCxnSpPr>
            <a:cxnSpLocks/>
            <a:endCxn id="18" idx="0"/>
          </p:cNvCxnSpPr>
          <p:nvPr/>
        </p:nvCxnSpPr>
        <p:spPr>
          <a:xfrm flipH="1">
            <a:off x="1390453" y="2209480"/>
            <a:ext cx="8384" cy="318555"/>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0" name="מחבר ישר 309">
            <a:extLst>
              <a:ext uri="{FF2B5EF4-FFF2-40B4-BE49-F238E27FC236}">
                <a16:creationId xmlns:a16="http://schemas.microsoft.com/office/drawing/2014/main" id="{F13E7FE4-25C9-467E-B3EC-CBB651C0605D}"/>
              </a:ext>
            </a:extLst>
          </p:cNvPr>
          <p:cNvCxnSpPr>
            <a:cxnSpLocks/>
          </p:cNvCxnSpPr>
          <p:nvPr/>
        </p:nvCxnSpPr>
        <p:spPr>
          <a:xfrm>
            <a:off x="6911103" y="2243718"/>
            <a:ext cx="0" cy="14192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9" name="תרשים זרימה: החלטה 58">
            <a:extLst>
              <a:ext uri="{FF2B5EF4-FFF2-40B4-BE49-F238E27FC236}">
                <a16:creationId xmlns:a16="http://schemas.microsoft.com/office/drawing/2014/main" id="{FEBAEC6C-E46D-4E47-AC11-9A6A9068293C}"/>
              </a:ext>
            </a:extLst>
          </p:cNvPr>
          <p:cNvSpPr/>
          <p:nvPr/>
        </p:nvSpPr>
        <p:spPr>
          <a:xfrm>
            <a:off x="6417014" y="1037285"/>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cxnSp>
        <p:nvCxnSpPr>
          <p:cNvPr id="328" name="מחבר ישר 327">
            <a:extLst>
              <a:ext uri="{FF2B5EF4-FFF2-40B4-BE49-F238E27FC236}">
                <a16:creationId xmlns:a16="http://schemas.microsoft.com/office/drawing/2014/main" id="{64B91DFF-2760-49BF-8EC7-26DED00589F6}"/>
              </a:ext>
            </a:extLst>
          </p:cNvPr>
          <p:cNvCxnSpPr>
            <a:cxnSpLocks/>
          </p:cNvCxnSpPr>
          <p:nvPr/>
        </p:nvCxnSpPr>
        <p:spPr>
          <a:xfrm flipH="1">
            <a:off x="7461651" y="4668230"/>
            <a:ext cx="1721721" cy="18664"/>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9" name="מחבר ישר 328">
            <a:extLst>
              <a:ext uri="{FF2B5EF4-FFF2-40B4-BE49-F238E27FC236}">
                <a16:creationId xmlns:a16="http://schemas.microsoft.com/office/drawing/2014/main" id="{302722D7-D0D9-4AAC-82D1-196DF856A1CE}"/>
              </a:ext>
            </a:extLst>
          </p:cNvPr>
          <p:cNvCxnSpPr>
            <a:cxnSpLocks/>
          </p:cNvCxnSpPr>
          <p:nvPr/>
        </p:nvCxnSpPr>
        <p:spPr>
          <a:xfrm flipV="1">
            <a:off x="3390566" y="1477458"/>
            <a:ext cx="5111238" cy="2479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2" name="מחבר ישר 311">
            <a:extLst>
              <a:ext uri="{FF2B5EF4-FFF2-40B4-BE49-F238E27FC236}">
                <a16:creationId xmlns:a16="http://schemas.microsoft.com/office/drawing/2014/main" id="{BBF26C90-12BB-49E6-B3E6-4300D28319E7}"/>
              </a:ext>
            </a:extLst>
          </p:cNvPr>
          <p:cNvCxnSpPr>
            <a:cxnSpLocks/>
            <a:endCxn id="17" idx="0"/>
          </p:cNvCxnSpPr>
          <p:nvPr/>
        </p:nvCxnSpPr>
        <p:spPr>
          <a:xfrm>
            <a:off x="9191294" y="4483104"/>
            <a:ext cx="10149" cy="480451"/>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3" name="תרשים זרימה: החלטה 352">
            <a:extLst>
              <a:ext uri="{FF2B5EF4-FFF2-40B4-BE49-F238E27FC236}">
                <a16:creationId xmlns:a16="http://schemas.microsoft.com/office/drawing/2014/main" id="{235E9E17-E779-4B52-9EC0-5A400814A912}"/>
              </a:ext>
            </a:extLst>
          </p:cNvPr>
          <p:cNvSpPr/>
          <p:nvPr/>
        </p:nvSpPr>
        <p:spPr>
          <a:xfrm>
            <a:off x="195237" y="391170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cxnSp>
        <p:nvCxnSpPr>
          <p:cNvPr id="344" name="מחבר ישר 343">
            <a:extLst>
              <a:ext uri="{FF2B5EF4-FFF2-40B4-BE49-F238E27FC236}">
                <a16:creationId xmlns:a16="http://schemas.microsoft.com/office/drawing/2014/main" id="{0E2EEE74-F080-4760-AB6D-48C2BEB0EEFA}"/>
              </a:ext>
            </a:extLst>
          </p:cNvPr>
          <p:cNvCxnSpPr>
            <a:cxnSpLocks/>
            <a:stCxn id="12" idx="0"/>
          </p:cNvCxnSpPr>
          <p:nvPr/>
        </p:nvCxnSpPr>
        <p:spPr>
          <a:xfrm flipV="1">
            <a:off x="8502857" y="1474848"/>
            <a:ext cx="0" cy="517144"/>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2" name="מחבר ישר 351">
            <a:extLst>
              <a:ext uri="{FF2B5EF4-FFF2-40B4-BE49-F238E27FC236}">
                <a16:creationId xmlns:a16="http://schemas.microsoft.com/office/drawing/2014/main" id="{94273059-7324-407A-AC79-7F2D903D6928}"/>
              </a:ext>
            </a:extLst>
          </p:cNvPr>
          <p:cNvCxnSpPr>
            <a:cxnSpLocks/>
          </p:cNvCxnSpPr>
          <p:nvPr/>
        </p:nvCxnSpPr>
        <p:spPr>
          <a:xfrm flipV="1">
            <a:off x="7478565" y="2385642"/>
            <a:ext cx="0" cy="232144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6" name="מחבר ישר 355">
            <a:extLst>
              <a:ext uri="{FF2B5EF4-FFF2-40B4-BE49-F238E27FC236}">
                <a16:creationId xmlns:a16="http://schemas.microsoft.com/office/drawing/2014/main" id="{295CEE3C-3010-454A-BB82-7B335A1ABFBE}"/>
              </a:ext>
            </a:extLst>
          </p:cNvPr>
          <p:cNvCxnSpPr>
            <a:cxnSpLocks/>
            <a:endCxn id="184" idx="0"/>
          </p:cNvCxnSpPr>
          <p:nvPr/>
        </p:nvCxnSpPr>
        <p:spPr>
          <a:xfrm>
            <a:off x="10792883" y="1858487"/>
            <a:ext cx="1" cy="15550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8" name="תרשים זרימה: החלטה 357">
            <a:extLst>
              <a:ext uri="{FF2B5EF4-FFF2-40B4-BE49-F238E27FC236}">
                <a16:creationId xmlns:a16="http://schemas.microsoft.com/office/drawing/2014/main" id="{34306321-3F62-4FE2-A6C9-C7495EA44D52}"/>
              </a:ext>
            </a:extLst>
          </p:cNvPr>
          <p:cNvSpPr/>
          <p:nvPr/>
        </p:nvSpPr>
        <p:spPr>
          <a:xfrm>
            <a:off x="8020604" y="4504146"/>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359" name="תיבת טקסט 358">
            <a:extLst>
              <a:ext uri="{FF2B5EF4-FFF2-40B4-BE49-F238E27FC236}">
                <a16:creationId xmlns:a16="http://schemas.microsoft.com/office/drawing/2014/main" id="{ADB315A3-93BC-4FF8-B967-0BFC0122BE40}"/>
              </a:ext>
            </a:extLst>
          </p:cNvPr>
          <p:cNvSpPr txBox="1"/>
          <p:nvPr/>
        </p:nvSpPr>
        <p:spPr>
          <a:xfrm>
            <a:off x="7675497" y="4337224"/>
            <a:ext cx="387644" cy="369332"/>
          </a:xfrm>
          <a:prstGeom prst="rect">
            <a:avLst/>
          </a:prstGeom>
          <a:noFill/>
        </p:spPr>
        <p:txBody>
          <a:bodyPr wrap="square" rtlCol="1">
            <a:spAutoFit/>
          </a:bodyPr>
          <a:lstStyle/>
          <a:p>
            <a:r>
              <a:rPr lang="he-IL" dirty="0"/>
              <a:t>1</a:t>
            </a:r>
          </a:p>
        </p:txBody>
      </p:sp>
      <p:sp>
        <p:nvSpPr>
          <p:cNvPr id="360" name="תיבת טקסט 359">
            <a:extLst>
              <a:ext uri="{FF2B5EF4-FFF2-40B4-BE49-F238E27FC236}">
                <a16:creationId xmlns:a16="http://schemas.microsoft.com/office/drawing/2014/main" id="{1AE77D17-20DB-4F13-9C7A-B022479F98B4}"/>
              </a:ext>
            </a:extLst>
          </p:cNvPr>
          <p:cNvSpPr txBox="1"/>
          <p:nvPr/>
        </p:nvSpPr>
        <p:spPr>
          <a:xfrm>
            <a:off x="4388507" y="1443328"/>
            <a:ext cx="387644" cy="369332"/>
          </a:xfrm>
          <a:prstGeom prst="rect">
            <a:avLst/>
          </a:prstGeom>
          <a:noFill/>
        </p:spPr>
        <p:txBody>
          <a:bodyPr wrap="square" rtlCol="1">
            <a:spAutoFit/>
          </a:bodyPr>
          <a:lstStyle/>
          <a:p>
            <a:r>
              <a:rPr lang="en-US" dirty="0"/>
              <a:t>N</a:t>
            </a:r>
            <a:endParaRPr lang="he-IL" dirty="0"/>
          </a:p>
        </p:txBody>
      </p:sp>
      <p:sp>
        <p:nvSpPr>
          <p:cNvPr id="362" name="מציין מיקום של מספר שקופית 361">
            <a:extLst>
              <a:ext uri="{FF2B5EF4-FFF2-40B4-BE49-F238E27FC236}">
                <a16:creationId xmlns:a16="http://schemas.microsoft.com/office/drawing/2014/main" id="{B73C7543-6E25-43D2-9F11-8E1DA3CC7417}"/>
              </a:ext>
            </a:extLst>
          </p:cNvPr>
          <p:cNvSpPr>
            <a:spLocks noGrp="1"/>
          </p:cNvSpPr>
          <p:nvPr>
            <p:ph type="sldNum" sz="quarter" idx="12"/>
          </p:nvPr>
        </p:nvSpPr>
        <p:spPr>
          <a:xfrm>
            <a:off x="838200" y="6356350"/>
            <a:ext cx="512805" cy="365125"/>
          </a:xfrm>
        </p:spPr>
        <p:txBody>
          <a:bodyPr/>
          <a:lstStyle/>
          <a:p>
            <a:fld id="{9D77A262-A0C6-4C11-A684-4A90AD65C1E2}" type="slidenum">
              <a:rPr lang="he-IL" smtClean="0"/>
              <a:t>18</a:t>
            </a:fld>
            <a:endParaRPr lang="he-IL" dirty="0"/>
          </a:p>
        </p:txBody>
      </p:sp>
      <p:sp>
        <p:nvSpPr>
          <p:cNvPr id="365" name="חץ: מחומש 364">
            <a:extLst>
              <a:ext uri="{FF2B5EF4-FFF2-40B4-BE49-F238E27FC236}">
                <a16:creationId xmlns:a16="http://schemas.microsoft.com/office/drawing/2014/main" id="{E9015796-C3B9-4247-BD98-C1ED5486987D}"/>
              </a:ext>
            </a:extLst>
          </p:cNvPr>
          <p:cNvSpPr/>
          <p:nvPr/>
        </p:nvSpPr>
        <p:spPr>
          <a:xfrm flipH="1">
            <a:off x="7318806" y="250875"/>
            <a:ext cx="4341217" cy="852426"/>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a:solidFill>
                  <a:schemeClr val="tx1"/>
                </a:solidFill>
                <a:latin typeface="David" panose="020E0502060401010101" pitchFamily="34" charset="-79"/>
                <a:cs typeface="David" panose="020E0502060401010101" pitchFamily="34" charset="-79"/>
              </a:rPr>
              <a:t>חלק ג': קשרי גומלין</a:t>
            </a:r>
          </a:p>
        </p:txBody>
      </p:sp>
      <p:sp>
        <p:nvSpPr>
          <p:cNvPr id="175" name="אליפסה 174">
            <a:extLst>
              <a:ext uri="{FF2B5EF4-FFF2-40B4-BE49-F238E27FC236}">
                <a16:creationId xmlns:a16="http://schemas.microsoft.com/office/drawing/2014/main" id="{321FB415-BD25-4B3E-910A-B84EB4969F85}"/>
              </a:ext>
            </a:extLst>
          </p:cNvPr>
          <p:cNvSpPr/>
          <p:nvPr/>
        </p:nvSpPr>
        <p:spPr>
          <a:xfrm>
            <a:off x="6188637" y="3466709"/>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שם פרטי</a:t>
            </a:r>
          </a:p>
        </p:txBody>
      </p:sp>
      <p:sp>
        <p:nvSpPr>
          <p:cNvPr id="176" name="אליפסה 175">
            <a:extLst>
              <a:ext uri="{FF2B5EF4-FFF2-40B4-BE49-F238E27FC236}">
                <a16:creationId xmlns:a16="http://schemas.microsoft.com/office/drawing/2014/main" id="{C2EC82A0-FA5E-4524-A35F-AFF558B99592}"/>
              </a:ext>
            </a:extLst>
          </p:cNvPr>
          <p:cNvSpPr/>
          <p:nvPr/>
        </p:nvSpPr>
        <p:spPr>
          <a:xfrm>
            <a:off x="6407492" y="2498130"/>
            <a:ext cx="890149"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שם משפחה</a:t>
            </a:r>
          </a:p>
        </p:txBody>
      </p:sp>
      <p:sp>
        <p:nvSpPr>
          <p:cNvPr id="181" name="אליפסה 180">
            <a:extLst>
              <a:ext uri="{FF2B5EF4-FFF2-40B4-BE49-F238E27FC236}">
                <a16:creationId xmlns:a16="http://schemas.microsoft.com/office/drawing/2014/main" id="{DE178598-532B-4144-9AA2-E8628E15330C}"/>
              </a:ext>
            </a:extLst>
          </p:cNvPr>
          <p:cNvSpPr/>
          <p:nvPr/>
        </p:nvSpPr>
        <p:spPr>
          <a:xfrm>
            <a:off x="6358896" y="3006980"/>
            <a:ext cx="901226" cy="445594"/>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רוצה מתנדב?</a:t>
            </a:r>
          </a:p>
        </p:txBody>
      </p:sp>
      <p:sp>
        <p:nvSpPr>
          <p:cNvPr id="182" name="אליפסה 181">
            <a:extLst>
              <a:ext uri="{FF2B5EF4-FFF2-40B4-BE49-F238E27FC236}">
                <a16:creationId xmlns:a16="http://schemas.microsoft.com/office/drawing/2014/main" id="{D91AEE02-6276-43E9-8267-385467221048}"/>
              </a:ext>
            </a:extLst>
          </p:cNvPr>
          <p:cNvSpPr/>
          <p:nvPr/>
        </p:nvSpPr>
        <p:spPr>
          <a:xfrm>
            <a:off x="2257368" y="2447343"/>
            <a:ext cx="758487"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רמה</a:t>
            </a:r>
          </a:p>
        </p:txBody>
      </p:sp>
      <p:sp>
        <p:nvSpPr>
          <p:cNvPr id="184" name="מלבן: פינות מעוגלות 183">
            <a:extLst>
              <a:ext uri="{FF2B5EF4-FFF2-40B4-BE49-F238E27FC236}">
                <a16:creationId xmlns:a16="http://schemas.microsoft.com/office/drawing/2014/main" id="{BA7D28F9-746F-4F86-B0CA-F934A3433634}"/>
              </a:ext>
            </a:extLst>
          </p:cNvPr>
          <p:cNvSpPr/>
          <p:nvPr/>
        </p:nvSpPr>
        <p:spPr>
          <a:xfrm>
            <a:off x="10193794" y="2013990"/>
            <a:ext cx="1198179" cy="503453"/>
          </a:xfrm>
          <a:prstGeom prst="roundRect">
            <a:avLst/>
          </a:prstGeom>
          <a:noFill/>
          <a:ln w="19050"/>
        </p:spPr>
        <p:style>
          <a:lnRef idx="2">
            <a:schemeClr val="accent2"/>
          </a:lnRef>
          <a:fillRef idx="1">
            <a:schemeClr val="lt1"/>
          </a:fillRef>
          <a:effectRef idx="0">
            <a:schemeClr val="accent2"/>
          </a:effectRef>
          <a:fontRef idx="minor">
            <a:schemeClr val="dk1"/>
          </a:fontRef>
        </p:style>
        <p:txBody>
          <a:bodyPr rtlCol="1" anchor="ctr"/>
          <a:lstStyle/>
          <a:p>
            <a:pPr algn="ctr"/>
            <a:r>
              <a:rPr lang="he-IL" sz="1400" b="1" dirty="0">
                <a:latin typeface="David" panose="020E0502060401010101" pitchFamily="34" charset="-79"/>
                <a:cs typeface="David" panose="020E0502060401010101" pitchFamily="34" charset="-79"/>
              </a:rPr>
              <a:t>התקדמות התלמידים</a:t>
            </a:r>
          </a:p>
        </p:txBody>
      </p:sp>
      <p:sp>
        <p:nvSpPr>
          <p:cNvPr id="186" name="אליפסה 185">
            <a:extLst>
              <a:ext uri="{FF2B5EF4-FFF2-40B4-BE49-F238E27FC236}">
                <a16:creationId xmlns:a16="http://schemas.microsoft.com/office/drawing/2014/main" id="{CAE98604-57E9-4642-AC9A-DB5A3311269A}"/>
              </a:ext>
            </a:extLst>
          </p:cNvPr>
          <p:cNvSpPr/>
          <p:nvPr/>
        </p:nvSpPr>
        <p:spPr>
          <a:xfrm>
            <a:off x="11273444" y="2474189"/>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תלמיד</a:t>
            </a:r>
          </a:p>
        </p:txBody>
      </p:sp>
      <p:sp>
        <p:nvSpPr>
          <p:cNvPr id="187" name="אליפסה 186">
            <a:extLst>
              <a:ext uri="{FF2B5EF4-FFF2-40B4-BE49-F238E27FC236}">
                <a16:creationId xmlns:a16="http://schemas.microsoft.com/office/drawing/2014/main" id="{03E7BD67-0E7E-4DE9-AF30-B59B82174A63}"/>
              </a:ext>
            </a:extLst>
          </p:cNvPr>
          <p:cNvSpPr/>
          <p:nvPr/>
        </p:nvSpPr>
        <p:spPr>
          <a:xfrm>
            <a:off x="11068676" y="3254215"/>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שיעור</a:t>
            </a:r>
          </a:p>
        </p:txBody>
      </p:sp>
      <p:sp>
        <p:nvSpPr>
          <p:cNvPr id="188" name="אליפסה 187">
            <a:extLst>
              <a:ext uri="{FF2B5EF4-FFF2-40B4-BE49-F238E27FC236}">
                <a16:creationId xmlns:a16="http://schemas.microsoft.com/office/drawing/2014/main" id="{EF6B71D4-0E38-42F6-93E9-5B2F93C3D1A2}"/>
              </a:ext>
            </a:extLst>
          </p:cNvPr>
          <p:cNvSpPr/>
          <p:nvPr/>
        </p:nvSpPr>
        <p:spPr>
          <a:xfrm>
            <a:off x="11259891" y="2976637"/>
            <a:ext cx="577532" cy="250148"/>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ציון</a:t>
            </a:r>
          </a:p>
        </p:txBody>
      </p:sp>
      <p:sp>
        <p:nvSpPr>
          <p:cNvPr id="189" name="אליפסה 188">
            <a:extLst>
              <a:ext uri="{FF2B5EF4-FFF2-40B4-BE49-F238E27FC236}">
                <a16:creationId xmlns:a16="http://schemas.microsoft.com/office/drawing/2014/main" id="{B7ACFA07-7D2F-4054-BFC3-A195E3CCC178}"/>
              </a:ext>
            </a:extLst>
          </p:cNvPr>
          <p:cNvSpPr/>
          <p:nvPr/>
        </p:nvSpPr>
        <p:spPr>
          <a:xfrm>
            <a:off x="10012345" y="3402964"/>
            <a:ext cx="1093989"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התקדמות</a:t>
            </a:r>
          </a:p>
        </p:txBody>
      </p:sp>
      <p:sp>
        <p:nvSpPr>
          <p:cNvPr id="190" name="אליפסה 189">
            <a:extLst>
              <a:ext uri="{FF2B5EF4-FFF2-40B4-BE49-F238E27FC236}">
                <a16:creationId xmlns:a16="http://schemas.microsoft.com/office/drawing/2014/main" id="{A78EFAF7-40F4-4DC0-ACD1-3CC0B3D1C20F}"/>
              </a:ext>
            </a:extLst>
          </p:cNvPr>
          <p:cNvSpPr/>
          <p:nvPr/>
        </p:nvSpPr>
        <p:spPr>
          <a:xfrm>
            <a:off x="9420920" y="3002916"/>
            <a:ext cx="106012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מצב התקדמות</a:t>
            </a:r>
          </a:p>
        </p:txBody>
      </p:sp>
      <p:sp>
        <p:nvSpPr>
          <p:cNvPr id="192" name="אליפסה 191">
            <a:extLst>
              <a:ext uri="{FF2B5EF4-FFF2-40B4-BE49-F238E27FC236}">
                <a16:creationId xmlns:a16="http://schemas.microsoft.com/office/drawing/2014/main" id="{3C171E11-FF88-4375-8B7E-14F8240FAC13}"/>
              </a:ext>
            </a:extLst>
          </p:cNvPr>
          <p:cNvSpPr/>
          <p:nvPr/>
        </p:nvSpPr>
        <p:spPr>
          <a:xfrm>
            <a:off x="9598570" y="2538382"/>
            <a:ext cx="809368" cy="454710"/>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עדכון אחרון</a:t>
            </a:r>
          </a:p>
        </p:txBody>
      </p:sp>
      <p:sp>
        <p:nvSpPr>
          <p:cNvPr id="193" name="אליפסה 192">
            <a:extLst>
              <a:ext uri="{FF2B5EF4-FFF2-40B4-BE49-F238E27FC236}">
                <a16:creationId xmlns:a16="http://schemas.microsoft.com/office/drawing/2014/main" id="{FDB92EEF-CD55-4A7F-A969-383E203B4EB2}"/>
              </a:ext>
            </a:extLst>
          </p:cNvPr>
          <p:cNvSpPr/>
          <p:nvPr/>
        </p:nvSpPr>
        <p:spPr>
          <a:xfrm>
            <a:off x="3240751" y="5838256"/>
            <a:ext cx="902663"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תאריך הזמנה</a:t>
            </a:r>
          </a:p>
        </p:txBody>
      </p:sp>
      <p:sp>
        <p:nvSpPr>
          <p:cNvPr id="194" name="אליפסה 193">
            <a:extLst>
              <a:ext uri="{FF2B5EF4-FFF2-40B4-BE49-F238E27FC236}">
                <a16:creationId xmlns:a16="http://schemas.microsoft.com/office/drawing/2014/main" id="{3C321001-9E34-4857-B35D-DE765A00B859}"/>
              </a:ext>
            </a:extLst>
          </p:cNvPr>
          <p:cNvSpPr/>
          <p:nvPr/>
        </p:nvSpPr>
        <p:spPr>
          <a:xfrm>
            <a:off x="2763264" y="5514473"/>
            <a:ext cx="1008398" cy="331132"/>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עבור מי?</a:t>
            </a:r>
          </a:p>
        </p:txBody>
      </p:sp>
      <p:sp>
        <p:nvSpPr>
          <p:cNvPr id="205" name="אליפסה 204">
            <a:extLst>
              <a:ext uri="{FF2B5EF4-FFF2-40B4-BE49-F238E27FC236}">
                <a16:creationId xmlns:a16="http://schemas.microsoft.com/office/drawing/2014/main" id="{0DB47C9F-A4BE-44FB-ADC7-5D45C95E9E88}"/>
              </a:ext>
            </a:extLst>
          </p:cNvPr>
          <p:cNvSpPr/>
          <p:nvPr/>
        </p:nvSpPr>
        <p:spPr>
          <a:xfrm>
            <a:off x="886463" y="5488139"/>
            <a:ext cx="935195" cy="447883"/>
          </a:xfrm>
          <a:prstGeom prst="ellipse">
            <a:avLst/>
          </a:pr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200" b="1" dirty="0">
                <a:solidFill>
                  <a:schemeClr val="tx1"/>
                </a:solidFill>
                <a:latin typeface="David" panose="020E0502060401010101" pitchFamily="34" charset="-79"/>
                <a:cs typeface="David" panose="020E0502060401010101" pitchFamily="34" charset="-79"/>
              </a:rPr>
              <a:t>קוד מקצוע</a:t>
            </a:r>
          </a:p>
        </p:txBody>
      </p:sp>
      <p:cxnSp>
        <p:nvCxnSpPr>
          <p:cNvPr id="134" name="מחבר ישר 133">
            <a:extLst>
              <a:ext uri="{FF2B5EF4-FFF2-40B4-BE49-F238E27FC236}">
                <a16:creationId xmlns:a16="http://schemas.microsoft.com/office/drawing/2014/main" id="{B57BA230-CCA6-46B4-B3E5-A698FA4340B0}"/>
              </a:ext>
            </a:extLst>
          </p:cNvPr>
          <p:cNvCxnSpPr>
            <a:cxnSpLocks/>
            <a:endCxn id="189" idx="0"/>
          </p:cNvCxnSpPr>
          <p:nvPr/>
        </p:nvCxnSpPr>
        <p:spPr>
          <a:xfrm flipH="1">
            <a:off x="10559340" y="2517443"/>
            <a:ext cx="233544" cy="8855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5" name="מחבר ישר 134">
            <a:extLst>
              <a:ext uri="{FF2B5EF4-FFF2-40B4-BE49-F238E27FC236}">
                <a16:creationId xmlns:a16="http://schemas.microsoft.com/office/drawing/2014/main" id="{456FD3D0-7323-4DA1-9494-C04E9757F81A}"/>
              </a:ext>
            </a:extLst>
          </p:cNvPr>
          <p:cNvCxnSpPr>
            <a:cxnSpLocks/>
            <a:stCxn id="175" idx="1"/>
            <a:endCxn id="206" idx="2"/>
          </p:cNvCxnSpPr>
          <p:nvPr/>
        </p:nvCxnSpPr>
        <p:spPr>
          <a:xfrm flipH="1" flipV="1">
            <a:off x="6041970" y="2493006"/>
            <a:ext cx="265196" cy="104029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6" name="מחבר ישר 135">
            <a:extLst>
              <a:ext uri="{FF2B5EF4-FFF2-40B4-BE49-F238E27FC236}">
                <a16:creationId xmlns:a16="http://schemas.microsoft.com/office/drawing/2014/main" id="{7B874715-D484-4739-BADC-F7227861E015}"/>
              </a:ext>
            </a:extLst>
          </p:cNvPr>
          <p:cNvCxnSpPr>
            <a:cxnSpLocks/>
            <a:stCxn id="16" idx="2"/>
            <a:endCxn id="182" idx="6"/>
          </p:cNvCxnSpPr>
          <p:nvPr/>
        </p:nvCxnSpPr>
        <p:spPr>
          <a:xfrm flipH="1">
            <a:off x="3015855" y="2461207"/>
            <a:ext cx="374712" cy="21349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מחבר ישר 136">
            <a:extLst>
              <a:ext uri="{FF2B5EF4-FFF2-40B4-BE49-F238E27FC236}">
                <a16:creationId xmlns:a16="http://schemas.microsoft.com/office/drawing/2014/main" id="{A9517707-5D81-42DE-8CEB-D6B1D7D81A80}"/>
              </a:ext>
            </a:extLst>
          </p:cNvPr>
          <p:cNvCxnSpPr>
            <a:cxnSpLocks/>
            <a:stCxn id="176" idx="1"/>
          </p:cNvCxnSpPr>
          <p:nvPr/>
        </p:nvCxnSpPr>
        <p:spPr>
          <a:xfrm flipH="1" flipV="1">
            <a:off x="6040945" y="2493007"/>
            <a:ext cx="496906" cy="7171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מחבר ישר 137">
            <a:extLst>
              <a:ext uri="{FF2B5EF4-FFF2-40B4-BE49-F238E27FC236}">
                <a16:creationId xmlns:a16="http://schemas.microsoft.com/office/drawing/2014/main" id="{633CBE01-3E1F-4ECA-B24C-A5D6CDFE6AA7}"/>
              </a:ext>
            </a:extLst>
          </p:cNvPr>
          <p:cNvCxnSpPr>
            <a:cxnSpLocks/>
            <a:stCxn id="181" idx="1"/>
            <a:endCxn id="206" idx="2"/>
          </p:cNvCxnSpPr>
          <p:nvPr/>
        </p:nvCxnSpPr>
        <p:spPr>
          <a:xfrm flipH="1" flipV="1">
            <a:off x="6041970" y="2493006"/>
            <a:ext cx="448907" cy="5792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9" name="מחבר ישר 138">
            <a:extLst>
              <a:ext uri="{FF2B5EF4-FFF2-40B4-BE49-F238E27FC236}">
                <a16:creationId xmlns:a16="http://schemas.microsoft.com/office/drawing/2014/main" id="{90F19A90-D097-473A-9F29-F480D45973AE}"/>
              </a:ext>
            </a:extLst>
          </p:cNvPr>
          <p:cNvCxnSpPr>
            <a:cxnSpLocks/>
            <a:stCxn id="184" idx="2"/>
            <a:endCxn id="186" idx="2"/>
          </p:cNvCxnSpPr>
          <p:nvPr/>
        </p:nvCxnSpPr>
        <p:spPr>
          <a:xfrm>
            <a:off x="10792884" y="2517443"/>
            <a:ext cx="480560" cy="1841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0" name="מחבר ישר 139">
            <a:extLst>
              <a:ext uri="{FF2B5EF4-FFF2-40B4-BE49-F238E27FC236}">
                <a16:creationId xmlns:a16="http://schemas.microsoft.com/office/drawing/2014/main" id="{1F015213-CEA0-4F9E-A969-F6924807F5C2}"/>
              </a:ext>
            </a:extLst>
          </p:cNvPr>
          <p:cNvCxnSpPr>
            <a:cxnSpLocks/>
            <a:stCxn id="187" idx="1"/>
            <a:endCxn id="184" idx="2"/>
          </p:cNvCxnSpPr>
          <p:nvPr/>
        </p:nvCxnSpPr>
        <p:spPr>
          <a:xfrm flipH="1" flipV="1">
            <a:off x="10792884" y="2517443"/>
            <a:ext cx="394321" cy="80336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1" name="מחבר ישר 140">
            <a:extLst>
              <a:ext uri="{FF2B5EF4-FFF2-40B4-BE49-F238E27FC236}">
                <a16:creationId xmlns:a16="http://schemas.microsoft.com/office/drawing/2014/main" id="{7D408651-E2F5-44A1-A52D-FCA0DF5D14C0}"/>
              </a:ext>
            </a:extLst>
          </p:cNvPr>
          <p:cNvCxnSpPr>
            <a:cxnSpLocks/>
            <a:stCxn id="190" idx="7"/>
            <a:endCxn id="184" idx="2"/>
          </p:cNvCxnSpPr>
          <p:nvPr/>
        </p:nvCxnSpPr>
        <p:spPr>
          <a:xfrm flipV="1">
            <a:off x="10325796" y="2517443"/>
            <a:ext cx="467088" cy="55206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2" name="מחבר ישר 141">
            <a:extLst>
              <a:ext uri="{FF2B5EF4-FFF2-40B4-BE49-F238E27FC236}">
                <a16:creationId xmlns:a16="http://schemas.microsoft.com/office/drawing/2014/main" id="{B215F6F4-860A-427F-990D-F62C0EA0E561}"/>
              </a:ext>
            </a:extLst>
          </p:cNvPr>
          <p:cNvCxnSpPr>
            <a:cxnSpLocks/>
            <a:stCxn id="188" idx="1"/>
            <a:endCxn id="184" idx="2"/>
          </p:cNvCxnSpPr>
          <p:nvPr/>
        </p:nvCxnSpPr>
        <p:spPr>
          <a:xfrm flipH="1" flipV="1">
            <a:off x="10792884" y="2517443"/>
            <a:ext cx="551585" cy="49582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5" name="מחבר ישר 144">
            <a:extLst>
              <a:ext uri="{FF2B5EF4-FFF2-40B4-BE49-F238E27FC236}">
                <a16:creationId xmlns:a16="http://schemas.microsoft.com/office/drawing/2014/main" id="{38917857-F17C-4C75-8D1E-6289226CBF2B}"/>
              </a:ext>
            </a:extLst>
          </p:cNvPr>
          <p:cNvCxnSpPr>
            <a:cxnSpLocks/>
            <a:stCxn id="184" idx="2"/>
            <a:endCxn id="192" idx="7"/>
          </p:cNvCxnSpPr>
          <p:nvPr/>
        </p:nvCxnSpPr>
        <p:spPr>
          <a:xfrm flipH="1">
            <a:off x="10289409" y="2517443"/>
            <a:ext cx="503475" cy="875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6" name="מחבר ישר 145">
            <a:extLst>
              <a:ext uri="{FF2B5EF4-FFF2-40B4-BE49-F238E27FC236}">
                <a16:creationId xmlns:a16="http://schemas.microsoft.com/office/drawing/2014/main" id="{A244DDE7-2CB9-4269-91A9-988E000A9B2E}"/>
              </a:ext>
            </a:extLst>
          </p:cNvPr>
          <p:cNvCxnSpPr>
            <a:cxnSpLocks/>
            <a:stCxn id="194" idx="6"/>
            <a:endCxn id="10" idx="2"/>
          </p:cNvCxnSpPr>
          <p:nvPr/>
        </p:nvCxnSpPr>
        <p:spPr>
          <a:xfrm flipV="1">
            <a:off x="3771662" y="5520316"/>
            <a:ext cx="435988" cy="15972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7" name="מחבר ישר 206">
            <a:extLst>
              <a:ext uri="{FF2B5EF4-FFF2-40B4-BE49-F238E27FC236}">
                <a16:creationId xmlns:a16="http://schemas.microsoft.com/office/drawing/2014/main" id="{DED2333B-4925-43DB-8E3E-2F706A93BC61}"/>
              </a:ext>
            </a:extLst>
          </p:cNvPr>
          <p:cNvCxnSpPr>
            <a:cxnSpLocks/>
            <a:stCxn id="11" idx="2"/>
            <a:endCxn id="205" idx="0"/>
          </p:cNvCxnSpPr>
          <p:nvPr/>
        </p:nvCxnSpPr>
        <p:spPr>
          <a:xfrm flipH="1">
            <a:off x="1354061" y="5071663"/>
            <a:ext cx="20428" cy="41647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8" name="מחבר ישר 217">
            <a:extLst>
              <a:ext uri="{FF2B5EF4-FFF2-40B4-BE49-F238E27FC236}">
                <a16:creationId xmlns:a16="http://schemas.microsoft.com/office/drawing/2014/main" id="{E0A96CB8-93F4-4BE7-A048-BF7AA2349BA2}"/>
              </a:ext>
            </a:extLst>
          </p:cNvPr>
          <p:cNvCxnSpPr>
            <a:cxnSpLocks/>
            <a:stCxn id="10" idx="2"/>
            <a:endCxn id="193" idx="7"/>
          </p:cNvCxnSpPr>
          <p:nvPr/>
        </p:nvCxnSpPr>
        <p:spPr>
          <a:xfrm flipH="1">
            <a:off x="4011222" y="5520316"/>
            <a:ext cx="196428" cy="38353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מחבר ישר 266">
            <a:extLst>
              <a:ext uri="{FF2B5EF4-FFF2-40B4-BE49-F238E27FC236}">
                <a16:creationId xmlns:a16="http://schemas.microsoft.com/office/drawing/2014/main" id="{F8E47588-3DBF-4ED1-9CD3-AEE67B917C05}"/>
              </a:ext>
            </a:extLst>
          </p:cNvPr>
          <p:cNvCxnSpPr>
            <a:cxnSpLocks/>
            <a:stCxn id="206" idx="3"/>
            <a:endCxn id="12" idx="1"/>
          </p:cNvCxnSpPr>
          <p:nvPr/>
        </p:nvCxnSpPr>
        <p:spPr>
          <a:xfrm>
            <a:off x="6641059" y="2225735"/>
            <a:ext cx="1262708" cy="1798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תרשים זרימה: החלטה 64">
            <a:extLst>
              <a:ext uri="{FF2B5EF4-FFF2-40B4-BE49-F238E27FC236}">
                <a16:creationId xmlns:a16="http://schemas.microsoft.com/office/drawing/2014/main" id="{D8F9C1EE-AF71-4187-953E-AD40BC481540}"/>
              </a:ext>
            </a:extLst>
          </p:cNvPr>
          <p:cNvSpPr/>
          <p:nvPr/>
        </p:nvSpPr>
        <p:spPr>
          <a:xfrm>
            <a:off x="7198759" y="2016727"/>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cxnSp>
        <p:nvCxnSpPr>
          <p:cNvPr id="283" name="מחבר ישר 282">
            <a:extLst>
              <a:ext uri="{FF2B5EF4-FFF2-40B4-BE49-F238E27FC236}">
                <a16:creationId xmlns:a16="http://schemas.microsoft.com/office/drawing/2014/main" id="{2238B7B3-4C9A-4372-BA12-A97212CFA52B}"/>
              </a:ext>
            </a:extLst>
          </p:cNvPr>
          <p:cNvCxnSpPr>
            <a:cxnSpLocks/>
            <a:endCxn id="16" idx="1"/>
          </p:cNvCxnSpPr>
          <p:nvPr/>
        </p:nvCxnSpPr>
        <p:spPr>
          <a:xfrm>
            <a:off x="1374488" y="2194678"/>
            <a:ext cx="1416989" cy="1480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4" name="תרשים זרימה: החלטה 63">
            <a:extLst>
              <a:ext uri="{FF2B5EF4-FFF2-40B4-BE49-F238E27FC236}">
                <a16:creationId xmlns:a16="http://schemas.microsoft.com/office/drawing/2014/main" id="{33CAF8D3-77F6-4E50-813A-8208530B7C22}"/>
              </a:ext>
            </a:extLst>
          </p:cNvPr>
          <p:cNvSpPr/>
          <p:nvPr/>
        </p:nvSpPr>
        <p:spPr>
          <a:xfrm>
            <a:off x="1915865" y="201697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cxnSp>
        <p:nvCxnSpPr>
          <p:cNvPr id="273" name="מחבר ישר 272">
            <a:extLst>
              <a:ext uri="{FF2B5EF4-FFF2-40B4-BE49-F238E27FC236}">
                <a16:creationId xmlns:a16="http://schemas.microsoft.com/office/drawing/2014/main" id="{CCF12A83-F4E3-4650-81AD-B2BCAEB3E3FF}"/>
              </a:ext>
            </a:extLst>
          </p:cNvPr>
          <p:cNvCxnSpPr>
            <a:cxnSpLocks/>
            <a:endCxn id="11" idx="3"/>
          </p:cNvCxnSpPr>
          <p:nvPr/>
        </p:nvCxnSpPr>
        <p:spPr>
          <a:xfrm flipH="1">
            <a:off x="1973578" y="4808480"/>
            <a:ext cx="1300878" cy="15162"/>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5" name="מחבר ישר 284">
            <a:extLst>
              <a:ext uri="{FF2B5EF4-FFF2-40B4-BE49-F238E27FC236}">
                <a16:creationId xmlns:a16="http://schemas.microsoft.com/office/drawing/2014/main" id="{FB6CDB39-EACE-4062-82DD-586D71C2B790}"/>
              </a:ext>
            </a:extLst>
          </p:cNvPr>
          <p:cNvCxnSpPr>
            <a:cxnSpLocks/>
          </p:cNvCxnSpPr>
          <p:nvPr/>
        </p:nvCxnSpPr>
        <p:spPr>
          <a:xfrm flipH="1">
            <a:off x="6419807" y="3960736"/>
            <a:ext cx="1058759" cy="32994"/>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4" name="מחבר ישר 283">
            <a:extLst>
              <a:ext uri="{FF2B5EF4-FFF2-40B4-BE49-F238E27FC236}">
                <a16:creationId xmlns:a16="http://schemas.microsoft.com/office/drawing/2014/main" id="{74383B6E-495B-4C0C-802E-0411E080EA9A}"/>
              </a:ext>
            </a:extLst>
          </p:cNvPr>
          <p:cNvCxnSpPr>
            <a:cxnSpLocks/>
            <a:stCxn id="9" idx="0"/>
          </p:cNvCxnSpPr>
          <p:nvPr/>
        </p:nvCxnSpPr>
        <p:spPr>
          <a:xfrm flipV="1">
            <a:off x="6432122" y="3977233"/>
            <a:ext cx="0" cy="101174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תרשים זרימה: החלטה 44">
            <a:extLst>
              <a:ext uri="{FF2B5EF4-FFF2-40B4-BE49-F238E27FC236}">
                <a16:creationId xmlns:a16="http://schemas.microsoft.com/office/drawing/2014/main" id="{4BF93021-0ABF-4673-A963-8E97A71C3C07}"/>
              </a:ext>
            </a:extLst>
          </p:cNvPr>
          <p:cNvSpPr/>
          <p:nvPr/>
        </p:nvSpPr>
        <p:spPr>
          <a:xfrm>
            <a:off x="6266423" y="4325795"/>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58" name="תרשים זרימה: החלטה 57">
            <a:extLst>
              <a:ext uri="{FF2B5EF4-FFF2-40B4-BE49-F238E27FC236}">
                <a16:creationId xmlns:a16="http://schemas.microsoft.com/office/drawing/2014/main" id="{2E751F38-514A-4EF0-92A4-9BF9E0AB7AC0}"/>
              </a:ext>
            </a:extLst>
          </p:cNvPr>
          <p:cNvSpPr/>
          <p:nvPr/>
        </p:nvSpPr>
        <p:spPr>
          <a:xfrm>
            <a:off x="4830047" y="1329995"/>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4" name="תרשים זרימה: החלטה 313">
            <a:extLst>
              <a:ext uri="{FF2B5EF4-FFF2-40B4-BE49-F238E27FC236}">
                <a16:creationId xmlns:a16="http://schemas.microsoft.com/office/drawing/2014/main" id="{2BB73E00-752C-4098-A7AE-8BF87E1384FF}"/>
              </a:ext>
            </a:extLst>
          </p:cNvPr>
          <p:cNvSpPr/>
          <p:nvPr/>
        </p:nvSpPr>
        <p:spPr>
          <a:xfrm>
            <a:off x="4262669" y="2040169"/>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5" name="תרשים זרימה: החלטה 314">
            <a:extLst>
              <a:ext uri="{FF2B5EF4-FFF2-40B4-BE49-F238E27FC236}">
                <a16:creationId xmlns:a16="http://schemas.microsoft.com/office/drawing/2014/main" id="{75CA2B59-E90D-4F18-B05D-AC31E6808E4B}"/>
              </a:ext>
            </a:extLst>
          </p:cNvPr>
          <p:cNvSpPr/>
          <p:nvPr/>
        </p:nvSpPr>
        <p:spPr>
          <a:xfrm>
            <a:off x="6638403" y="168255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6" name="תרשים זרימה: החלטה 315">
            <a:extLst>
              <a:ext uri="{FF2B5EF4-FFF2-40B4-BE49-F238E27FC236}">
                <a16:creationId xmlns:a16="http://schemas.microsoft.com/office/drawing/2014/main" id="{B34352C8-4502-4E4E-B879-885F37EF6B62}"/>
              </a:ext>
            </a:extLst>
          </p:cNvPr>
          <p:cNvSpPr/>
          <p:nvPr/>
        </p:nvSpPr>
        <p:spPr>
          <a:xfrm>
            <a:off x="2629295" y="466400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7" name="תיבת טקסט 316">
            <a:extLst>
              <a:ext uri="{FF2B5EF4-FFF2-40B4-BE49-F238E27FC236}">
                <a16:creationId xmlns:a16="http://schemas.microsoft.com/office/drawing/2014/main" id="{C362FE41-614B-4FAE-9762-6B1E25AD5C03}"/>
              </a:ext>
            </a:extLst>
          </p:cNvPr>
          <p:cNvSpPr txBox="1"/>
          <p:nvPr/>
        </p:nvSpPr>
        <p:spPr>
          <a:xfrm>
            <a:off x="2846278" y="4467601"/>
            <a:ext cx="387644" cy="369332"/>
          </a:xfrm>
          <a:prstGeom prst="rect">
            <a:avLst/>
          </a:prstGeom>
          <a:noFill/>
        </p:spPr>
        <p:txBody>
          <a:bodyPr wrap="square" rtlCol="1">
            <a:spAutoFit/>
          </a:bodyPr>
          <a:lstStyle/>
          <a:p>
            <a:r>
              <a:rPr lang="he-IL" dirty="0"/>
              <a:t>1</a:t>
            </a:r>
          </a:p>
        </p:txBody>
      </p:sp>
      <p:sp>
        <p:nvSpPr>
          <p:cNvPr id="319" name="תיבת טקסט 318">
            <a:extLst>
              <a:ext uri="{FF2B5EF4-FFF2-40B4-BE49-F238E27FC236}">
                <a16:creationId xmlns:a16="http://schemas.microsoft.com/office/drawing/2014/main" id="{1CF2F257-2749-4575-AC61-B23BB638C7D9}"/>
              </a:ext>
            </a:extLst>
          </p:cNvPr>
          <p:cNvSpPr txBox="1"/>
          <p:nvPr/>
        </p:nvSpPr>
        <p:spPr>
          <a:xfrm>
            <a:off x="2249157" y="4459010"/>
            <a:ext cx="387644" cy="369332"/>
          </a:xfrm>
          <a:prstGeom prst="rect">
            <a:avLst/>
          </a:prstGeom>
          <a:noFill/>
        </p:spPr>
        <p:txBody>
          <a:bodyPr wrap="square" rtlCol="1">
            <a:spAutoFit/>
          </a:bodyPr>
          <a:lstStyle/>
          <a:p>
            <a:r>
              <a:rPr lang="en-US" dirty="0"/>
              <a:t>N</a:t>
            </a:r>
            <a:endParaRPr lang="he-IL" dirty="0"/>
          </a:p>
        </p:txBody>
      </p:sp>
      <p:sp>
        <p:nvSpPr>
          <p:cNvPr id="320" name="תיבת טקסט 319">
            <a:extLst>
              <a:ext uri="{FF2B5EF4-FFF2-40B4-BE49-F238E27FC236}">
                <a16:creationId xmlns:a16="http://schemas.microsoft.com/office/drawing/2014/main" id="{7FFC75D6-AE16-4177-B48D-EA59F5C98D75}"/>
              </a:ext>
            </a:extLst>
          </p:cNvPr>
          <p:cNvSpPr txBox="1"/>
          <p:nvPr/>
        </p:nvSpPr>
        <p:spPr>
          <a:xfrm>
            <a:off x="6966048" y="1473112"/>
            <a:ext cx="387644" cy="369332"/>
          </a:xfrm>
          <a:prstGeom prst="rect">
            <a:avLst/>
          </a:prstGeom>
          <a:noFill/>
        </p:spPr>
        <p:txBody>
          <a:bodyPr wrap="square" rtlCol="1">
            <a:spAutoFit/>
          </a:bodyPr>
          <a:lstStyle/>
          <a:p>
            <a:r>
              <a:rPr lang="en-US" dirty="0"/>
              <a:t>N</a:t>
            </a:r>
            <a:endParaRPr lang="he-IL" dirty="0"/>
          </a:p>
        </p:txBody>
      </p:sp>
      <p:sp>
        <p:nvSpPr>
          <p:cNvPr id="321" name="תיבת טקסט 320">
            <a:extLst>
              <a:ext uri="{FF2B5EF4-FFF2-40B4-BE49-F238E27FC236}">
                <a16:creationId xmlns:a16="http://schemas.microsoft.com/office/drawing/2014/main" id="{9E439B2F-9E78-40E8-A804-867F15FCABA9}"/>
              </a:ext>
            </a:extLst>
          </p:cNvPr>
          <p:cNvSpPr txBox="1"/>
          <p:nvPr/>
        </p:nvSpPr>
        <p:spPr>
          <a:xfrm>
            <a:off x="6268043" y="1481085"/>
            <a:ext cx="387644" cy="369332"/>
          </a:xfrm>
          <a:prstGeom prst="rect">
            <a:avLst/>
          </a:prstGeom>
          <a:noFill/>
        </p:spPr>
        <p:txBody>
          <a:bodyPr wrap="square" rtlCol="1">
            <a:spAutoFit/>
          </a:bodyPr>
          <a:lstStyle/>
          <a:p>
            <a:r>
              <a:rPr lang="he-IL" dirty="0"/>
              <a:t>1</a:t>
            </a:r>
          </a:p>
        </p:txBody>
      </p:sp>
      <p:cxnSp>
        <p:nvCxnSpPr>
          <p:cNvPr id="330" name="מחבר ישר 329">
            <a:extLst>
              <a:ext uri="{FF2B5EF4-FFF2-40B4-BE49-F238E27FC236}">
                <a16:creationId xmlns:a16="http://schemas.microsoft.com/office/drawing/2014/main" id="{27138648-A88F-4B7F-9866-F0FD9C9873D2}"/>
              </a:ext>
            </a:extLst>
          </p:cNvPr>
          <p:cNvCxnSpPr>
            <a:cxnSpLocks/>
            <a:stCxn id="10" idx="1"/>
          </p:cNvCxnSpPr>
          <p:nvPr/>
        </p:nvCxnSpPr>
        <p:spPr>
          <a:xfrm flipH="1">
            <a:off x="3262702" y="5268591"/>
            <a:ext cx="345858"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1" name="מחבר ישר 330">
            <a:extLst>
              <a:ext uri="{FF2B5EF4-FFF2-40B4-BE49-F238E27FC236}">
                <a16:creationId xmlns:a16="http://schemas.microsoft.com/office/drawing/2014/main" id="{28F99E82-0229-4605-9879-28934F6D6AEA}"/>
              </a:ext>
            </a:extLst>
          </p:cNvPr>
          <p:cNvCxnSpPr>
            <a:cxnSpLocks/>
          </p:cNvCxnSpPr>
          <p:nvPr/>
        </p:nvCxnSpPr>
        <p:spPr>
          <a:xfrm flipH="1">
            <a:off x="4207649" y="4545436"/>
            <a:ext cx="508619"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1" name="מחבר ישר 360">
            <a:extLst>
              <a:ext uri="{FF2B5EF4-FFF2-40B4-BE49-F238E27FC236}">
                <a16:creationId xmlns:a16="http://schemas.microsoft.com/office/drawing/2014/main" id="{3BB4AAF1-5306-4656-A313-0927EF1D72F5}"/>
              </a:ext>
            </a:extLst>
          </p:cNvPr>
          <p:cNvCxnSpPr>
            <a:cxnSpLocks/>
          </p:cNvCxnSpPr>
          <p:nvPr/>
        </p:nvCxnSpPr>
        <p:spPr>
          <a:xfrm flipH="1">
            <a:off x="4638764" y="2309738"/>
            <a:ext cx="436063" cy="7267"/>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3" name="מחבר ישר 362">
            <a:extLst>
              <a:ext uri="{FF2B5EF4-FFF2-40B4-BE49-F238E27FC236}">
                <a16:creationId xmlns:a16="http://schemas.microsoft.com/office/drawing/2014/main" id="{DD301251-E7E4-4372-923B-8A9243038078}"/>
              </a:ext>
            </a:extLst>
          </p:cNvPr>
          <p:cNvCxnSpPr>
            <a:cxnSpLocks/>
          </p:cNvCxnSpPr>
          <p:nvPr/>
        </p:nvCxnSpPr>
        <p:spPr>
          <a:xfrm>
            <a:off x="5068417" y="2225735"/>
            <a:ext cx="6619" cy="10344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4" name="מחבר ישר 363">
            <a:extLst>
              <a:ext uri="{FF2B5EF4-FFF2-40B4-BE49-F238E27FC236}">
                <a16:creationId xmlns:a16="http://schemas.microsoft.com/office/drawing/2014/main" id="{E15182F3-9266-4FAF-93E6-FC071288C718}"/>
              </a:ext>
            </a:extLst>
          </p:cNvPr>
          <p:cNvCxnSpPr>
            <a:cxnSpLocks/>
          </p:cNvCxnSpPr>
          <p:nvPr/>
        </p:nvCxnSpPr>
        <p:spPr>
          <a:xfrm>
            <a:off x="4656048" y="2295591"/>
            <a:ext cx="33170" cy="228003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6" name="מחבר ישר 365">
            <a:extLst>
              <a:ext uri="{FF2B5EF4-FFF2-40B4-BE49-F238E27FC236}">
                <a16:creationId xmlns:a16="http://schemas.microsoft.com/office/drawing/2014/main" id="{6421D100-A001-4644-A0BD-9893AA9E508A}"/>
              </a:ext>
            </a:extLst>
          </p:cNvPr>
          <p:cNvCxnSpPr>
            <a:cxnSpLocks/>
            <a:endCxn id="10" idx="0"/>
          </p:cNvCxnSpPr>
          <p:nvPr/>
        </p:nvCxnSpPr>
        <p:spPr>
          <a:xfrm>
            <a:off x="4207650" y="4523432"/>
            <a:ext cx="0" cy="493433"/>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3" name="תרשים זרימה: החלטה 312">
            <a:extLst>
              <a:ext uri="{FF2B5EF4-FFF2-40B4-BE49-F238E27FC236}">
                <a16:creationId xmlns:a16="http://schemas.microsoft.com/office/drawing/2014/main" id="{52AC6293-7E8E-4028-843A-82BD5F04DD6B}"/>
              </a:ext>
            </a:extLst>
          </p:cNvPr>
          <p:cNvSpPr/>
          <p:nvPr/>
        </p:nvSpPr>
        <p:spPr>
          <a:xfrm>
            <a:off x="4513727" y="375845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3" name="תיבת טקסט 392">
            <a:extLst>
              <a:ext uri="{FF2B5EF4-FFF2-40B4-BE49-F238E27FC236}">
                <a16:creationId xmlns:a16="http://schemas.microsoft.com/office/drawing/2014/main" id="{232CEDC9-74FD-4A92-994F-FECD9822E1D6}"/>
              </a:ext>
            </a:extLst>
          </p:cNvPr>
          <p:cNvSpPr txBox="1"/>
          <p:nvPr/>
        </p:nvSpPr>
        <p:spPr>
          <a:xfrm>
            <a:off x="4308984" y="4043480"/>
            <a:ext cx="405999" cy="369332"/>
          </a:xfrm>
          <a:prstGeom prst="rect">
            <a:avLst/>
          </a:prstGeom>
          <a:noFill/>
        </p:spPr>
        <p:txBody>
          <a:bodyPr wrap="square" rtlCol="1">
            <a:spAutoFit/>
          </a:bodyPr>
          <a:lstStyle/>
          <a:p>
            <a:r>
              <a:rPr lang="en-US" dirty="0"/>
              <a:t>N</a:t>
            </a:r>
            <a:endParaRPr lang="he-IL" dirty="0"/>
          </a:p>
        </p:txBody>
      </p:sp>
      <p:sp>
        <p:nvSpPr>
          <p:cNvPr id="395" name="תיבת טקסט 394">
            <a:extLst>
              <a:ext uri="{FF2B5EF4-FFF2-40B4-BE49-F238E27FC236}">
                <a16:creationId xmlns:a16="http://schemas.microsoft.com/office/drawing/2014/main" id="{1DB716B4-E506-4C06-A3E2-E82A7E99AD61}"/>
              </a:ext>
            </a:extLst>
          </p:cNvPr>
          <p:cNvSpPr txBox="1"/>
          <p:nvPr/>
        </p:nvSpPr>
        <p:spPr>
          <a:xfrm>
            <a:off x="3944813" y="1869566"/>
            <a:ext cx="405999" cy="369332"/>
          </a:xfrm>
          <a:prstGeom prst="rect">
            <a:avLst/>
          </a:prstGeom>
          <a:noFill/>
        </p:spPr>
        <p:txBody>
          <a:bodyPr wrap="square" rtlCol="1">
            <a:spAutoFit/>
          </a:bodyPr>
          <a:lstStyle/>
          <a:p>
            <a:r>
              <a:rPr lang="en-US" dirty="0"/>
              <a:t>N</a:t>
            </a:r>
            <a:endParaRPr lang="he-IL" dirty="0"/>
          </a:p>
        </p:txBody>
      </p:sp>
      <p:sp>
        <p:nvSpPr>
          <p:cNvPr id="396" name="תיבת טקסט 395">
            <a:extLst>
              <a:ext uri="{FF2B5EF4-FFF2-40B4-BE49-F238E27FC236}">
                <a16:creationId xmlns:a16="http://schemas.microsoft.com/office/drawing/2014/main" id="{8B4B3555-264F-4C34-A6B1-CCFB6DEB115F}"/>
              </a:ext>
            </a:extLst>
          </p:cNvPr>
          <p:cNvSpPr txBox="1"/>
          <p:nvPr/>
        </p:nvSpPr>
        <p:spPr>
          <a:xfrm>
            <a:off x="4563242" y="1891083"/>
            <a:ext cx="405999" cy="369332"/>
          </a:xfrm>
          <a:prstGeom prst="rect">
            <a:avLst/>
          </a:prstGeom>
          <a:noFill/>
        </p:spPr>
        <p:txBody>
          <a:bodyPr wrap="square" rtlCol="1">
            <a:spAutoFit/>
          </a:bodyPr>
          <a:lstStyle/>
          <a:p>
            <a:r>
              <a:rPr lang="en-US" dirty="0"/>
              <a:t>M</a:t>
            </a:r>
            <a:endParaRPr lang="he-IL" dirty="0"/>
          </a:p>
        </p:txBody>
      </p:sp>
      <p:cxnSp>
        <p:nvCxnSpPr>
          <p:cNvPr id="397" name="מחבר ישר 396">
            <a:extLst>
              <a:ext uri="{FF2B5EF4-FFF2-40B4-BE49-F238E27FC236}">
                <a16:creationId xmlns:a16="http://schemas.microsoft.com/office/drawing/2014/main" id="{675D51B4-34F0-4EE5-9EC8-BBBEE5740F6F}"/>
              </a:ext>
            </a:extLst>
          </p:cNvPr>
          <p:cNvCxnSpPr>
            <a:cxnSpLocks/>
            <a:stCxn id="9" idx="1"/>
            <a:endCxn id="10" idx="3"/>
          </p:cNvCxnSpPr>
          <p:nvPr/>
        </p:nvCxnSpPr>
        <p:spPr>
          <a:xfrm flipH="1">
            <a:off x="4806739" y="5240702"/>
            <a:ext cx="1026293" cy="27889"/>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00" name="תרשים זרימה: החלטה 399">
            <a:extLst>
              <a:ext uri="{FF2B5EF4-FFF2-40B4-BE49-F238E27FC236}">
                <a16:creationId xmlns:a16="http://schemas.microsoft.com/office/drawing/2014/main" id="{7C3D3D9C-A4ED-4CAC-ACE8-7F633F2DE6B6}"/>
              </a:ext>
            </a:extLst>
          </p:cNvPr>
          <p:cNvSpPr/>
          <p:nvPr/>
        </p:nvSpPr>
        <p:spPr>
          <a:xfrm>
            <a:off x="5154014" y="5071663"/>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01" name="תיבת טקסט 400">
            <a:extLst>
              <a:ext uri="{FF2B5EF4-FFF2-40B4-BE49-F238E27FC236}">
                <a16:creationId xmlns:a16="http://schemas.microsoft.com/office/drawing/2014/main" id="{05B6BFE4-C088-48CD-945F-762C0B349E2D}"/>
              </a:ext>
            </a:extLst>
          </p:cNvPr>
          <p:cNvSpPr txBox="1"/>
          <p:nvPr/>
        </p:nvSpPr>
        <p:spPr>
          <a:xfrm>
            <a:off x="4781014" y="4936148"/>
            <a:ext cx="405999" cy="369332"/>
          </a:xfrm>
          <a:prstGeom prst="rect">
            <a:avLst/>
          </a:prstGeom>
          <a:noFill/>
        </p:spPr>
        <p:txBody>
          <a:bodyPr wrap="square" rtlCol="1">
            <a:spAutoFit/>
          </a:bodyPr>
          <a:lstStyle/>
          <a:p>
            <a:r>
              <a:rPr lang="en-US" dirty="0"/>
              <a:t>N</a:t>
            </a:r>
            <a:endParaRPr lang="he-IL" dirty="0"/>
          </a:p>
        </p:txBody>
      </p:sp>
      <p:sp>
        <p:nvSpPr>
          <p:cNvPr id="402" name="תיבת טקסט 401">
            <a:extLst>
              <a:ext uri="{FF2B5EF4-FFF2-40B4-BE49-F238E27FC236}">
                <a16:creationId xmlns:a16="http://schemas.microsoft.com/office/drawing/2014/main" id="{365BA51C-266C-4C75-B78C-311E3FFC9CB9}"/>
              </a:ext>
            </a:extLst>
          </p:cNvPr>
          <p:cNvSpPr txBox="1"/>
          <p:nvPr/>
        </p:nvSpPr>
        <p:spPr>
          <a:xfrm>
            <a:off x="5395702" y="4932285"/>
            <a:ext cx="387644" cy="369332"/>
          </a:xfrm>
          <a:prstGeom prst="rect">
            <a:avLst/>
          </a:prstGeom>
          <a:noFill/>
        </p:spPr>
        <p:txBody>
          <a:bodyPr wrap="square" rtlCol="1">
            <a:spAutoFit/>
          </a:bodyPr>
          <a:lstStyle/>
          <a:p>
            <a:r>
              <a:rPr lang="he-IL" dirty="0"/>
              <a:t>1</a:t>
            </a:r>
          </a:p>
        </p:txBody>
      </p:sp>
      <p:sp>
        <p:nvSpPr>
          <p:cNvPr id="403" name="תיבת טקסט 402">
            <a:extLst>
              <a:ext uri="{FF2B5EF4-FFF2-40B4-BE49-F238E27FC236}">
                <a16:creationId xmlns:a16="http://schemas.microsoft.com/office/drawing/2014/main" id="{AE3CF19A-8556-4A26-8E43-F53ADC8EC036}"/>
              </a:ext>
            </a:extLst>
          </p:cNvPr>
          <p:cNvSpPr txBox="1"/>
          <p:nvPr/>
        </p:nvSpPr>
        <p:spPr>
          <a:xfrm>
            <a:off x="6657823" y="890213"/>
            <a:ext cx="387644" cy="369332"/>
          </a:xfrm>
          <a:prstGeom prst="rect">
            <a:avLst/>
          </a:prstGeom>
          <a:noFill/>
        </p:spPr>
        <p:txBody>
          <a:bodyPr wrap="square" rtlCol="1">
            <a:spAutoFit/>
          </a:bodyPr>
          <a:lstStyle/>
          <a:p>
            <a:r>
              <a:rPr lang="he-IL" dirty="0"/>
              <a:t>1</a:t>
            </a:r>
          </a:p>
        </p:txBody>
      </p:sp>
      <p:sp>
        <p:nvSpPr>
          <p:cNvPr id="438" name="תיבת טקסט 437">
            <a:extLst>
              <a:ext uri="{FF2B5EF4-FFF2-40B4-BE49-F238E27FC236}">
                <a16:creationId xmlns:a16="http://schemas.microsoft.com/office/drawing/2014/main" id="{2DBC5AA2-2EC8-4260-9854-43A808F49542}"/>
              </a:ext>
            </a:extLst>
          </p:cNvPr>
          <p:cNvSpPr txBox="1"/>
          <p:nvPr/>
        </p:nvSpPr>
        <p:spPr>
          <a:xfrm>
            <a:off x="4331757" y="3367263"/>
            <a:ext cx="302358" cy="369332"/>
          </a:xfrm>
          <a:prstGeom prst="rect">
            <a:avLst/>
          </a:prstGeom>
          <a:noFill/>
        </p:spPr>
        <p:txBody>
          <a:bodyPr wrap="square" rtlCol="1">
            <a:spAutoFit/>
          </a:bodyPr>
          <a:lstStyle/>
          <a:p>
            <a:r>
              <a:rPr lang="he-IL" dirty="0"/>
              <a:t>1</a:t>
            </a:r>
          </a:p>
        </p:txBody>
      </p:sp>
      <p:cxnSp>
        <p:nvCxnSpPr>
          <p:cNvPr id="439" name="מחבר ישר 438">
            <a:extLst>
              <a:ext uri="{FF2B5EF4-FFF2-40B4-BE49-F238E27FC236}">
                <a16:creationId xmlns:a16="http://schemas.microsoft.com/office/drawing/2014/main" id="{D130EB0F-7486-46FC-96B3-EDDED6DB612C}"/>
              </a:ext>
            </a:extLst>
          </p:cNvPr>
          <p:cNvCxnSpPr>
            <a:cxnSpLocks/>
          </p:cNvCxnSpPr>
          <p:nvPr/>
        </p:nvCxnSpPr>
        <p:spPr>
          <a:xfrm flipH="1" flipV="1">
            <a:off x="2241596" y="2749908"/>
            <a:ext cx="22167" cy="1409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0" name="מחבר ישר 439">
            <a:extLst>
              <a:ext uri="{FF2B5EF4-FFF2-40B4-BE49-F238E27FC236}">
                <a16:creationId xmlns:a16="http://schemas.microsoft.com/office/drawing/2014/main" id="{39272241-869C-4567-A077-E36E59BF0B87}"/>
              </a:ext>
            </a:extLst>
          </p:cNvPr>
          <p:cNvCxnSpPr>
            <a:cxnSpLocks/>
          </p:cNvCxnSpPr>
          <p:nvPr/>
        </p:nvCxnSpPr>
        <p:spPr>
          <a:xfrm flipH="1">
            <a:off x="1989543" y="2777841"/>
            <a:ext cx="273845" cy="115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8" name="מחבר ישר 447">
            <a:extLst>
              <a:ext uri="{FF2B5EF4-FFF2-40B4-BE49-F238E27FC236}">
                <a16:creationId xmlns:a16="http://schemas.microsoft.com/office/drawing/2014/main" id="{036BE09C-D43F-4847-8B08-4E2DB6B3DA9E}"/>
              </a:ext>
            </a:extLst>
          </p:cNvPr>
          <p:cNvCxnSpPr>
            <a:cxnSpLocks/>
          </p:cNvCxnSpPr>
          <p:nvPr/>
        </p:nvCxnSpPr>
        <p:spPr>
          <a:xfrm flipH="1" flipV="1">
            <a:off x="7470532" y="2378813"/>
            <a:ext cx="6875" cy="1208099"/>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9" name="מחבר ישר 448">
            <a:extLst>
              <a:ext uri="{FF2B5EF4-FFF2-40B4-BE49-F238E27FC236}">
                <a16:creationId xmlns:a16="http://schemas.microsoft.com/office/drawing/2014/main" id="{B4E53450-03FF-46B0-BE19-8EDE210CF100}"/>
              </a:ext>
            </a:extLst>
          </p:cNvPr>
          <p:cNvCxnSpPr>
            <a:cxnSpLocks/>
            <a:stCxn id="10" idx="0"/>
          </p:cNvCxnSpPr>
          <p:nvPr/>
        </p:nvCxnSpPr>
        <p:spPr>
          <a:xfrm flipH="1" flipV="1">
            <a:off x="4189592" y="4140106"/>
            <a:ext cx="18058" cy="876759"/>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0" name="מחבר ישר 449">
            <a:extLst>
              <a:ext uri="{FF2B5EF4-FFF2-40B4-BE49-F238E27FC236}">
                <a16:creationId xmlns:a16="http://schemas.microsoft.com/office/drawing/2014/main" id="{BEB3569A-F307-4FB3-B608-A3D527D7D912}"/>
              </a:ext>
            </a:extLst>
          </p:cNvPr>
          <p:cNvCxnSpPr>
            <a:cxnSpLocks/>
          </p:cNvCxnSpPr>
          <p:nvPr/>
        </p:nvCxnSpPr>
        <p:spPr>
          <a:xfrm flipH="1">
            <a:off x="2241597" y="4167303"/>
            <a:ext cx="1941771" cy="2966"/>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60" name="תיבת טקסט 459">
            <a:extLst>
              <a:ext uri="{FF2B5EF4-FFF2-40B4-BE49-F238E27FC236}">
                <a16:creationId xmlns:a16="http://schemas.microsoft.com/office/drawing/2014/main" id="{3EB96BB3-BE4E-4D25-AB6E-160333D02AEB}"/>
              </a:ext>
            </a:extLst>
          </p:cNvPr>
          <p:cNvSpPr txBox="1"/>
          <p:nvPr/>
        </p:nvSpPr>
        <p:spPr>
          <a:xfrm>
            <a:off x="3364237" y="3840753"/>
            <a:ext cx="405999" cy="369332"/>
          </a:xfrm>
          <a:prstGeom prst="rect">
            <a:avLst/>
          </a:prstGeom>
          <a:noFill/>
        </p:spPr>
        <p:txBody>
          <a:bodyPr wrap="square" rtlCol="1">
            <a:spAutoFit/>
          </a:bodyPr>
          <a:lstStyle/>
          <a:p>
            <a:r>
              <a:rPr lang="en-US" dirty="0"/>
              <a:t>N</a:t>
            </a:r>
            <a:endParaRPr lang="he-IL" dirty="0"/>
          </a:p>
        </p:txBody>
      </p:sp>
      <p:sp>
        <p:nvSpPr>
          <p:cNvPr id="462" name="תרשים זרימה: החלטה 461">
            <a:extLst>
              <a:ext uri="{FF2B5EF4-FFF2-40B4-BE49-F238E27FC236}">
                <a16:creationId xmlns:a16="http://schemas.microsoft.com/office/drawing/2014/main" id="{BDE0AA34-E61A-4FB2-9D62-C4D55385AB35}"/>
              </a:ext>
            </a:extLst>
          </p:cNvPr>
          <p:cNvSpPr/>
          <p:nvPr/>
        </p:nvSpPr>
        <p:spPr>
          <a:xfrm>
            <a:off x="3040141" y="3972824"/>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63" name="תיבת טקסט 462">
            <a:extLst>
              <a:ext uri="{FF2B5EF4-FFF2-40B4-BE49-F238E27FC236}">
                <a16:creationId xmlns:a16="http://schemas.microsoft.com/office/drawing/2014/main" id="{9FB2CA78-AE64-41D6-A598-D065CDBA4218}"/>
              </a:ext>
            </a:extLst>
          </p:cNvPr>
          <p:cNvSpPr txBox="1"/>
          <p:nvPr/>
        </p:nvSpPr>
        <p:spPr>
          <a:xfrm>
            <a:off x="8099145" y="3256381"/>
            <a:ext cx="405999" cy="369332"/>
          </a:xfrm>
          <a:prstGeom prst="rect">
            <a:avLst/>
          </a:prstGeom>
          <a:noFill/>
        </p:spPr>
        <p:txBody>
          <a:bodyPr wrap="square" rtlCol="1">
            <a:spAutoFit/>
          </a:bodyPr>
          <a:lstStyle/>
          <a:p>
            <a:r>
              <a:rPr lang="en-US" dirty="0"/>
              <a:t>M</a:t>
            </a:r>
            <a:endParaRPr lang="he-IL" dirty="0"/>
          </a:p>
        </p:txBody>
      </p:sp>
      <p:sp>
        <p:nvSpPr>
          <p:cNvPr id="464" name="תיבת טקסט 463">
            <a:extLst>
              <a:ext uri="{FF2B5EF4-FFF2-40B4-BE49-F238E27FC236}">
                <a16:creationId xmlns:a16="http://schemas.microsoft.com/office/drawing/2014/main" id="{08125774-E633-4D9E-81D4-7A849B396F60}"/>
              </a:ext>
            </a:extLst>
          </p:cNvPr>
          <p:cNvSpPr txBox="1"/>
          <p:nvPr/>
        </p:nvSpPr>
        <p:spPr>
          <a:xfrm>
            <a:off x="2593191" y="3821448"/>
            <a:ext cx="405999" cy="369332"/>
          </a:xfrm>
          <a:prstGeom prst="rect">
            <a:avLst/>
          </a:prstGeom>
          <a:noFill/>
        </p:spPr>
        <p:txBody>
          <a:bodyPr wrap="square" rtlCol="1">
            <a:spAutoFit/>
          </a:bodyPr>
          <a:lstStyle/>
          <a:p>
            <a:r>
              <a:rPr lang="en-US" dirty="0"/>
              <a:t>M</a:t>
            </a:r>
            <a:endParaRPr lang="he-IL" dirty="0"/>
          </a:p>
        </p:txBody>
      </p:sp>
      <p:cxnSp>
        <p:nvCxnSpPr>
          <p:cNvPr id="467" name="מחבר ישר 466">
            <a:extLst>
              <a:ext uri="{FF2B5EF4-FFF2-40B4-BE49-F238E27FC236}">
                <a16:creationId xmlns:a16="http://schemas.microsoft.com/office/drawing/2014/main" id="{ABD614E4-8871-4E6E-830C-89F011F6CE37}"/>
              </a:ext>
            </a:extLst>
          </p:cNvPr>
          <p:cNvCxnSpPr>
            <a:cxnSpLocks/>
          </p:cNvCxnSpPr>
          <p:nvPr/>
        </p:nvCxnSpPr>
        <p:spPr>
          <a:xfrm flipH="1" flipV="1">
            <a:off x="7445268" y="3602330"/>
            <a:ext cx="2229055" cy="564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8" name="מחבר ישר 467">
            <a:extLst>
              <a:ext uri="{FF2B5EF4-FFF2-40B4-BE49-F238E27FC236}">
                <a16:creationId xmlns:a16="http://schemas.microsoft.com/office/drawing/2014/main" id="{AA90C4E5-0BC6-4D23-9D6B-CB942704DB96}"/>
              </a:ext>
            </a:extLst>
          </p:cNvPr>
          <p:cNvCxnSpPr>
            <a:cxnSpLocks/>
          </p:cNvCxnSpPr>
          <p:nvPr/>
        </p:nvCxnSpPr>
        <p:spPr>
          <a:xfrm flipH="1">
            <a:off x="9653168" y="3985087"/>
            <a:ext cx="1415508"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61" name="תרשים זרימה: החלטה 460">
            <a:extLst>
              <a:ext uri="{FF2B5EF4-FFF2-40B4-BE49-F238E27FC236}">
                <a16:creationId xmlns:a16="http://schemas.microsoft.com/office/drawing/2014/main" id="{AC064FAC-82DB-4CE6-8075-D0AC90542DA0}"/>
              </a:ext>
            </a:extLst>
          </p:cNvPr>
          <p:cNvSpPr/>
          <p:nvPr/>
        </p:nvSpPr>
        <p:spPr>
          <a:xfrm>
            <a:off x="8391450" y="3425422"/>
            <a:ext cx="358584" cy="338621"/>
          </a:xfrm>
          <a:prstGeom prst="flowChartDecision">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475" name="מחבר ישר 474">
            <a:extLst>
              <a:ext uri="{FF2B5EF4-FFF2-40B4-BE49-F238E27FC236}">
                <a16:creationId xmlns:a16="http://schemas.microsoft.com/office/drawing/2014/main" id="{C893F880-5704-4D1F-9452-BB1402B7D9FD}"/>
              </a:ext>
            </a:extLst>
          </p:cNvPr>
          <p:cNvCxnSpPr>
            <a:cxnSpLocks/>
            <a:stCxn id="14" idx="0"/>
          </p:cNvCxnSpPr>
          <p:nvPr/>
        </p:nvCxnSpPr>
        <p:spPr>
          <a:xfrm flipH="1" flipV="1">
            <a:off x="11068676" y="3968421"/>
            <a:ext cx="11462" cy="25845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6" name="מחבר ישר 475">
            <a:extLst>
              <a:ext uri="{FF2B5EF4-FFF2-40B4-BE49-F238E27FC236}">
                <a16:creationId xmlns:a16="http://schemas.microsoft.com/office/drawing/2014/main" id="{31238E42-FB3B-422F-8B26-C0E4765D85A4}"/>
              </a:ext>
            </a:extLst>
          </p:cNvPr>
          <p:cNvCxnSpPr>
            <a:cxnSpLocks/>
          </p:cNvCxnSpPr>
          <p:nvPr/>
        </p:nvCxnSpPr>
        <p:spPr>
          <a:xfrm>
            <a:off x="9653168" y="3594732"/>
            <a:ext cx="0" cy="411382"/>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85" name="תיבת טקסט 484">
            <a:extLst>
              <a:ext uri="{FF2B5EF4-FFF2-40B4-BE49-F238E27FC236}">
                <a16:creationId xmlns:a16="http://schemas.microsoft.com/office/drawing/2014/main" id="{980C1B3C-F442-4D9C-921F-0771BE3CA680}"/>
              </a:ext>
            </a:extLst>
          </p:cNvPr>
          <p:cNvSpPr txBox="1"/>
          <p:nvPr/>
        </p:nvSpPr>
        <p:spPr>
          <a:xfrm>
            <a:off x="8743514" y="3289169"/>
            <a:ext cx="315844" cy="369332"/>
          </a:xfrm>
          <a:prstGeom prst="rect">
            <a:avLst/>
          </a:prstGeom>
          <a:noFill/>
        </p:spPr>
        <p:txBody>
          <a:bodyPr wrap="square" rtlCol="1">
            <a:spAutoFit/>
          </a:bodyPr>
          <a:lstStyle/>
          <a:p>
            <a:r>
              <a:rPr lang="en-US" dirty="0"/>
              <a:t>N</a:t>
            </a:r>
            <a:endParaRPr lang="he-IL" dirty="0"/>
          </a:p>
        </p:txBody>
      </p:sp>
      <p:cxnSp>
        <p:nvCxnSpPr>
          <p:cNvPr id="487" name="מחבר ישר 486">
            <a:extLst>
              <a:ext uri="{FF2B5EF4-FFF2-40B4-BE49-F238E27FC236}">
                <a16:creationId xmlns:a16="http://schemas.microsoft.com/office/drawing/2014/main" id="{8B9AA633-ADD7-407B-B445-8C8F3B5E8F04}"/>
              </a:ext>
            </a:extLst>
          </p:cNvPr>
          <p:cNvCxnSpPr>
            <a:cxnSpLocks/>
          </p:cNvCxnSpPr>
          <p:nvPr/>
        </p:nvCxnSpPr>
        <p:spPr>
          <a:xfrm flipV="1">
            <a:off x="6922348" y="2194678"/>
            <a:ext cx="0" cy="2080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8" name="מחבר ישר 487">
            <a:extLst>
              <a:ext uri="{FF2B5EF4-FFF2-40B4-BE49-F238E27FC236}">
                <a16:creationId xmlns:a16="http://schemas.microsoft.com/office/drawing/2014/main" id="{E1F2940D-0669-4618-882A-1A2380F2CBBD}"/>
              </a:ext>
            </a:extLst>
          </p:cNvPr>
          <p:cNvCxnSpPr>
            <a:cxnSpLocks/>
            <a:endCxn id="206" idx="3"/>
          </p:cNvCxnSpPr>
          <p:nvPr/>
        </p:nvCxnSpPr>
        <p:spPr>
          <a:xfrm flipH="1">
            <a:off x="6641059" y="2225735"/>
            <a:ext cx="285667"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248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9EFA1AA3-CF6B-48B7-8C08-49695A313812}"/>
              </a:ext>
            </a:extLst>
          </p:cNvPr>
          <p:cNvSpPr>
            <a:spLocks noGrp="1"/>
          </p:cNvSpPr>
          <p:nvPr>
            <p:ph type="sldNum" sz="quarter" idx="12"/>
          </p:nvPr>
        </p:nvSpPr>
        <p:spPr/>
        <p:txBody>
          <a:bodyPr/>
          <a:lstStyle/>
          <a:p>
            <a:fld id="{9D77A262-A0C6-4C11-A684-4A90AD65C1E2}" type="slidenum">
              <a:rPr lang="he-IL" smtClean="0"/>
              <a:t>19</a:t>
            </a:fld>
            <a:endParaRPr lang="he-IL"/>
          </a:p>
        </p:txBody>
      </p:sp>
      <p:sp>
        <p:nvSpPr>
          <p:cNvPr id="7" name="חץ: מחומש 6">
            <a:extLst>
              <a:ext uri="{FF2B5EF4-FFF2-40B4-BE49-F238E27FC236}">
                <a16:creationId xmlns:a16="http://schemas.microsoft.com/office/drawing/2014/main" id="{44C9B437-95AA-43FD-9B1B-C1515BD4AE3F}"/>
              </a:ext>
            </a:extLst>
          </p:cNvPr>
          <p:cNvSpPr/>
          <p:nvPr/>
        </p:nvSpPr>
        <p:spPr>
          <a:xfrm flipH="1">
            <a:off x="8911259" y="467773"/>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err="1">
                <a:solidFill>
                  <a:schemeClr val="tx1"/>
                </a:solidFill>
                <a:latin typeface="David" panose="020E0502060401010101" pitchFamily="34" charset="-79"/>
                <a:cs typeface="David" panose="020E0502060401010101" pitchFamily="34" charset="-79"/>
              </a:rPr>
              <a:t>תאור</a:t>
            </a:r>
            <a:r>
              <a:rPr lang="he-IL" sz="2400" b="1" dirty="0">
                <a:solidFill>
                  <a:schemeClr val="tx1"/>
                </a:solidFill>
                <a:latin typeface="David" panose="020E0502060401010101" pitchFamily="34" charset="-79"/>
                <a:cs typeface="David" panose="020E0502060401010101" pitchFamily="34" charset="-79"/>
              </a:rPr>
              <a:t> תלויות:</a:t>
            </a:r>
          </a:p>
        </p:txBody>
      </p:sp>
      <p:sp>
        <p:nvSpPr>
          <p:cNvPr id="14" name="Rectangle 6">
            <a:extLst>
              <a:ext uri="{FF2B5EF4-FFF2-40B4-BE49-F238E27FC236}">
                <a16:creationId xmlns:a16="http://schemas.microsoft.com/office/drawing/2014/main" id="{66A21BCC-1244-481E-AD8D-54BA1FE74CBC}"/>
              </a:ext>
            </a:extLst>
          </p:cNvPr>
          <p:cNvSpPr>
            <a:spLocks noChangeArrowheads="1"/>
          </p:cNvSpPr>
          <p:nvPr/>
        </p:nvSpPr>
        <p:spPr bwMode="auto">
          <a:xfrm>
            <a:off x="4201298" y="894301"/>
            <a:ext cx="666647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he-IL" altLang="he-IL" sz="1800" b="1" i="0" u="sng" strike="noStrike" cap="none" normalizeH="0" baseline="0" dirty="0">
                <a:ln>
                  <a:noFill/>
                </a:ln>
                <a:solidFill>
                  <a:schemeClr val="tx1"/>
                </a:solidFill>
                <a:effectLst/>
                <a:latin typeface="David" panose="020E0502060401010101" pitchFamily="34" charset="-79"/>
                <a:cs typeface="David" panose="020E0502060401010101" pitchFamily="34" charset="-79"/>
              </a:rPr>
              <a:t>טבלאות ותלויות ביניהן:</a:t>
            </a:r>
          </a:p>
          <a:p>
            <a:r>
              <a:rPr lang="he-IL" b="1" i="0" dirty="0">
                <a:effectLst/>
                <a:latin typeface="David" panose="020E0502060401010101" pitchFamily="34" charset="-79"/>
                <a:cs typeface="David" panose="020E0502060401010101" pitchFamily="34" charset="-79"/>
              </a:rPr>
              <a:t>1. רמות ← תלמידים, שיעורים:</a:t>
            </a:r>
          </a:p>
          <a:p>
            <a:r>
              <a:rPr lang="he-IL" sz="1600" i="0" dirty="0">
                <a:effectLst/>
                <a:latin typeface="David" panose="020E0502060401010101" pitchFamily="34" charset="-79"/>
                <a:cs typeface="David" panose="020E0502060401010101" pitchFamily="34" charset="-79"/>
              </a:rPr>
              <a:t>כל רמה יכולה לכלול מספר תלמידים ושיעורים.</a:t>
            </a:r>
          </a:p>
          <a:p>
            <a:r>
              <a:rPr lang="he-IL" sz="1600" i="0" dirty="0">
                <a:effectLst/>
                <a:latin typeface="David" panose="020E0502060401010101" pitchFamily="34" charset="-79"/>
                <a:cs typeface="David" panose="020E0502060401010101" pitchFamily="34" charset="-79"/>
              </a:rPr>
              <a:t>כל תלמיד או שיעור שייך לרמה אחת בלבד.</a:t>
            </a:r>
            <a:endParaRPr lang="he-IL" sz="1600" b="1" i="0" dirty="0">
              <a:effectLst/>
              <a:latin typeface="David" panose="020E0502060401010101" pitchFamily="34" charset="-79"/>
              <a:cs typeface="David" panose="020E0502060401010101" pitchFamily="34" charset="-79"/>
            </a:endParaRPr>
          </a:p>
          <a:p>
            <a:r>
              <a:rPr lang="he-IL" b="1" dirty="0">
                <a:latin typeface="David" panose="020E0502060401010101" pitchFamily="34" charset="-79"/>
                <a:cs typeface="David" panose="020E0502060401010101" pitchFamily="34" charset="-79"/>
              </a:rPr>
              <a:t>2. </a:t>
            </a:r>
            <a:r>
              <a:rPr lang="he-IL" b="1" i="0" dirty="0">
                <a:effectLst/>
                <a:latin typeface="David" panose="020E0502060401010101" pitchFamily="34" charset="-79"/>
                <a:cs typeface="David" panose="020E0502060401010101" pitchFamily="34" charset="-79"/>
              </a:rPr>
              <a:t>הורים ← תלמידים, הזמנות:</a:t>
            </a:r>
          </a:p>
          <a:p>
            <a:r>
              <a:rPr lang="he-IL" sz="1600" i="0" dirty="0">
                <a:effectLst/>
                <a:latin typeface="David" panose="020E0502060401010101" pitchFamily="34" charset="-79"/>
                <a:cs typeface="David" panose="020E0502060401010101" pitchFamily="34" charset="-79"/>
              </a:rPr>
              <a:t>כל הורה יכול להיות משויך למספר תלמידים ולבצע מספר הזמנות.</a:t>
            </a:r>
          </a:p>
          <a:p>
            <a:r>
              <a:rPr lang="he-IL" sz="1600" i="0" dirty="0">
                <a:effectLst/>
                <a:latin typeface="David" panose="020E0502060401010101" pitchFamily="34" charset="-79"/>
                <a:cs typeface="David" panose="020E0502060401010101" pitchFamily="34" charset="-79"/>
              </a:rPr>
              <a:t>כל תלמיד והזמנה שייכים להורה אחד.</a:t>
            </a:r>
          </a:p>
          <a:p>
            <a:r>
              <a:rPr lang="he-IL" b="1" i="0" dirty="0">
                <a:effectLst/>
                <a:latin typeface="David" panose="020E0502060401010101" pitchFamily="34" charset="-79"/>
                <a:cs typeface="David" panose="020E0502060401010101" pitchFamily="34" charset="-79"/>
              </a:rPr>
              <a:t>3. תלמידים ← התקדמות, התנדבויות:</a:t>
            </a:r>
          </a:p>
          <a:p>
            <a:r>
              <a:rPr lang="he-IL" sz="1600" i="0" dirty="0">
                <a:effectLst/>
                <a:latin typeface="David" panose="020E0502060401010101" pitchFamily="34" charset="-79"/>
                <a:cs typeface="David" panose="020E0502060401010101" pitchFamily="34" charset="-79"/>
              </a:rPr>
              <a:t>כל תלמיד יכול לקבל מספר רשומות התקדמות ומספר התנדבויות.</a:t>
            </a:r>
          </a:p>
          <a:p>
            <a:r>
              <a:rPr lang="he-IL" sz="1600" i="0" dirty="0">
                <a:effectLst/>
                <a:latin typeface="David" panose="020E0502060401010101" pitchFamily="34" charset="-79"/>
                <a:cs typeface="David" panose="020E0502060401010101" pitchFamily="34" charset="-79"/>
              </a:rPr>
              <a:t>כל רשומת התקדמות והתנדבות שייכת לתלמיד אחד בלבד.</a:t>
            </a:r>
          </a:p>
          <a:p>
            <a:r>
              <a:rPr lang="he-IL" b="1" i="0" dirty="0">
                <a:effectLst/>
                <a:latin typeface="David" panose="020E0502060401010101" pitchFamily="34" charset="-79"/>
                <a:cs typeface="David" panose="020E0502060401010101" pitchFamily="34" charset="-79"/>
              </a:rPr>
              <a:t>4</a:t>
            </a:r>
            <a:r>
              <a:rPr lang="he-IL" i="0" dirty="0">
                <a:effectLst/>
                <a:latin typeface="David" panose="020E0502060401010101" pitchFamily="34" charset="-79"/>
                <a:cs typeface="David" panose="020E0502060401010101" pitchFamily="34" charset="-79"/>
              </a:rPr>
              <a:t>. </a:t>
            </a:r>
            <a:r>
              <a:rPr lang="he-IL" b="1" i="0" dirty="0">
                <a:effectLst/>
                <a:latin typeface="David" panose="020E0502060401010101" pitchFamily="34" charset="-79"/>
                <a:cs typeface="David" panose="020E0502060401010101" pitchFamily="34" charset="-79"/>
              </a:rPr>
              <a:t>הזמנות ↔ מקצועות (רבים לרבים):</a:t>
            </a:r>
          </a:p>
          <a:p>
            <a:r>
              <a:rPr lang="he-IL" sz="1600" i="0" dirty="0">
                <a:effectLst/>
                <a:latin typeface="David" panose="020E0502060401010101" pitchFamily="34" charset="-79"/>
                <a:cs typeface="David" panose="020E0502060401010101" pitchFamily="34" charset="-79"/>
              </a:rPr>
              <a:t>כל הזמנה יכולה לכלול מספר מקצועות, וכל מקצוע יכול להופיע במספר הזמנות.</a:t>
            </a:r>
          </a:p>
          <a:p>
            <a:r>
              <a:rPr lang="he-IL" sz="1600" i="0" dirty="0">
                <a:effectLst/>
                <a:latin typeface="David" panose="020E0502060401010101" pitchFamily="34" charset="-79"/>
                <a:cs typeface="David" panose="020E0502060401010101" pitchFamily="34" charset="-79"/>
              </a:rPr>
              <a:t>הקשר ממומש בטבלת פירוט הזמנה.</a:t>
            </a:r>
          </a:p>
          <a:p>
            <a:r>
              <a:rPr lang="he-IL" b="1" i="0" dirty="0">
                <a:effectLst/>
                <a:latin typeface="David" panose="020E0502060401010101" pitchFamily="34" charset="-79"/>
                <a:cs typeface="David" panose="020E0502060401010101" pitchFamily="34" charset="-79"/>
              </a:rPr>
              <a:t>5. מקצועות ← שיעורים:</a:t>
            </a:r>
          </a:p>
          <a:p>
            <a:r>
              <a:rPr lang="he-IL" sz="1600" i="0" dirty="0">
                <a:effectLst/>
                <a:latin typeface="David" panose="020E0502060401010101" pitchFamily="34" charset="-79"/>
                <a:cs typeface="David" panose="020E0502060401010101" pitchFamily="34" charset="-79"/>
              </a:rPr>
              <a:t>כל מקצוע כולל מספר שיעורים.</a:t>
            </a:r>
          </a:p>
          <a:p>
            <a:r>
              <a:rPr lang="he-IL" sz="1600" i="0" dirty="0">
                <a:effectLst/>
                <a:latin typeface="David" panose="020E0502060401010101" pitchFamily="34" charset="-79"/>
                <a:cs typeface="David" panose="020E0502060401010101" pitchFamily="34" charset="-79"/>
              </a:rPr>
              <a:t>כל שיעור שייך למקצוע אחד בלבד.</a:t>
            </a:r>
          </a:p>
          <a:p>
            <a:r>
              <a:rPr lang="he-IL" b="1" i="0" dirty="0">
                <a:effectLst/>
                <a:latin typeface="David" panose="020E0502060401010101" pitchFamily="34" charset="-79"/>
                <a:cs typeface="David" panose="020E0502060401010101" pitchFamily="34" charset="-79"/>
              </a:rPr>
              <a:t>6. שיעורים ← התקדמות, תלמידים:</a:t>
            </a:r>
          </a:p>
          <a:p>
            <a:r>
              <a:rPr lang="he-IL" sz="1600" i="0" dirty="0">
                <a:effectLst/>
                <a:latin typeface="David" panose="020E0502060401010101" pitchFamily="34" charset="-79"/>
                <a:cs typeface="David" panose="020E0502060401010101" pitchFamily="34" charset="-79"/>
              </a:rPr>
              <a:t>כל שיעור יכול להופיע במספר רשומות התקדמות של תלמידים שונים.</a:t>
            </a:r>
          </a:p>
          <a:p>
            <a:r>
              <a:rPr lang="he-IL" sz="1600" i="0" dirty="0">
                <a:effectLst/>
                <a:latin typeface="David" panose="020E0502060401010101" pitchFamily="34" charset="-79"/>
                <a:cs typeface="David" panose="020E0502060401010101" pitchFamily="34" charset="-79"/>
              </a:rPr>
              <a:t>כל רשומת התקדמות מתייחסת לשיעור אחד בלבד.</a:t>
            </a:r>
          </a:p>
          <a:p>
            <a:r>
              <a:rPr lang="he-IL" b="1" i="0" dirty="0">
                <a:effectLst/>
                <a:latin typeface="David" panose="020E0502060401010101" pitchFamily="34" charset="-79"/>
                <a:cs typeface="David" panose="020E0502060401010101" pitchFamily="34" charset="-79"/>
              </a:rPr>
              <a:t>7. מתנדבים ← שיבוץ התנדבויות:</a:t>
            </a:r>
          </a:p>
          <a:p>
            <a:r>
              <a:rPr lang="he-IL" sz="1600" i="0" dirty="0">
                <a:effectLst/>
                <a:latin typeface="David" panose="020E0502060401010101" pitchFamily="34" charset="-79"/>
                <a:cs typeface="David" panose="020E0502060401010101" pitchFamily="34" charset="-79"/>
              </a:rPr>
              <a:t>כל מתנדב יכול לבצע מספר התנדבויות.</a:t>
            </a:r>
          </a:p>
          <a:p>
            <a:r>
              <a:rPr lang="he-IL" sz="1600" i="0" dirty="0">
                <a:effectLst/>
                <a:latin typeface="David" panose="020E0502060401010101" pitchFamily="34" charset="-79"/>
                <a:cs typeface="David" panose="020E0502060401010101" pitchFamily="34" charset="-79"/>
              </a:rPr>
              <a:t>כל התנדבות שייכת למתנדב אחד בלבד.</a:t>
            </a:r>
          </a:p>
        </p:txBody>
      </p:sp>
    </p:spTree>
    <p:extLst>
      <p:ext uri="{BB962C8B-B14F-4D97-AF65-F5344CB8AC3E}">
        <p14:creationId xmlns:p14="http://schemas.microsoft.com/office/powerpoint/2010/main" val="2822630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9EFA1AA3-CF6B-48B7-8C08-49695A313812}"/>
              </a:ext>
            </a:extLst>
          </p:cNvPr>
          <p:cNvSpPr>
            <a:spLocks noGrp="1"/>
          </p:cNvSpPr>
          <p:nvPr>
            <p:ph type="sldNum" sz="quarter" idx="12"/>
          </p:nvPr>
        </p:nvSpPr>
        <p:spPr/>
        <p:txBody>
          <a:bodyPr/>
          <a:lstStyle/>
          <a:p>
            <a:fld id="{9D77A262-A0C6-4C11-A684-4A90AD65C1E2}" type="slidenum">
              <a:rPr lang="he-IL" smtClean="0"/>
              <a:t>20</a:t>
            </a:fld>
            <a:endParaRPr lang="he-IL"/>
          </a:p>
        </p:txBody>
      </p:sp>
      <p:sp>
        <p:nvSpPr>
          <p:cNvPr id="7" name="חץ: מחומש 6">
            <a:extLst>
              <a:ext uri="{FF2B5EF4-FFF2-40B4-BE49-F238E27FC236}">
                <a16:creationId xmlns:a16="http://schemas.microsoft.com/office/drawing/2014/main" id="{44C9B437-95AA-43FD-9B1B-C1515BD4AE3F}"/>
              </a:ext>
            </a:extLst>
          </p:cNvPr>
          <p:cNvSpPr/>
          <p:nvPr/>
        </p:nvSpPr>
        <p:spPr>
          <a:xfrm flipH="1">
            <a:off x="8911259" y="814642"/>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תרשים </a:t>
            </a:r>
            <a:r>
              <a:rPr lang="en-US" sz="2400" b="1" dirty="0">
                <a:solidFill>
                  <a:schemeClr val="tx1"/>
                </a:solidFill>
                <a:latin typeface="David" panose="020E0502060401010101" pitchFamily="34" charset="-79"/>
                <a:cs typeface="David" panose="020E0502060401010101" pitchFamily="34" charset="-79"/>
              </a:rPr>
              <a:t>DSD</a:t>
            </a:r>
            <a:r>
              <a:rPr lang="he-IL" sz="2400" b="1" dirty="0">
                <a:solidFill>
                  <a:schemeClr val="tx1"/>
                </a:solidFill>
                <a:latin typeface="David" panose="020E0502060401010101" pitchFamily="34" charset="-79"/>
                <a:cs typeface="David" panose="020E0502060401010101" pitchFamily="34" charset="-79"/>
              </a:rPr>
              <a:t>:</a:t>
            </a:r>
          </a:p>
        </p:txBody>
      </p:sp>
      <p:pic>
        <p:nvPicPr>
          <p:cNvPr id="3" name="תמונה 2">
            <a:extLst>
              <a:ext uri="{FF2B5EF4-FFF2-40B4-BE49-F238E27FC236}">
                <a16:creationId xmlns:a16="http://schemas.microsoft.com/office/drawing/2014/main" id="{CE8059BA-408C-462E-BB19-8D43E5470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2126" y="1629954"/>
            <a:ext cx="8733937" cy="4841448"/>
          </a:xfrm>
          <a:prstGeom prst="rect">
            <a:avLst/>
          </a:prstGeom>
        </p:spPr>
      </p:pic>
    </p:spTree>
    <p:extLst>
      <p:ext uri="{BB962C8B-B14F-4D97-AF65-F5344CB8AC3E}">
        <p14:creationId xmlns:p14="http://schemas.microsoft.com/office/powerpoint/2010/main" val="1949825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03E1C6D7-FD1F-4D8B-B861-4D20A5881664}"/>
              </a:ext>
            </a:extLst>
          </p:cNvPr>
          <p:cNvSpPr>
            <a:spLocks noGrp="1"/>
          </p:cNvSpPr>
          <p:nvPr>
            <p:ph type="sldNum" sz="quarter" idx="12"/>
          </p:nvPr>
        </p:nvSpPr>
        <p:spPr/>
        <p:txBody>
          <a:bodyPr/>
          <a:lstStyle/>
          <a:p>
            <a:fld id="{9D77A262-A0C6-4C11-A684-4A90AD65C1E2}" type="slidenum">
              <a:rPr lang="he-IL" smtClean="0"/>
              <a:t>21</a:t>
            </a:fld>
            <a:endParaRPr lang="he-IL"/>
          </a:p>
        </p:txBody>
      </p:sp>
      <p:sp>
        <p:nvSpPr>
          <p:cNvPr id="7" name="חץ: מחומש 6">
            <a:extLst>
              <a:ext uri="{FF2B5EF4-FFF2-40B4-BE49-F238E27FC236}">
                <a16:creationId xmlns:a16="http://schemas.microsoft.com/office/drawing/2014/main" id="{EE75C916-9629-4365-A7D6-AB90636C41D3}"/>
              </a:ext>
            </a:extLst>
          </p:cNvPr>
          <p:cNvSpPr/>
          <p:nvPr/>
        </p:nvSpPr>
        <p:spPr>
          <a:xfrm flipH="1">
            <a:off x="7318805" y="303115"/>
            <a:ext cx="4341217" cy="852426"/>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a:solidFill>
                  <a:schemeClr val="tx1"/>
                </a:solidFill>
                <a:latin typeface="David" panose="020E0502060401010101" pitchFamily="34" charset="-79"/>
                <a:cs typeface="David" panose="020E0502060401010101" pitchFamily="34" charset="-79"/>
              </a:rPr>
              <a:t>חלק ד': שאילתות</a:t>
            </a:r>
          </a:p>
        </p:txBody>
      </p:sp>
      <p:sp>
        <p:nvSpPr>
          <p:cNvPr id="9" name="חץ: מחומש 8">
            <a:extLst>
              <a:ext uri="{FF2B5EF4-FFF2-40B4-BE49-F238E27FC236}">
                <a16:creationId xmlns:a16="http://schemas.microsoft.com/office/drawing/2014/main" id="{5E704179-5B71-4A82-A424-2D1D6A8DEFFE}"/>
              </a:ext>
            </a:extLst>
          </p:cNvPr>
          <p:cNvSpPr/>
          <p:nvPr/>
        </p:nvSpPr>
        <p:spPr>
          <a:xfrm flipH="1">
            <a:off x="9217481" y="1406886"/>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שאילתות:</a:t>
            </a:r>
          </a:p>
        </p:txBody>
      </p:sp>
      <p:sp>
        <p:nvSpPr>
          <p:cNvPr id="2" name="תיבת טקסט 1">
            <a:extLst>
              <a:ext uri="{FF2B5EF4-FFF2-40B4-BE49-F238E27FC236}">
                <a16:creationId xmlns:a16="http://schemas.microsoft.com/office/drawing/2014/main" id="{D5CE54A1-4AB3-4A81-8014-C513CBFE2329}"/>
              </a:ext>
            </a:extLst>
          </p:cNvPr>
          <p:cNvSpPr txBox="1"/>
          <p:nvPr/>
        </p:nvSpPr>
        <p:spPr>
          <a:xfrm>
            <a:off x="8704162" y="2138981"/>
            <a:ext cx="2955860" cy="4370427"/>
          </a:xfrm>
          <a:prstGeom prst="rect">
            <a:avLst/>
          </a:prstGeom>
          <a:noFill/>
        </p:spPr>
        <p:txBody>
          <a:bodyPr wrap="square" rtlCol="1">
            <a:spAutoFit/>
          </a:bodyPr>
          <a:lstStyle/>
          <a:p>
            <a:r>
              <a:rPr lang="he-IL" sz="2000" b="1" u="sng" dirty="0">
                <a:latin typeface="David" panose="020E0502060401010101" pitchFamily="34" charset="-79"/>
                <a:cs typeface="David" panose="020E0502060401010101" pitchFamily="34" charset="-79"/>
              </a:rPr>
              <a:t>1. תלמידים עם הכי הרבה שיעורים שהושלמו:</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הצגת התלמידים שהשלימו את מספר השיעורים הגבוה ביותר, ממוין מהגבוה לנמוך.</a:t>
            </a:r>
          </a:p>
          <a:p>
            <a:endParaRPr lang="he-IL" sz="2000" dirty="0">
              <a:latin typeface="David" panose="020E0502060401010101" pitchFamily="34" charset="-79"/>
              <a:cs typeface="David" panose="020E0502060401010101" pitchFamily="34" charset="-79"/>
            </a:endParaRPr>
          </a:p>
          <a:p>
            <a:endParaRPr lang="he-IL" sz="2000" dirty="0">
              <a:latin typeface="David" panose="020E0502060401010101" pitchFamily="34" charset="-79"/>
              <a:cs typeface="David" panose="020E0502060401010101" pitchFamily="34" charset="-79"/>
            </a:endParaRPr>
          </a:p>
          <a:p>
            <a:r>
              <a:rPr lang="he-IL" sz="2000" b="1" u="sng" dirty="0">
                <a:latin typeface="David" panose="020E0502060401010101" pitchFamily="34" charset="-79"/>
                <a:cs typeface="David" panose="020E0502060401010101" pitchFamily="34" charset="-79"/>
              </a:rPr>
              <a:t>2. מתנדבים המשובצים ליותר מתלמיד אחד:</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זיהוי מתנדבים פעילים במיוחד, ששובצו ליותר מתלמיד אחד.</a:t>
            </a:r>
          </a:p>
          <a:p>
            <a:r>
              <a:rPr lang="he-IL" sz="2000" dirty="0">
                <a:latin typeface="David" panose="020E0502060401010101" pitchFamily="34" charset="-79"/>
                <a:cs typeface="David" panose="020E0502060401010101" pitchFamily="34" charset="-79"/>
              </a:rPr>
              <a:t> </a:t>
            </a:r>
          </a:p>
        </p:txBody>
      </p:sp>
      <p:pic>
        <p:nvPicPr>
          <p:cNvPr id="6" name="תמונה 5">
            <a:extLst>
              <a:ext uri="{FF2B5EF4-FFF2-40B4-BE49-F238E27FC236}">
                <a16:creationId xmlns:a16="http://schemas.microsoft.com/office/drawing/2014/main" id="{D37B354E-AEAD-4CE7-A54C-FCDBA579B523}"/>
              </a:ext>
            </a:extLst>
          </p:cNvPr>
          <p:cNvPicPr>
            <a:picLocks noChangeAspect="1"/>
          </p:cNvPicPr>
          <p:nvPr/>
        </p:nvPicPr>
        <p:blipFill>
          <a:blip r:embed="rId2"/>
          <a:stretch>
            <a:fillRect/>
          </a:stretch>
        </p:blipFill>
        <p:spPr>
          <a:xfrm>
            <a:off x="572591" y="2138981"/>
            <a:ext cx="5258256" cy="1242168"/>
          </a:xfrm>
          <a:prstGeom prst="rect">
            <a:avLst/>
          </a:prstGeom>
        </p:spPr>
      </p:pic>
      <p:pic>
        <p:nvPicPr>
          <p:cNvPr id="12" name="תמונה 11">
            <a:extLst>
              <a:ext uri="{FF2B5EF4-FFF2-40B4-BE49-F238E27FC236}">
                <a16:creationId xmlns:a16="http://schemas.microsoft.com/office/drawing/2014/main" id="{6CC8A316-D002-4460-AD5C-FDEE175C4424}"/>
              </a:ext>
            </a:extLst>
          </p:cNvPr>
          <p:cNvPicPr>
            <a:picLocks noChangeAspect="1"/>
          </p:cNvPicPr>
          <p:nvPr/>
        </p:nvPicPr>
        <p:blipFill>
          <a:blip r:embed="rId3"/>
          <a:stretch>
            <a:fillRect/>
          </a:stretch>
        </p:blipFill>
        <p:spPr>
          <a:xfrm>
            <a:off x="725169" y="4500240"/>
            <a:ext cx="5712462" cy="1179348"/>
          </a:xfrm>
          <a:prstGeom prst="rect">
            <a:avLst/>
          </a:prstGeom>
        </p:spPr>
      </p:pic>
      <p:pic>
        <p:nvPicPr>
          <p:cNvPr id="19" name="תמונה 18">
            <a:extLst>
              <a:ext uri="{FF2B5EF4-FFF2-40B4-BE49-F238E27FC236}">
                <a16:creationId xmlns:a16="http://schemas.microsoft.com/office/drawing/2014/main" id="{A9910FF1-B18D-4E3B-A791-1E0203263EB4}"/>
              </a:ext>
            </a:extLst>
          </p:cNvPr>
          <p:cNvPicPr>
            <a:picLocks noChangeAspect="1"/>
          </p:cNvPicPr>
          <p:nvPr/>
        </p:nvPicPr>
        <p:blipFill>
          <a:blip r:embed="rId4"/>
          <a:stretch>
            <a:fillRect/>
          </a:stretch>
        </p:blipFill>
        <p:spPr>
          <a:xfrm>
            <a:off x="4331859" y="3027232"/>
            <a:ext cx="2851261" cy="1004325"/>
          </a:xfrm>
          <a:prstGeom prst="rect">
            <a:avLst/>
          </a:prstGeom>
        </p:spPr>
      </p:pic>
      <p:pic>
        <p:nvPicPr>
          <p:cNvPr id="21" name="תמונה 20">
            <a:extLst>
              <a:ext uri="{FF2B5EF4-FFF2-40B4-BE49-F238E27FC236}">
                <a16:creationId xmlns:a16="http://schemas.microsoft.com/office/drawing/2014/main" id="{8DED00C1-8345-4964-9578-51ADBF640A28}"/>
              </a:ext>
            </a:extLst>
          </p:cNvPr>
          <p:cNvPicPr>
            <a:picLocks noChangeAspect="1"/>
          </p:cNvPicPr>
          <p:nvPr/>
        </p:nvPicPr>
        <p:blipFill>
          <a:blip r:embed="rId5"/>
          <a:stretch>
            <a:fillRect/>
          </a:stretch>
        </p:blipFill>
        <p:spPr>
          <a:xfrm>
            <a:off x="4668696" y="5435353"/>
            <a:ext cx="2851261" cy="392633"/>
          </a:xfrm>
          <a:prstGeom prst="rect">
            <a:avLst/>
          </a:prstGeom>
        </p:spPr>
      </p:pic>
    </p:spTree>
    <p:extLst>
      <p:ext uri="{BB962C8B-B14F-4D97-AF65-F5344CB8AC3E}">
        <p14:creationId xmlns:p14="http://schemas.microsoft.com/office/powerpoint/2010/main" val="1628755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18A8E807-29B7-47A3-BDB9-04BD6D69ED41}"/>
              </a:ext>
            </a:extLst>
          </p:cNvPr>
          <p:cNvSpPr>
            <a:spLocks noGrp="1"/>
          </p:cNvSpPr>
          <p:nvPr>
            <p:ph type="sldNum" sz="quarter" idx="12"/>
          </p:nvPr>
        </p:nvSpPr>
        <p:spPr/>
        <p:txBody>
          <a:bodyPr/>
          <a:lstStyle/>
          <a:p>
            <a:fld id="{9D77A262-A0C6-4C11-A684-4A90AD65C1E2}" type="slidenum">
              <a:rPr lang="he-IL" smtClean="0"/>
              <a:t>22</a:t>
            </a:fld>
            <a:endParaRPr lang="he-IL"/>
          </a:p>
        </p:txBody>
      </p:sp>
      <p:sp>
        <p:nvSpPr>
          <p:cNvPr id="2" name="תיבת טקסט 1">
            <a:extLst>
              <a:ext uri="{FF2B5EF4-FFF2-40B4-BE49-F238E27FC236}">
                <a16:creationId xmlns:a16="http://schemas.microsoft.com/office/drawing/2014/main" id="{FB782E86-89D3-4292-A7F2-A68B33A65BFC}"/>
              </a:ext>
            </a:extLst>
          </p:cNvPr>
          <p:cNvSpPr txBox="1"/>
          <p:nvPr/>
        </p:nvSpPr>
        <p:spPr>
          <a:xfrm>
            <a:off x="8090704" y="567159"/>
            <a:ext cx="3090440" cy="6217087"/>
          </a:xfrm>
          <a:prstGeom prst="rect">
            <a:avLst/>
          </a:prstGeom>
          <a:noFill/>
        </p:spPr>
        <p:txBody>
          <a:bodyPr wrap="square" rtlCol="1">
            <a:spAutoFit/>
          </a:bodyPr>
          <a:lstStyle/>
          <a:p>
            <a:r>
              <a:rPr lang="he-IL" sz="2000" b="1" u="sng" dirty="0">
                <a:latin typeface="David" panose="020E0502060401010101" pitchFamily="34" charset="-79"/>
                <a:cs typeface="David" panose="020E0502060401010101" pitchFamily="34" charset="-79"/>
              </a:rPr>
              <a:t>3. המקצועות הנרכשים ביותר לפי כמות הזמנות:</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הצגת המקצועות הפופולריים ביותר לפי מספר הפעמים שנרכשו.</a:t>
            </a:r>
          </a:p>
          <a:p>
            <a:endParaRPr lang="he-IL" sz="2000" dirty="0">
              <a:latin typeface="David" panose="020E0502060401010101" pitchFamily="34" charset="-79"/>
              <a:cs typeface="David" panose="020E0502060401010101" pitchFamily="34" charset="-79"/>
            </a:endParaRPr>
          </a:p>
          <a:p>
            <a:endParaRPr lang="he-IL" sz="2000" dirty="0">
              <a:latin typeface="David" panose="020E0502060401010101" pitchFamily="34" charset="-79"/>
              <a:cs typeface="David" panose="020E0502060401010101" pitchFamily="34" charset="-79"/>
            </a:endParaRPr>
          </a:p>
          <a:p>
            <a:r>
              <a:rPr lang="he-IL" sz="2000" b="1" u="sng" dirty="0">
                <a:latin typeface="David" panose="020E0502060401010101" pitchFamily="34" charset="-79"/>
                <a:cs typeface="David" panose="020E0502060401010101" pitchFamily="34" charset="-79"/>
              </a:rPr>
              <a:t>4. תלמידים עם ציון מעל 85, ממוין מהגבוה לנמוך:</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הצגת התלמידים המצטיינים עם </a:t>
            </a:r>
            <a:r>
              <a:rPr lang="he-IL" sz="2000" dirty="0" err="1">
                <a:latin typeface="David" panose="020E0502060401010101" pitchFamily="34" charset="-79"/>
                <a:cs typeface="David" panose="020E0502060401010101" pitchFamily="34" charset="-79"/>
              </a:rPr>
              <a:t>צייוניהם</a:t>
            </a:r>
            <a:r>
              <a:rPr lang="he-IL" sz="2000" dirty="0">
                <a:latin typeface="David" panose="020E0502060401010101" pitchFamily="34" charset="-79"/>
                <a:cs typeface="David" panose="020E0502060401010101" pitchFamily="34" charset="-79"/>
              </a:rPr>
              <a:t> ונושאי השיעורים בהם הצטיינו.</a:t>
            </a:r>
          </a:p>
          <a:p>
            <a:endParaRPr lang="he-IL" sz="2000" dirty="0">
              <a:latin typeface="David" panose="020E0502060401010101" pitchFamily="34" charset="-79"/>
              <a:cs typeface="David" panose="020E0502060401010101" pitchFamily="34" charset="-79"/>
            </a:endParaRPr>
          </a:p>
          <a:p>
            <a:endParaRPr lang="he-IL" sz="2000" dirty="0">
              <a:latin typeface="David" panose="020E0502060401010101" pitchFamily="34" charset="-79"/>
              <a:cs typeface="David" panose="020E0502060401010101" pitchFamily="34" charset="-79"/>
            </a:endParaRPr>
          </a:p>
          <a:p>
            <a:r>
              <a:rPr lang="he-IL" sz="2000" b="1" u="sng" dirty="0">
                <a:latin typeface="David" panose="020E0502060401010101" pitchFamily="34" charset="-79"/>
                <a:cs typeface="David" panose="020E0502060401010101" pitchFamily="34" charset="-79"/>
              </a:rPr>
              <a:t>5. כמה תלמידים יש בכל רמה תפקודית:</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סקירה כמותית של פיזור התלמידים בין הרמות השונות</a:t>
            </a:r>
          </a:p>
          <a:p>
            <a:endParaRPr lang="he-IL" dirty="0"/>
          </a:p>
        </p:txBody>
      </p:sp>
      <p:pic>
        <p:nvPicPr>
          <p:cNvPr id="6" name="תמונה 5">
            <a:extLst>
              <a:ext uri="{FF2B5EF4-FFF2-40B4-BE49-F238E27FC236}">
                <a16:creationId xmlns:a16="http://schemas.microsoft.com/office/drawing/2014/main" id="{BD9DBADE-BE07-45CC-B9F9-7892CB876DB2}"/>
              </a:ext>
            </a:extLst>
          </p:cNvPr>
          <p:cNvPicPr>
            <a:picLocks noChangeAspect="1"/>
          </p:cNvPicPr>
          <p:nvPr/>
        </p:nvPicPr>
        <p:blipFill>
          <a:blip r:embed="rId2"/>
          <a:stretch>
            <a:fillRect/>
          </a:stretch>
        </p:blipFill>
        <p:spPr>
          <a:xfrm>
            <a:off x="3248672" y="461303"/>
            <a:ext cx="4427604" cy="1082134"/>
          </a:xfrm>
          <a:prstGeom prst="rect">
            <a:avLst/>
          </a:prstGeom>
        </p:spPr>
      </p:pic>
      <p:pic>
        <p:nvPicPr>
          <p:cNvPr id="8" name="תמונה 7">
            <a:extLst>
              <a:ext uri="{FF2B5EF4-FFF2-40B4-BE49-F238E27FC236}">
                <a16:creationId xmlns:a16="http://schemas.microsoft.com/office/drawing/2014/main" id="{EEF7C5AC-0BF8-417D-BD43-4E0A06260780}"/>
              </a:ext>
            </a:extLst>
          </p:cNvPr>
          <p:cNvPicPr>
            <a:picLocks noChangeAspect="1"/>
          </p:cNvPicPr>
          <p:nvPr/>
        </p:nvPicPr>
        <p:blipFill>
          <a:blip r:embed="rId3"/>
          <a:stretch>
            <a:fillRect/>
          </a:stretch>
        </p:blipFill>
        <p:spPr>
          <a:xfrm>
            <a:off x="5758782" y="1274624"/>
            <a:ext cx="2331922" cy="1082134"/>
          </a:xfrm>
          <a:prstGeom prst="rect">
            <a:avLst/>
          </a:prstGeom>
        </p:spPr>
      </p:pic>
      <p:pic>
        <p:nvPicPr>
          <p:cNvPr id="10" name="תמונה 9">
            <a:extLst>
              <a:ext uri="{FF2B5EF4-FFF2-40B4-BE49-F238E27FC236}">
                <a16:creationId xmlns:a16="http://schemas.microsoft.com/office/drawing/2014/main" id="{86F912CE-11B0-4E50-9C42-91289790C96D}"/>
              </a:ext>
            </a:extLst>
          </p:cNvPr>
          <p:cNvPicPr>
            <a:picLocks noChangeAspect="1"/>
          </p:cNvPicPr>
          <p:nvPr/>
        </p:nvPicPr>
        <p:blipFill>
          <a:blip r:embed="rId4"/>
          <a:stretch>
            <a:fillRect/>
          </a:stretch>
        </p:blipFill>
        <p:spPr>
          <a:xfrm>
            <a:off x="669126" y="2403887"/>
            <a:ext cx="4816257" cy="1127858"/>
          </a:xfrm>
          <a:prstGeom prst="rect">
            <a:avLst/>
          </a:prstGeom>
        </p:spPr>
      </p:pic>
      <p:pic>
        <p:nvPicPr>
          <p:cNvPr id="12" name="תמונה 11">
            <a:extLst>
              <a:ext uri="{FF2B5EF4-FFF2-40B4-BE49-F238E27FC236}">
                <a16:creationId xmlns:a16="http://schemas.microsoft.com/office/drawing/2014/main" id="{8B3F917E-F357-42E6-94AF-CF0D6ED1F21C}"/>
              </a:ext>
            </a:extLst>
          </p:cNvPr>
          <p:cNvPicPr>
            <a:picLocks noChangeAspect="1"/>
          </p:cNvPicPr>
          <p:nvPr/>
        </p:nvPicPr>
        <p:blipFill>
          <a:blip r:embed="rId5"/>
          <a:stretch>
            <a:fillRect/>
          </a:stretch>
        </p:blipFill>
        <p:spPr>
          <a:xfrm>
            <a:off x="4642085" y="3217207"/>
            <a:ext cx="3258101" cy="810473"/>
          </a:xfrm>
          <a:prstGeom prst="rect">
            <a:avLst/>
          </a:prstGeom>
        </p:spPr>
      </p:pic>
      <p:pic>
        <p:nvPicPr>
          <p:cNvPr id="14" name="תמונה 13">
            <a:extLst>
              <a:ext uri="{FF2B5EF4-FFF2-40B4-BE49-F238E27FC236}">
                <a16:creationId xmlns:a16="http://schemas.microsoft.com/office/drawing/2014/main" id="{529BC6CD-F8C1-4317-BC76-E3E56674236B}"/>
              </a:ext>
            </a:extLst>
          </p:cNvPr>
          <p:cNvPicPr>
            <a:picLocks noChangeAspect="1"/>
          </p:cNvPicPr>
          <p:nvPr/>
        </p:nvPicPr>
        <p:blipFill>
          <a:blip r:embed="rId6"/>
          <a:stretch>
            <a:fillRect/>
          </a:stretch>
        </p:blipFill>
        <p:spPr>
          <a:xfrm>
            <a:off x="838200" y="4525187"/>
            <a:ext cx="4510654" cy="1154806"/>
          </a:xfrm>
          <a:prstGeom prst="rect">
            <a:avLst/>
          </a:prstGeom>
        </p:spPr>
      </p:pic>
      <p:pic>
        <p:nvPicPr>
          <p:cNvPr id="16" name="תמונה 15">
            <a:extLst>
              <a:ext uri="{FF2B5EF4-FFF2-40B4-BE49-F238E27FC236}">
                <a16:creationId xmlns:a16="http://schemas.microsoft.com/office/drawing/2014/main" id="{9086E26F-41B8-42FA-842B-40397C034E64}"/>
              </a:ext>
            </a:extLst>
          </p:cNvPr>
          <p:cNvPicPr>
            <a:picLocks noChangeAspect="1"/>
          </p:cNvPicPr>
          <p:nvPr/>
        </p:nvPicPr>
        <p:blipFill>
          <a:blip r:embed="rId7"/>
          <a:stretch>
            <a:fillRect/>
          </a:stretch>
        </p:blipFill>
        <p:spPr>
          <a:xfrm>
            <a:off x="4642085" y="5463839"/>
            <a:ext cx="2684690" cy="810473"/>
          </a:xfrm>
          <a:prstGeom prst="rect">
            <a:avLst/>
          </a:prstGeom>
        </p:spPr>
      </p:pic>
    </p:spTree>
    <p:extLst>
      <p:ext uri="{BB962C8B-B14F-4D97-AF65-F5344CB8AC3E}">
        <p14:creationId xmlns:p14="http://schemas.microsoft.com/office/powerpoint/2010/main" val="3190486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18A8E807-29B7-47A3-BDB9-04BD6D69ED41}"/>
              </a:ext>
            </a:extLst>
          </p:cNvPr>
          <p:cNvSpPr>
            <a:spLocks noGrp="1"/>
          </p:cNvSpPr>
          <p:nvPr>
            <p:ph type="sldNum" sz="quarter" idx="12"/>
          </p:nvPr>
        </p:nvSpPr>
        <p:spPr/>
        <p:txBody>
          <a:bodyPr/>
          <a:lstStyle/>
          <a:p>
            <a:fld id="{9D77A262-A0C6-4C11-A684-4A90AD65C1E2}" type="slidenum">
              <a:rPr lang="he-IL" smtClean="0"/>
              <a:t>23</a:t>
            </a:fld>
            <a:endParaRPr lang="he-IL"/>
          </a:p>
        </p:txBody>
      </p:sp>
      <p:sp>
        <p:nvSpPr>
          <p:cNvPr id="2" name="תיבת טקסט 1">
            <a:extLst>
              <a:ext uri="{FF2B5EF4-FFF2-40B4-BE49-F238E27FC236}">
                <a16:creationId xmlns:a16="http://schemas.microsoft.com/office/drawing/2014/main" id="{380C53A4-6B5E-4032-A5E5-FAC2359EADB6}"/>
              </a:ext>
            </a:extLst>
          </p:cNvPr>
          <p:cNvSpPr txBox="1"/>
          <p:nvPr/>
        </p:nvSpPr>
        <p:spPr>
          <a:xfrm>
            <a:off x="8124463" y="640913"/>
            <a:ext cx="3102015" cy="6217087"/>
          </a:xfrm>
          <a:prstGeom prst="rect">
            <a:avLst/>
          </a:prstGeom>
          <a:noFill/>
        </p:spPr>
        <p:txBody>
          <a:bodyPr wrap="square" rtlCol="1">
            <a:spAutoFit/>
          </a:bodyPr>
          <a:lstStyle/>
          <a:p>
            <a:r>
              <a:rPr lang="he-IL" sz="2000" b="1" u="sng" dirty="0">
                <a:latin typeface="David" panose="020E0502060401010101" pitchFamily="34" charset="-79"/>
                <a:cs typeface="David" panose="020E0502060401010101" pitchFamily="34" charset="-79"/>
              </a:rPr>
              <a:t>6. הורים שעדיין לא ביצעו אף הזמנה:</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איתור הורים שטרם רכשו מקצועות, לצורך פנייה שיווקית או מעקב</a:t>
            </a:r>
          </a:p>
          <a:p>
            <a:endParaRPr lang="he-IL" sz="2000" dirty="0">
              <a:latin typeface="David" panose="020E0502060401010101" pitchFamily="34" charset="-79"/>
              <a:cs typeface="David" panose="020E0502060401010101" pitchFamily="34" charset="-79"/>
            </a:endParaRPr>
          </a:p>
          <a:p>
            <a:endParaRPr lang="he-IL" sz="2000" dirty="0">
              <a:latin typeface="David" panose="020E0502060401010101" pitchFamily="34" charset="-79"/>
              <a:cs typeface="David" panose="020E0502060401010101" pitchFamily="34" charset="-79"/>
            </a:endParaRPr>
          </a:p>
          <a:p>
            <a:r>
              <a:rPr lang="he-IL" sz="2000" b="1" u="sng" dirty="0">
                <a:latin typeface="David" panose="020E0502060401010101" pitchFamily="34" charset="-79"/>
                <a:cs typeface="David" panose="020E0502060401010101" pitchFamily="34" charset="-79"/>
              </a:rPr>
              <a:t>7. מתנדבים שטרם שובצו לאף תלמיד:</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איתור מתנדבים זמינים שטרם הוצמדו לתלמיד כלשהו</a:t>
            </a:r>
          </a:p>
          <a:p>
            <a:endParaRPr lang="he-IL" sz="2000" dirty="0">
              <a:latin typeface="David" panose="020E0502060401010101" pitchFamily="34" charset="-79"/>
              <a:cs typeface="David" panose="020E0502060401010101" pitchFamily="34" charset="-79"/>
            </a:endParaRPr>
          </a:p>
          <a:p>
            <a:endParaRPr lang="he-IL" sz="2000" dirty="0">
              <a:latin typeface="David" panose="020E0502060401010101" pitchFamily="34" charset="-79"/>
              <a:cs typeface="David" panose="020E0502060401010101" pitchFamily="34" charset="-79"/>
            </a:endParaRPr>
          </a:p>
          <a:p>
            <a:r>
              <a:rPr lang="he-IL" sz="2000" b="1" u="sng" dirty="0">
                <a:latin typeface="David" panose="020E0502060401010101" pitchFamily="34" charset="-79"/>
                <a:cs typeface="David" panose="020E0502060401010101" pitchFamily="34" charset="-79"/>
              </a:rPr>
              <a:t>8. ממוצע ציונים לפי רמה תפקודית:</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השוואה בין הרמות – האם תלמידים עצמאיים יותר משיגים ציונים גבוהים יותר?</a:t>
            </a:r>
          </a:p>
          <a:p>
            <a:endParaRPr lang="he-IL" sz="2000" dirty="0">
              <a:latin typeface="David" panose="020E0502060401010101" pitchFamily="34" charset="-79"/>
              <a:cs typeface="David" panose="020E0502060401010101" pitchFamily="34" charset="-79"/>
            </a:endParaRPr>
          </a:p>
          <a:p>
            <a:endParaRPr lang="he-IL" dirty="0"/>
          </a:p>
        </p:txBody>
      </p:sp>
      <p:pic>
        <p:nvPicPr>
          <p:cNvPr id="6" name="תמונה 5">
            <a:extLst>
              <a:ext uri="{FF2B5EF4-FFF2-40B4-BE49-F238E27FC236}">
                <a16:creationId xmlns:a16="http://schemas.microsoft.com/office/drawing/2014/main" id="{9B3EA915-1A0A-4331-B7D2-03EFC9236FF3}"/>
              </a:ext>
            </a:extLst>
          </p:cNvPr>
          <p:cNvPicPr>
            <a:picLocks noChangeAspect="1"/>
          </p:cNvPicPr>
          <p:nvPr/>
        </p:nvPicPr>
        <p:blipFill>
          <a:blip r:embed="rId2"/>
          <a:stretch>
            <a:fillRect/>
          </a:stretch>
        </p:blipFill>
        <p:spPr>
          <a:xfrm>
            <a:off x="3208467" y="640913"/>
            <a:ext cx="3642676" cy="914479"/>
          </a:xfrm>
          <a:prstGeom prst="rect">
            <a:avLst/>
          </a:prstGeom>
        </p:spPr>
      </p:pic>
      <p:pic>
        <p:nvPicPr>
          <p:cNvPr id="8" name="תמונה 7">
            <a:extLst>
              <a:ext uri="{FF2B5EF4-FFF2-40B4-BE49-F238E27FC236}">
                <a16:creationId xmlns:a16="http://schemas.microsoft.com/office/drawing/2014/main" id="{E2FF38AB-2429-4AF3-A02A-1EE60586A9F2}"/>
              </a:ext>
            </a:extLst>
          </p:cNvPr>
          <p:cNvPicPr>
            <a:picLocks noChangeAspect="1"/>
          </p:cNvPicPr>
          <p:nvPr/>
        </p:nvPicPr>
        <p:blipFill>
          <a:blip r:embed="rId3"/>
          <a:stretch>
            <a:fillRect/>
          </a:stretch>
        </p:blipFill>
        <p:spPr>
          <a:xfrm>
            <a:off x="5029805" y="1487433"/>
            <a:ext cx="3094658" cy="503496"/>
          </a:xfrm>
          <a:prstGeom prst="rect">
            <a:avLst/>
          </a:prstGeom>
        </p:spPr>
      </p:pic>
      <p:pic>
        <p:nvPicPr>
          <p:cNvPr id="13" name="תמונה 12">
            <a:extLst>
              <a:ext uri="{FF2B5EF4-FFF2-40B4-BE49-F238E27FC236}">
                <a16:creationId xmlns:a16="http://schemas.microsoft.com/office/drawing/2014/main" id="{19442DED-3454-4D01-8771-320448D58AD5}"/>
              </a:ext>
            </a:extLst>
          </p:cNvPr>
          <p:cNvPicPr>
            <a:picLocks noChangeAspect="1"/>
          </p:cNvPicPr>
          <p:nvPr/>
        </p:nvPicPr>
        <p:blipFill>
          <a:blip r:embed="rId4"/>
          <a:stretch>
            <a:fillRect/>
          </a:stretch>
        </p:blipFill>
        <p:spPr>
          <a:xfrm>
            <a:off x="780503" y="2586872"/>
            <a:ext cx="5539578" cy="711914"/>
          </a:xfrm>
          <a:prstGeom prst="rect">
            <a:avLst/>
          </a:prstGeom>
        </p:spPr>
      </p:pic>
      <p:pic>
        <p:nvPicPr>
          <p:cNvPr id="17" name="תמונה 16">
            <a:extLst>
              <a:ext uri="{FF2B5EF4-FFF2-40B4-BE49-F238E27FC236}">
                <a16:creationId xmlns:a16="http://schemas.microsoft.com/office/drawing/2014/main" id="{AE8B1B70-E4EE-4DE8-811D-FE6792CF0C0E}"/>
              </a:ext>
            </a:extLst>
          </p:cNvPr>
          <p:cNvPicPr>
            <a:picLocks noChangeAspect="1"/>
          </p:cNvPicPr>
          <p:nvPr/>
        </p:nvPicPr>
        <p:blipFill>
          <a:blip r:embed="rId5"/>
          <a:stretch>
            <a:fillRect/>
          </a:stretch>
        </p:blipFill>
        <p:spPr>
          <a:xfrm>
            <a:off x="696612" y="4539937"/>
            <a:ext cx="5399388" cy="1511621"/>
          </a:xfrm>
          <a:prstGeom prst="rect">
            <a:avLst/>
          </a:prstGeom>
        </p:spPr>
      </p:pic>
      <p:pic>
        <p:nvPicPr>
          <p:cNvPr id="19" name="תמונה 18">
            <a:extLst>
              <a:ext uri="{FF2B5EF4-FFF2-40B4-BE49-F238E27FC236}">
                <a16:creationId xmlns:a16="http://schemas.microsoft.com/office/drawing/2014/main" id="{964388B6-2B10-42F7-A977-D8B714BE965D}"/>
              </a:ext>
            </a:extLst>
          </p:cNvPr>
          <p:cNvPicPr>
            <a:picLocks noChangeAspect="1"/>
          </p:cNvPicPr>
          <p:nvPr/>
        </p:nvPicPr>
        <p:blipFill>
          <a:blip r:embed="rId6"/>
          <a:stretch>
            <a:fillRect/>
          </a:stretch>
        </p:blipFill>
        <p:spPr>
          <a:xfrm>
            <a:off x="5417427" y="5660157"/>
            <a:ext cx="2319415" cy="782802"/>
          </a:xfrm>
          <a:prstGeom prst="rect">
            <a:avLst/>
          </a:prstGeom>
        </p:spPr>
      </p:pic>
      <p:pic>
        <p:nvPicPr>
          <p:cNvPr id="5" name="תמונה 4">
            <a:extLst>
              <a:ext uri="{FF2B5EF4-FFF2-40B4-BE49-F238E27FC236}">
                <a16:creationId xmlns:a16="http://schemas.microsoft.com/office/drawing/2014/main" id="{FB40A6B9-92EC-43EB-AD1B-0D929D50CCC0}"/>
              </a:ext>
            </a:extLst>
          </p:cNvPr>
          <p:cNvPicPr>
            <a:picLocks noChangeAspect="1"/>
          </p:cNvPicPr>
          <p:nvPr/>
        </p:nvPicPr>
        <p:blipFill>
          <a:blip r:embed="rId7"/>
          <a:stretch>
            <a:fillRect/>
          </a:stretch>
        </p:blipFill>
        <p:spPr>
          <a:xfrm>
            <a:off x="5029805" y="3345061"/>
            <a:ext cx="2974126" cy="694349"/>
          </a:xfrm>
          <a:prstGeom prst="rect">
            <a:avLst/>
          </a:prstGeom>
        </p:spPr>
      </p:pic>
    </p:spTree>
    <p:extLst>
      <p:ext uri="{BB962C8B-B14F-4D97-AF65-F5344CB8AC3E}">
        <p14:creationId xmlns:p14="http://schemas.microsoft.com/office/powerpoint/2010/main" val="432774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18A8E807-29B7-47A3-BDB9-04BD6D69ED41}"/>
              </a:ext>
            </a:extLst>
          </p:cNvPr>
          <p:cNvSpPr>
            <a:spLocks noGrp="1"/>
          </p:cNvSpPr>
          <p:nvPr>
            <p:ph type="sldNum" sz="quarter" idx="12"/>
          </p:nvPr>
        </p:nvSpPr>
        <p:spPr/>
        <p:txBody>
          <a:bodyPr/>
          <a:lstStyle/>
          <a:p>
            <a:fld id="{9D77A262-A0C6-4C11-A684-4A90AD65C1E2}" type="slidenum">
              <a:rPr lang="he-IL" smtClean="0"/>
              <a:t>24</a:t>
            </a:fld>
            <a:endParaRPr lang="he-IL"/>
          </a:p>
        </p:txBody>
      </p:sp>
      <p:pic>
        <p:nvPicPr>
          <p:cNvPr id="5" name="תמונה 4">
            <a:extLst>
              <a:ext uri="{FF2B5EF4-FFF2-40B4-BE49-F238E27FC236}">
                <a16:creationId xmlns:a16="http://schemas.microsoft.com/office/drawing/2014/main" id="{3C595346-75AF-4FED-B5C1-E1F6A47672F2}"/>
              </a:ext>
            </a:extLst>
          </p:cNvPr>
          <p:cNvPicPr>
            <a:picLocks noChangeAspect="1"/>
          </p:cNvPicPr>
          <p:nvPr/>
        </p:nvPicPr>
        <p:blipFill>
          <a:blip r:embed="rId2"/>
          <a:stretch>
            <a:fillRect/>
          </a:stretch>
        </p:blipFill>
        <p:spPr>
          <a:xfrm>
            <a:off x="2952901" y="447139"/>
            <a:ext cx="4252328" cy="1760373"/>
          </a:xfrm>
          <a:prstGeom prst="rect">
            <a:avLst/>
          </a:prstGeom>
        </p:spPr>
      </p:pic>
      <p:pic>
        <p:nvPicPr>
          <p:cNvPr id="7" name="תמונה 6">
            <a:extLst>
              <a:ext uri="{FF2B5EF4-FFF2-40B4-BE49-F238E27FC236}">
                <a16:creationId xmlns:a16="http://schemas.microsoft.com/office/drawing/2014/main" id="{9D5111FD-21E7-4376-B339-B243954F9FDB}"/>
              </a:ext>
            </a:extLst>
          </p:cNvPr>
          <p:cNvPicPr>
            <a:picLocks noChangeAspect="1"/>
          </p:cNvPicPr>
          <p:nvPr/>
        </p:nvPicPr>
        <p:blipFill>
          <a:blip r:embed="rId3"/>
          <a:stretch>
            <a:fillRect/>
          </a:stretch>
        </p:blipFill>
        <p:spPr>
          <a:xfrm>
            <a:off x="3132515" y="2162808"/>
            <a:ext cx="5599948" cy="1091044"/>
          </a:xfrm>
          <a:prstGeom prst="rect">
            <a:avLst/>
          </a:prstGeom>
        </p:spPr>
      </p:pic>
      <p:pic>
        <p:nvPicPr>
          <p:cNvPr id="9" name="תמונה 8">
            <a:extLst>
              <a:ext uri="{FF2B5EF4-FFF2-40B4-BE49-F238E27FC236}">
                <a16:creationId xmlns:a16="http://schemas.microsoft.com/office/drawing/2014/main" id="{658C19E0-0417-40EF-864D-6873B4FC6152}"/>
              </a:ext>
            </a:extLst>
          </p:cNvPr>
          <p:cNvPicPr>
            <a:picLocks noChangeAspect="1"/>
          </p:cNvPicPr>
          <p:nvPr/>
        </p:nvPicPr>
        <p:blipFill>
          <a:blip r:embed="rId4"/>
          <a:stretch>
            <a:fillRect/>
          </a:stretch>
        </p:blipFill>
        <p:spPr>
          <a:xfrm>
            <a:off x="445704" y="3758730"/>
            <a:ext cx="5014395" cy="1836579"/>
          </a:xfrm>
          <a:prstGeom prst="rect">
            <a:avLst/>
          </a:prstGeom>
        </p:spPr>
      </p:pic>
      <p:pic>
        <p:nvPicPr>
          <p:cNvPr id="11" name="תמונה 10">
            <a:extLst>
              <a:ext uri="{FF2B5EF4-FFF2-40B4-BE49-F238E27FC236}">
                <a16:creationId xmlns:a16="http://schemas.microsoft.com/office/drawing/2014/main" id="{FC808E99-4900-413E-8075-FF30A35CE04D}"/>
              </a:ext>
            </a:extLst>
          </p:cNvPr>
          <p:cNvPicPr>
            <a:picLocks noChangeAspect="1"/>
          </p:cNvPicPr>
          <p:nvPr/>
        </p:nvPicPr>
        <p:blipFill>
          <a:blip r:embed="rId5"/>
          <a:stretch>
            <a:fillRect/>
          </a:stretch>
        </p:blipFill>
        <p:spPr>
          <a:xfrm>
            <a:off x="4420080" y="4430726"/>
            <a:ext cx="3676134" cy="2196979"/>
          </a:xfrm>
          <a:prstGeom prst="rect">
            <a:avLst/>
          </a:prstGeom>
        </p:spPr>
      </p:pic>
      <p:sp>
        <p:nvSpPr>
          <p:cNvPr id="12" name="תיבת טקסט 11">
            <a:extLst>
              <a:ext uri="{FF2B5EF4-FFF2-40B4-BE49-F238E27FC236}">
                <a16:creationId xmlns:a16="http://schemas.microsoft.com/office/drawing/2014/main" id="{E7D5BC16-A850-41E5-AC43-61B774DF3A8B}"/>
              </a:ext>
            </a:extLst>
          </p:cNvPr>
          <p:cNvSpPr txBox="1"/>
          <p:nvPr/>
        </p:nvSpPr>
        <p:spPr>
          <a:xfrm>
            <a:off x="8136846" y="510485"/>
            <a:ext cx="3806522" cy="5386090"/>
          </a:xfrm>
          <a:prstGeom prst="rect">
            <a:avLst/>
          </a:prstGeom>
          <a:noFill/>
        </p:spPr>
        <p:txBody>
          <a:bodyPr wrap="square" rtlCol="1">
            <a:spAutoFit/>
          </a:bodyPr>
          <a:lstStyle/>
          <a:p>
            <a:r>
              <a:rPr lang="he-IL" sz="2000" b="1" u="sng" dirty="0">
                <a:latin typeface="David" panose="020E0502060401010101" pitchFamily="34" charset="-79"/>
                <a:cs typeface="David" panose="020E0502060401010101" pitchFamily="34" charset="-79"/>
              </a:rPr>
              <a:t>9. תלמידים שממתינים להתנדבות שטרם בוצעה:</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הצגת כל התלמידים שיש להם שיבוץ מתנדב בסטטוס </a:t>
            </a:r>
            <a:r>
              <a:rPr lang="en-US" sz="2000" dirty="0">
                <a:latin typeface="David" panose="020E0502060401010101" pitchFamily="34" charset="-79"/>
                <a:cs typeface="David" panose="020E0502060401010101" pitchFamily="34" charset="-79"/>
              </a:rPr>
              <a:t>"assigned”</a:t>
            </a:r>
            <a:r>
              <a:rPr lang="he-IL" sz="2000" dirty="0">
                <a:latin typeface="David" panose="020E0502060401010101" pitchFamily="34" charset="-79"/>
                <a:cs typeface="David" panose="020E0502060401010101" pitchFamily="34" charset="-79"/>
              </a:rPr>
              <a:t> (טרם בוצע), ממוין לפי תאריך.</a:t>
            </a:r>
          </a:p>
          <a:p>
            <a:endParaRPr lang="he-IL" dirty="0"/>
          </a:p>
          <a:p>
            <a:endParaRPr lang="he-IL" dirty="0"/>
          </a:p>
          <a:p>
            <a:endParaRPr lang="he-IL" dirty="0"/>
          </a:p>
          <a:p>
            <a:endParaRPr lang="he-IL" dirty="0"/>
          </a:p>
          <a:p>
            <a:endParaRPr lang="he-IL" dirty="0"/>
          </a:p>
          <a:p>
            <a:endParaRPr lang="he-IL" dirty="0"/>
          </a:p>
          <a:p>
            <a:r>
              <a:rPr lang="he-IL" b="1" u="sng" dirty="0">
                <a:latin typeface="David" panose="020E0502060401010101" pitchFamily="34" charset="-79"/>
                <a:cs typeface="David" panose="020E0502060401010101" pitchFamily="34" charset="-79"/>
              </a:rPr>
              <a:t>10</a:t>
            </a:r>
            <a:r>
              <a:rPr lang="he-IL" sz="2000" b="1" u="sng" dirty="0">
                <a:latin typeface="David" panose="020E0502060401010101" pitchFamily="34" charset="-79"/>
                <a:cs typeface="David" panose="020E0502060401010101" pitchFamily="34" charset="-79"/>
              </a:rPr>
              <a:t>. סיכום פעילות לכל הורה – מספר ילדים והזמנות</a:t>
            </a:r>
          </a:p>
          <a:p>
            <a:r>
              <a:rPr lang="he-IL" sz="2000" b="1" dirty="0">
                <a:latin typeface="David" panose="020E0502060401010101" pitchFamily="34" charset="-79"/>
                <a:cs typeface="David" panose="020E0502060401010101" pitchFamily="34" charset="-79"/>
              </a:rPr>
              <a:t>מטרה: </a:t>
            </a:r>
            <a:r>
              <a:rPr lang="he-IL" sz="2000" dirty="0">
                <a:latin typeface="David" panose="020E0502060401010101" pitchFamily="34" charset="-79"/>
                <a:cs typeface="David" panose="020E0502060401010101" pitchFamily="34" charset="-79"/>
              </a:rPr>
              <a:t>מתן תמונה מלאה על מעורבות ההורים במערכת, ממוין לפי כמות הזמנות.</a:t>
            </a:r>
          </a:p>
          <a:p>
            <a:endParaRPr lang="he-IL" dirty="0"/>
          </a:p>
          <a:p>
            <a:endParaRPr lang="he-IL" dirty="0"/>
          </a:p>
        </p:txBody>
      </p:sp>
    </p:spTree>
    <p:extLst>
      <p:ext uri="{BB962C8B-B14F-4D97-AF65-F5344CB8AC3E}">
        <p14:creationId xmlns:p14="http://schemas.microsoft.com/office/powerpoint/2010/main" val="1394316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18A8E807-29B7-47A3-BDB9-04BD6D69ED41}"/>
              </a:ext>
            </a:extLst>
          </p:cNvPr>
          <p:cNvSpPr>
            <a:spLocks noGrp="1"/>
          </p:cNvSpPr>
          <p:nvPr>
            <p:ph type="sldNum" sz="quarter" idx="12"/>
          </p:nvPr>
        </p:nvSpPr>
        <p:spPr/>
        <p:txBody>
          <a:bodyPr/>
          <a:lstStyle/>
          <a:p>
            <a:fld id="{9D77A262-A0C6-4C11-A684-4A90AD65C1E2}" type="slidenum">
              <a:rPr lang="he-IL" smtClean="0"/>
              <a:t>25</a:t>
            </a:fld>
            <a:endParaRPr lang="he-IL"/>
          </a:p>
        </p:txBody>
      </p:sp>
      <p:sp>
        <p:nvSpPr>
          <p:cNvPr id="4" name="חץ: מחומש 3">
            <a:extLst>
              <a:ext uri="{FF2B5EF4-FFF2-40B4-BE49-F238E27FC236}">
                <a16:creationId xmlns:a16="http://schemas.microsoft.com/office/drawing/2014/main" id="{B1622A67-E138-45FB-91DF-6F43AFFDFD5C}"/>
              </a:ext>
            </a:extLst>
          </p:cNvPr>
          <p:cNvSpPr/>
          <p:nvPr/>
        </p:nvSpPr>
        <p:spPr>
          <a:xfrm flipH="1">
            <a:off x="9217481" y="1406886"/>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פרוצדורה:</a:t>
            </a:r>
          </a:p>
        </p:txBody>
      </p:sp>
      <p:sp>
        <p:nvSpPr>
          <p:cNvPr id="2" name="תיבת טקסט 1">
            <a:extLst>
              <a:ext uri="{FF2B5EF4-FFF2-40B4-BE49-F238E27FC236}">
                <a16:creationId xmlns:a16="http://schemas.microsoft.com/office/drawing/2014/main" id="{C9712BC7-CAF9-466A-B279-F206509E6814}"/>
              </a:ext>
            </a:extLst>
          </p:cNvPr>
          <p:cNvSpPr txBox="1"/>
          <p:nvPr/>
        </p:nvSpPr>
        <p:spPr>
          <a:xfrm>
            <a:off x="7413171" y="1967593"/>
            <a:ext cx="4246851" cy="4708981"/>
          </a:xfrm>
          <a:prstGeom prst="rect">
            <a:avLst/>
          </a:prstGeom>
          <a:noFill/>
        </p:spPr>
        <p:txBody>
          <a:bodyPr wrap="square" rtlCol="1">
            <a:spAutoFit/>
          </a:bodyPr>
          <a:lstStyle/>
          <a:p>
            <a:r>
              <a:rPr lang="en-US" sz="2000" b="1" u="sng" dirty="0" err="1">
                <a:latin typeface="David" panose="020E0502060401010101" pitchFamily="34" charset="-79"/>
                <a:cs typeface="David" panose="020E0502060401010101" pitchFamily="34" charset="-79"/>
              </a:rPr>
              <a:t>AssignVolunteer</a:t>
            </a:r>
            <a:r>
              <a:rPr lang="he-IL" sz="2000" b="1" u="sng" dirty="0">
                <a:latin typeface="David" panose="020E0502060401010101" pitchFamily="34" charset="-79"/>
                <a:cs typeface="David" panose="020E0502060401010101" pitchFamily="34" charset="-79"/>
              </a:rPr>
              <a:t> - פרוצדורה לשיבוץ מתנדב חדש לתלמיד:</a:t>
            </a:r>
          </a:p>
          <a:p>
            <a:r>
              <a:rPr lang="he-IL" sz="2000" b="1" dirty="0">
                <a:latin typeface="David" panose="020E0502060401010101" pitchFamily="34" charset="-79"/>
                <a:cs typeface="David" panose="020E0502060401010101" pitchFamily="34" charset="-79"/>
              </a:rPr>
              <a:t>מטרה:</a:t>
            </a:r>
            <a:r>
              <a:rPr lang="he-IL" sz="2000" dirty="0">
                <a:latin typeface="David" panose="020E0502060401010101" pitchFamily="34" charset="-79"/>
                <a:cs typeface="David" panose="020E0502060401010101" pitchFamily="34" charset="-79"/>
              </a:rPr>
              <a:t> שיבוץ מתנדב לתלמיד בתאריך מסוים, תוך מניעת כפילות - אם המתנדב כבר משובץ באותו תאריך, הפרוצדורה מדפיסה הודעת שגיאה ולא מבצעת הכנסה חדשה.</a:t>
            </a:r>
          </a:p>
          <a:p>
            <a:endParaRPr lang="he-IL" sz="1600" u="sng" dirty="0">
              <a:latin typeface="David" panose="020E0502060401010101" pitchFamily="34" charset="-79"/>
              <a:cs typeface="David" panose="020E0502060401010101" pitchFamily="34" charset="-79"/>
            </a:endParaRPr>
          </a:p>
          <a:p>
            <a:r>
              <a:rPr lang="he-IL" sz="1600" u="sng" dirty="0">
                <a:latin typeface="David" panose="020E0502060401010101" pitchFamily="34" charset="-79"/>
                <a:cs typeface="David" panose="020E0502060401010101" pitchFamily="34" charset="-79"/>
              </a:rPr>
              <a:t>הפרמטרים:</a:t>
            </a:r>
          </a:p>
          <a:p>
            <a:r>
              <a:rPr lang="en-US" sz="1600" dirty="0"/>
              <a:t>@v_volunteer_id</a:t>
            </a:r>
            <a:r>
              <a:rPr lang="he-IL" sz="1600" dirty="0">
                <a:latin typeface="David" panose="020E0502060401010101" pitchFamily="34" charset="-79"/>
                <a:cs typeface="David" panose="020E0502060401010101" pitchFamily="34" charset="-79"/>
              </a:rPr>
              <a:t> - מזהה המתנדב.</a:t>
            </a:r>
          </a:p>
          <a:p>
            <a:r>
              <a:rPr lang="en-US" sz="1600" dirty="0"/>
              <a:t>@v_student_id</a:t>
            </a:r>
            <a:r>
              <a:rPr lang="he-IL" sz="1600" dirty="0">
                <a:latin typeface="David" panose="020E0502060401010101" pitchFamily="34" charset="-79"/>
                <a:cs typeface="David" panose="020E0502060401010101" pitchFamily="34" charset="-79"/>
              </a:rPr>
              <a:t> - מזהה התלמיד.</a:t>
            </a:r>
          </a:p>
          <a:p>
            <a:r>
              <a:rPr lang="en-US" sz="1600" dirty="0"/>
              <a:t>@v_volunteer_date</a:t>
            </a:r>
            <a:r>
              <a:rPr lang="he-IL" sz="1600" dirty="0">
                <a:latin typeface="David" panose="020E0502060401010101" pitchFamily="34" charset="-79"/>
                <a:cs typeface="David" panose="020E0502060401010101" pitchFamily="34" charset="-79"/>
              </a:rPr>
              <a:t> - תאריך ההתנדבות.</a:t>
            </a:r>
          </a:p>
          <a:p>
            <a:r>
              <a:rPr lang="he-IL" sz="1600" u="sng" dirty="0">
                <a:latin typeface="David" panose="020E0502060401010101" pitchFamily="34" charset="-79"/>
                <a:cs typeface="David" panose="020E0502060401010101" pitchFamily="34" charset="-79"/>
              </a:rPr>
              <a:t>לוגיקה:</a:t>
            </a:r>
          </a:p>
          <a:p>
            <a:r>
              <a:rPr lang="he-IL" sz="1600" dirty="0">
                <a:latin typeface="David" panose="020E0502060401010101" pitchFamily="34" charset="-79"/>
                <a:cs typeface="David" panose="020E0502060401010101" pitchFamily="34" charset="-79"/>
              </a:rPr>
              <a:t>הפרוצדורה בודקת האם קיים כבר שיבוץ למתנדב באותו תאריך.</a:t>
            </a:r>
          </a:p>
          <a:p>
            <a:r>
              <a:rPr lang="he-IL" sz="1600" dirty="0">
                <a:latin typeface="David" panose="020E0502060401010101" pitchFamily="34" charset="-79"/>
                <a:cs typeface="David" panose="020E0502060401010101" pitchFamily="34" charset="-79"/>
              </a:rPr>
              <a:t>אם לא - מבצעת </a:t>
            </a:r>
            <a:r>
              <a:rPr lang="en-US" sz="1600" dirty="0">
                <a:latin typeface="David" panose="020E0502060401010101" pitchFamily="34" charset="-79"/>
                <a:cs typeface="David" panose="020E0502060401010101" pitchFamily="34" charset="-79"/>
              </a:rPr>
              <a:t>INSERT</a:t>
            </a:r>
            <a:r>
              <a:rPr lang="he-IL" sz="1600" dirty="0">
                <a:latin typeface="David" panose="020E0502060401010101" pitchFamily="34" charset="-79"/>
                <a:cs typeface="David" panose="020E0502060401010101" pitchFamily="34" charset="-79"/>
              </a:rPr>
              <a:t> .</a:t>
            </a:r>
          </a:p>
          <a:p>
            <a:r>
              <a:rPr lang="he-IL" sz="1600" dirty="0">
                <a:latin typeface="David" panose="020E0502060401010101" pitchFamily="34" charset="-79"/>
                <a:cs typeface="David" panose="020E0502060401010101" pitchFamily="34" charset="-79"/>
              </a:rPr>
              <a:t>אם כן - מדפיסה שגיאה.</a:t>
            </a:r>
          </a:p>
        </p:txBody>
      </p:sp>
      <p:pic>
        <p:nvPicPr>
          <p:cNvPr id="8" name="תמונה 7">
            <a:extLst>
              <a:ext uri="{FF2B5EF4-FFF2-40B4-BE49-F238E27FC236}">
                <a16:creationId xmlns:a16="http://schemas.microsoft.com/office/drawing/2014/main" id="{0932C90C-0DD6-4D53-807E-A73C73F82FDE}"/>
              </a:ext>
            </a:extLst>
          </p:cNvPr>
          <p:cNvPicPr>
            <a:picLocks noChangeAspect="1"/>
          </p:cNvPicPr>
          <p:nvPr/>
        </p:nvPicPr>
        <p:blipFill>
          <a:blip r:embed="rId2"/>
          <a:stretch>
            <a:fillRect/>
          </a:stretch>
        </p:blipFill>
        <p:spPr>
          <a:xfrm>
            <a:off x="4546600" y="735326"/>
            <a:ext cx="2616002" cy="884824"/>
          </a:xfrm>
          <a:prstGeom prst="rect">
            <a:avLst/>
          </a:prstGeom>
        </p:spPr>
      </p:pic>
      <p:pic>
        <p:nvPicPr>
          <p:cNvPr id="7" name="תמונה 6">
            <a:extLst>
              <a:ext uri="{FF2B5EF4-FFF2-40B4-BE49-F238E27FC236}">
                <a16:creationId xmlns:a16="http://schemas.microsoft.com/office/drawing/2014/main" id="{0CC1833D-15FC-45CD-9467-5ABFF5F24E00}"/>
              </a:ext>
            </a:extLst>
          </p:cNvPr>
          <p:cNvPicPr>
            <a:picLocks noChangeAspect="1"/>
          </p:cNvPicPr>
          <p:nvPr/>
        </p:nvPicPr>
        <p:blipFill>
          <a:blip r:embed="rId3"/>
          <a:stretch>
            <a:fillRect/>
          </a:stretch>
        </p:blipFill>
        <p:spPr>
          <a:xfrm>
            <a:off x="557378" y="1818580"/>
            <a:ext cx="6233700" cy="4511431"/>
          </a:xfrm>
          <a:prstGeom prst="rect">
            <a:avLst/>
          </a:prstGeom>
        </p:spPr>
      </p:pic>
    </p:spTree>
    <p:extLst>
      <p:ext uri="{BB962C8B-B14F-4D97-AF65-F5344CB8AC3E}">
        <p14:creationId xmlns:p14="http://schemas.microsoft.com/office/powerpoint/2010/main" val="127481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FAEF2F2F-4BBC-47F6-8A42-4E6B1F2D832D}"/>
              </a:ext>
            </a:extLst>
          </p:cNvPr>
          <p:cNvPicPr>
            <a:picLocks noChangeAspect="1"/>
          </p:cNvPicPr>
          <p:nvPr/>
        </p:nvPicPr>
        <p:blipFill>
          <a:blip r:embed="rId2"/>
          <a:stretch>
            <a:fillRect/>
          </a:stretch>
        </p:blipFill>
        <p:spPr>
          <a:xfrm>
            <a:off x="2961153" y="1011663"/>
            <a:ext cx="4854361" cy="853514"/>
          </a:xfrm>
          <a:prstGeom prst="rect">
            <a:avLst/>
          </a:prstGeom>
        </p:spPr>
      </p:pic>
      <p:pic>
        <p:nvPicPr>
          <p:cNvPr id="6" name="תמונה 5">
            <a:extLst>
              <a:ext uri="{FF2B5EF4-FFF2-40B4-BE49-F238E27FC236}">
                <a16:creationId xmlns:a16="http://schemas.microsoft.com/office/drawing/2014/main" id="{6CE80C20-0D59-435A-9543-3A8E7D1A55A1}"/>
              </a:ext>
            </a:extLst>
          </p:cNvPr>
          <p:cNvPicPr>
            <a:picLocks noChangeAspect="1"/>
          </p:cNvPicPr>
          <p:nvPr/>
        </p:nvPicPr>
        <p:blipFill>
          <a:blip r:embed="rId3"/>
          <a:stretch>
            <a:fillRect/>
          </a:stretch>
        </p:blipFill>
        <p:spPr>
          <a:xfrm>
            <a:off x="362508" y="2379890"/>
            <a:ext cx="5197290" cy="3330229"/>
          </a:xfrm>
          <a:prstGeom prst="rect">
            <a:avLst/>
          </a:prstGeom>
        </p:spPr>
      </p:pic>
      <p:sp>
        <p:nvSpPr>
          <p:cNvPr id="3" name="מציין מיקום של מספר שקופית 2">
            <a:extLst>
              <a:ext uri="{FF2B5EF4-FFF2-40B4-BE49-F238E27FC236}">
                <a16:creationId xmlns:a16="http://schemas.microsoft.com/office/drawing/2014/main" id="{B403E4C1-3B7A-48BA-8BED-CC83B8DFA1E3}"/>
              </a:ext>
            </a:extLst>
          </p:cNvPr>
          <p:cNvSpPr>
            <a:spLocks noGrp="1"/>
          </p:cNvSpPr>
          <p:nvPr>
            <p:ph type="sldNum" sz="quarter" idx="12"/>
          </p:nvPr>
        </p:nvSpPr>
        <p:spPr/>
        <p:txBody>
          <a:bodyPr/>
          <a:lstStyle/>
          <a:p>
            <a:fld id="{9D77A262-A0C6-4C11-A684-4A90AD65C1E2}" type="slidenum">
              <a:rPr lang="he-IL" smtClean="0"/>
              <a:t>26</a:t>
            </a:fld>
            <a:endParaRPr lang="he-IL"/>
          </a:p>
        </p:txBody>
      </p:sp>
      <p:sp>
        <p:nvSpPr>
          <p:cNvPr id="4" name="חץ: מחומש 3">
            <a:extLst>
              <a:ext uri="{FF2B5EF4-FFF2-40B4-BE49-F238E27FC236}">
                <a16:creationId xmlns:a16="http://schemas.microsoft.com/office/drawing/2014/main" id="{D34BAB1D-68DD-46FA-B4AB-775C9BB4CCF8}"/>
              </a:ext>
            </a:extLst>
          </p:cNvPr>
          <p:cNvSpPr/>
          <p:nvPr/>
        </p:nvSpPr>
        <p:spPr>
          <a:xfrm flipH="1">
            <a:off x="9217481" y="1406886"/>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פונקציה:</a:t>
            </a:r>
          </a:p>
        </p:txBody>
      </p:sp>
      <p:pic>
        <p:nvPicPr>
          <p:cNvPr id="7" name="תמונה 6">
            <a:extLst>
              <a:ext uri="{FF2B5EF4-FFF2-40B4-BE49-F238E27FC236}">
                <a16:creationId xmlns:a16="http://schemas.microsoft.com/office/drawing/2014/main" id="{958F92A6-DB01-4653-8111-74F9A7AB7A0F}"/>
              </a:ext>
            </a:extLst>
          </p:cNvPr>
          <p:cNvPicPr>
            <a:picLocks noChangeAspect="1"/>
          </p:cNvPicPr>
          <p:nvPr/>
        </p:nvPicPr>
        <p:blipFill>
          <a:blip r:embed="rId4"/>
          <a:stretch>
            <a:fillRect/>
          </a:stretch>
        </p:blipFill>
        <p:spPr>
          <a:xfrm>
            <a:off x="2801719" y="5886031"/>
            <a:ext cx="4469654" cy="426528"/>
          </a:xfrm>
          <a:prstGeom prst="rect">
            <a:avLst/>
          </a:prstGeom>
        </p:spPr>
      </p:pic>
      <p:pic>
        <p:nvPicPr>
          <p:cNvPr id="5" name="תמונה 4">
            <a:extLst>
              <a:ext uri="{FF2B5EF4-FFF2-40B4-BE49-F238E27FC236}">
                <a16:creationId xmlns:a16="http://schemas.microsoft.com/office/drawing/2014/main" id="{4E2960BD-2F18-4E3E-8100-FDD2CF380C4E}"/>
              </a:ext>
            </a:extLst>
          </p:cNvPr>
          <p:cNvPicPr>
            <a:picLocks noChangeAspect="1"/>
          </p:cNvPicPr>
          <p:nvPr/>
        </p:nvPicPr>
        <p:blipFill>
          <a:blip r:embed="rId5"/>
          <a:stretch>
            <a:fillRect/>
          </a:stretch>
        </p:blipFill>
        <p:spPr>
          <a:xfrm>
            <a:off x="5247745" y="5518751"/>
            <a:ext cx="2101431" cy="426528"/>
          </a:xfrm>
          <a:prstGeom prst="rect">
            <a:avLst/>
          </a:prstGeom>
        </p:spPr>
      </p:pic>
      <p:pic>
        <p:nvPicPr>
          <p:cNvPr id="11" name="תמונה 10">
            <a:extLst>
              <a:ext uri="{FF2B5EF4-FFF2-40B4-BE49-F238E27FC236}">
                <a16:creationId xmlns:a16="http://schemas.microsoft.com/office/drawing/2014/main" id="{26A6A77F-7D98-484E-ADBA-6DFF36D74A2A}"/>
              </a:ext>
            </a:extLst>
          </p:cNvPr>
          <p:cNvPicPr>
            <a:picLocks noChangeAspect="1"/>
          </p:cNvPicPr>
          <p:nvPr/>
        </p:nvPicPr>
        <p:blipFill>
          <a:blip r:embed="rId6"/>
          <a:stretch>
            <a:fillRect/>
          </a:stretch>
        </p:blipFill>
        <p:spPr>
          <a:xfrm>
            <a:off x="5247745" y="1504333"/>
            <a:ext cx="2892387" cy="1751114"/>
          </a:xfrm>
          <a:prstGeom prst="rect">
            <a:avLst/>
          </a:prstGeom>
        </p:spPr>
      </p:pic>
      <p:sp>
        <p:nvSpPr>
          <p:cNvPr id="14" name="תיבת טקסט 13">
            <a:extLst>
              <a:ext uri="{FF2B5EF4-FFF2-40B4-BE49-F238E27FC236}">
                <a16:creationId xmlns:a16="http://schemas.microsoft.com/office/drawing/2014/main" id="{EED52F59-3804-4118-86FF-5EC93B2D74E9}"/>
              </a:ext>
            </a:extLst>
          </p:cNvPr>
          <p:cNvSpPr txBox="1"/>
          <p:nvPr/>
        </p:nvSpPr>
        <p:spPr>
          <a:xfrm>
            <a:off x="8351050" y="2219471"/>
            <a:ext cx="3478442" cy="3785652"/>
          </a:xfrm>
          <a:prstGeom prst="rect">
            <a:avLst/>
          </a:prstGeom>
          <a:noFill/>
        </p:spPr>
        <p:txBody>
          <a:bodyPr wrap="square" rtlCol="1">
            <a:spAutoFit/>
          </a:bodyPr>
          <a:lstStyle/>
          <a:p>
            <a:r>
              <a:rPr lang="en-US" sz="2000" b="1" u="sng" dirty="0" err="1">
                <a:latin typeface="David" panose="020E0502060401010101" pitchFamily="34" charset="-79"/>
                <a:cs typeface="David" panose="020E0502060401010101" pitchFamily="34" charset="-79"/>
              </a:rPr>
              <a:t>GetStudentsByParent</a:t>
            </a:r>
            <a:r>
              <a:rPr lang="he-IL" sz="2000" b="1" u="sng" dirty="0">
                <a:latin typeface="David" panose="020E0502060401010101" pitchFamily="34" charset="-79"/>
                <a:cs typeface="David" panose="020E0502060401010101" pitchFamily="34" charset="-79"/>
              </a:rPr>
              <a:t> - פונקציה להצגת שמות התלמידים של הורה:</a:t>
            </a:r>
          </a:p>
          <a:p>
            <a:r>
              <a:rPr lang="he-IL" sz="2000" b="1" dirty="0">
                <a:latin typeface="David" panose="020E0502060401010101" pitchFamily="34" charset="-79"/>
                <a:cs typeface="David" panose="020E0502060401010101" pitchFamily="34" charset="-79"/>
              </a:rPr>
              <a:t>מטרה:</a:t>
            </a:r>
            <a:r>
              <a:rPr lang="he-IL" sz="2000" dirty="0">
                <a:latin typeface="David" panose="020E0502060401010101" pitchFamily="34" charset="-79"/>
                <a:cs typeface="David" panose="020E0502060401010101" pitchFamily="34" charset="-79"/>
              </a:rPr>
              <a:t> מקבלת מזהה הורה ומחזירה מחרוזת עם שמות כל ילדיו הרשומים במערכת, מופרדים בפסיקים. משמשת לסיכום מהיר של ילדי ההורה בממשק הניהול.</a:t>
            </a:r>
          </a:p>
          <a:p>
            <a:endParaRPr lang="he-IL" sz="1600" dirty="0">
              <a:latin typeface="David" panose="020E0502060401010101" pitchFamily="34" charset="-79"/>
              <a:cs typeface="David" panose="020E0502060401010101" pitchFamily="34" charset="-79"/>
            </a:endParaRPr>
          </a:p>
          <a:p>
            <a:r>
              <a:rPr lang="he-IL" sz="1600" u="sng" dirty="0">
                <a:latin typeface="David" panose="020E0502060401010101" pitchFamily="34" charset="-79"/>
                <a:cs typeface="David" panose="020E0502060401010101" pitchFamily="34" charset="-79"/>
              </a:rPr>
              <a:t>הפרמטר</a:t>
            </a:r>
            <a:r>
              <a:rPr lang="he-IL" sz="1600" dirty="0">
                <a:latin typeface="David" panose="020E0502060401010101" pitchFamily="34" charset="-79"/>
                <a:cs typeface="David" panose="020E0502060401010101" pitchFamily="34" charset="-79"/>
              </a:rPr>
              <a:t>: </a:t>
            </a:r>
            <a:r>
              <a:rPr lang="en-US" sz="1600" dirty="0">
                <a:latin typeface="David" panose="020E0502060401010101" pitchFamily="34" charset="-79"/>
                <a:cs typeface="David" panose="020E0502060401010101" pitchFamily="34" charset="-79"/>
              </a:rPr>
              <a:t>@u_id</a:t>
            </a:r>
            <a:r>
              <a:rPr lang="he-IL" sz="1600" dirty="0">
                <a:latin typeface="David" panose="020E0502060401010101" pitchFamily="34" charset="-79"/>
                <a:cs typeface="David" panose="020E0502060401010101" pitchFamily="34" charset="-79"/>
              </a:rPr>
              <a:t> - מזהה המשתמש (הורה).</a:t>
            </a:r>
          </a:p>
          <a:p>
            <a:r>
              <a:rPr lang="he-IL" sz="1600" u="sng" dirty="0">
                <a:latin typeface="David" panose="020E0502060401010101" pitchFamily="34" charset="-79"/>
                <a:cs typeface="David" panose="020E0502060401010101" pitchFamily="34" charset="-79"/>
              </a:rPr>
              <a:t>החזרה: </a:t>
            </a:r>
            <a:r>
              <a:rPr lang="en-US" sz="1600" dirty="0">
                <a:latin typeface="David" panose="020E0502060401010101" pitchFamily="34" charset="-79"/>
                <a:cs typeface="David" panose="020E0502060401010101" pitchFamily="34" charset="-79"/>
              </a:rPr>
              <a:t>NVARCHAR(500)</a:t>
            </a:r>
            <a:r>
              <a:rPr lang="he-IL" sz="1600" dirty="0">
                <a:latin typeface="David" panose="020E0502060401010101" pitchFamily="34" charset="-79"/>
                <a:cs typeface="David" panose="020E0502060401010101" pitchFamily="34" charset="-79"/>
              </a:rPr>
              <a:t> רשימת שמות מופרדים בפסיק, או 'הורה לא נמצא' אם המזהה אינו קיים.</a:t>
            </a:r>
          </a:p>
        </p:txBody>
      </p:sp>
    </p:spTree>
    <p:extLst>
      <p:ext uri="{BB962C8B-B14F-4D97-AF65-F5344CB8AC3E}">
        <p14:creationId xmlns:p14="http://schemas.microsoft.com/office/powerpoint/2010/main" val="3891213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E4AD17EC-BD3A-4D15-8ED2-6C8DC43A2072}"/>
              </a:ext>
            </a:extLst>
          </p:cNvPr>
          <p:cNvSpPr>
            <a:spLocks noGrp="1"/>
          </p:cNvSpPr>
          <p:nvPr>
            <p:ph type="sldNum" sz="quarter" idx="12"/>
          </p:nvPr>
        </p:nvSpPr>
        <p:spPr/>
        <p:txBody>
          <a:bodyPr/>
          <a:lstStyle/>
          <a:p>
            <a:fld id="{9D77A262-A0C6-4C11-A684-4A90AD65C1E2}" type="slidenum">
              <a:rPr lang="he-IL" smtClean="0"/>
              <a:t>27</a:t>
            </a:fld>
            <a:endParaRPr lang="he-IL"/>
          </a:p>
        </p:txBody>
      </p:sp>
      <p:sp>
        <p:nvSpPr>
          <p:cNvPr id="4" name="חץ: מחומש 3">
            <a:extLst>
              <a:ext uri="{FF2B5EF4-FFF2-40B4-BE49-F238E27FC236}">
                <a16:creationId xmlns:a16="http://schemas.microsoft.com/office/drawing/2014/main" id="{30BB9AF5-B38A-48E7-A037-B4102E895B3A}"/>
              </a:ext>
            </a:extLst>
          </p:cNvPr>
          <p:cNvSpPr/>
          <p:nvPr/>
        </p:nvSpPr>
        <p:spPr>
          <a:xfrm flipH="1">
            <a:off x="9217481" y="1406886"/>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טריגר:</a:t>
            </a:r>
          </a:p>
        </p:txBody>
      </p:sp>
      <p:pic>
        <p:nvPicPr>
          <p:cNvPr id="10" name="תמונה 9">
            <a:extLst>
              <a:ext uri="{FF2B5EF4-FFF2-40B4-BE49-F238E27FC236}">
                <a16:creationId xmlns:a16="http://schemas.microsoft.com/office/drawing/2014/main" id="{0EAE493E-F716-47F5-9B8A-0D1EFECC7F0C}"/>
              </a:ext>
            </a:extLst>
          </p:cNvPr>
          <p:cNvPicPr>
            <a:picLocks noChangeAspect="1"/>
          </p:cNvPicPr>
          <p:nvPr/>
        </p:nvPicPr>
        <p:blipFill>
          <a:blip r:embed="rId2"/>
          <a:stretch>
            <a:fillRect/>
          </a:stretch>
        </p:blipFill>
        <p:spPr>
          <a:xfrm>
            <a:off x="5320389" y="1239260"/>
            <a:ext cx="2212982" cy="777078"/>
          </a:xfrm>
          <a:prstGeom prst="rect">
            <a:avLst/>
          </a:prstGeom>
        </p:spPr>
      </p:pic>
      <p:sp>
        <p:nvSpPr>
          <p:cNvPr id="2" name="תיבת טקסט 1">
            <a:extLst>
              <a:ext uri="{FF2B5EF4-FFF2-40B4-BE49-F238E27FC236}">
                <a16:creationId xmlns:a16="http://schemas.microsoft.com/office/drawing/2014/main" id="{C6B2758C-89FD-4BBB-97FA-B27765753D89}"/>
              </a:ext>
            </a:extLst>
          </p:cNvPr>
          <p:cNvSpPr txBox="1"/>
          <p:nvPr/>
        </p:nvSpPr>
        <p:spPr>
          <a:xfrm>
            <a:off x="5320389" y="2199262"/>
            <a:ext cx="6234883" cy="3477875"/>
          </a:xfrm>
          <a:prstGeom prst="rect">
            <a:avLst/>
          </a:prstGeom>
          <a:noFill/>
        </p:spPr>
        <p:txBody>
          <a:bodyPr wrap="square" rtlCol="1">
            <a:spAutoFit/>
          </a:bodyPr>
          <a:lstStyle/>
          <a:p>
            <a:r>
              <a:rPr lang="en-US" sz="2000" b="1" u="sng" dirty="0" err="1">
                <a:latin typeface="David" panose="020E0502060401010101" pitchFamily="34" charset="-79"/>
                <a:cs typeface="David" panose="020E0502060401010101" pitchFamily="34" charset="-79"/>
              </a:rPr>
              <a:t>trg_UpdateStudentProgress</a:t>
            </a:r>
            <a:r>
              <a:rPr lang="he-IL" sz="2000" b="1" u="sng" dirty="0">
                <a:latin typeface="David" panose="020E0502060401010101" pitchFamily="34" charset="-79"/>
                <a:cs typeface="David" panose="020E0502060401010101" pitchFamily="34" charset="-79"/>
              </a:rPr>
              <a:t> - טריגר לעדכון אוטומטי של תאריך עדכון:</a:t>
            </a:r>
          </a:p>
          <a:p>
            <a:r>
              <a:rPr lang="he-IL" sz="2000" b="1" dirty="0">
                <a:latin typeface="David" panose="020E0502060401010101" pitchFamily="34" charset="-79"/>
                <a:cs typeface="David" panose="020E0502060401010101" pitchFamily="34" charset="-79"/>
              </a:rPr>
              <a:t>מטרה:</a:t>
            </a:r>
            <a:r>
              <a:rPr lang="he-IL" sz="2000" dirty="0">
                <a:latin typeface="David" panose="020E0502060401010101" pitchFamily="34" charset="-79"/>
                <a:cs typeface="David" panose="020E0502060401010101" pitchFamily="34" charset="-79"/>
              </a:rPr>
              <a:t> בכל פעם שמתבצע עדכון (</a:t>
            </a:r>
            <a:r>
              <a:rPr lang="en-US" sz="2000" dirty="0">
                <a:latin typeface="David" panose="020E0502060401010101" pitchFamily="34" charset="-79"/>
                <a:cs typeface="David" panose="020E0502060401010101" pitchFamily="34" charset="-79"/>
              </a:rPr>
              <a:t> (UPDATE</a:t>
            </a:r>
            <a:r>
              <a:rPr lang="he-IL" sz="2000" dirty="0">
                <a:latin typeface="David" panose="020E0502060401010101" pitchFamily="34" charset="-79"/>
                <a:cs typeface="David" panose="020E0502060401010101" pitchFamily="34" charset="-79"/>
              </a:rPr>
              <a:t> בטבלת </a:t>
            </a:r>
            <a:r>
              <a:rPr lang="en-US" sz="2000" dirty="0" err="1">
                <a:latin typeface="David" panose="020E0502060401010101" pitchFamily="34" charset="-79"/>
                <a:cs typeface="David" panose="020E0502060401010101" pitchFamily="34" charset="-79"/>
              </a:rPr>
              <a:t>Student_Progress</a:t>
            </a:r>
            <a:r>
              <a:rPr lang="he-IL" sz="2000" dirty="0">
                <a:latin typeface="David" panose="020E0502060401010101" pitchFamily="34" charset="-79"/>
                <a:cs typeface="David" panose="020E0502060401010101" pitchFamily="34" charset="-79"/>
              </a:rPr>
              <a:t> , הטריגר מעדכן אוטומטית את שדה </a:t>
            </a:r>
            <a:r>
              <a:rPr lang="en-US" sz="2000" dirty="0" err="1">
                <a:latin typeface="David" panose="020E0502060401010101" pitchFamily="34" charset="-79"/>
                <a:cs typeface="David" panose="020E0502060401010101" pitchFamily="34" charset="-79"/>
              </a:rPr>
              <a:t>sp_last_update</a:t>
            </a:r>
            <a:r>
              <a:rPr lang="he-IL" sz="2000" dirty="0">
                <a:latin typeface="David" panose="020E0502060401010101" pitchFamily="34" charset="-79"/>
                <a:cs typeface="David" panose="020E0502060401010101" pitchFamily="34" charset="-79"/>
              </a:rPr>
              <a:t> לתאריך ושעה הנוכחיים, ומדפיס הודעה מתאימה בהתאם לסוג השינוי (סטטוס או ציון).</a:t>
            </a:r>
          </a:p>
          <a:p>
            <a:r>
              <a:rPr lang="he-IL" sz="2000" dirty="0">
                <a:latin typeface="David" panose="020E0502060401010101" pitchFamily="34" charset="-79"/>
                <a:cs typeface="David" panose="020E0502060401010101" pitchFamily="34" charset="-79"/>
              </a:rPr>
              <a:t>אירוע הפעלה: </a:t>
            </a:r>
            <a:r>
              <a:rPr lang="en-US" sz="2000" dirty="0">
                <a:latin typeface="David" panose="020E0502060401010101" pitchFamily="34" charset="-79"/>
                <a:cs typeface="David" panose="020E0502060401010101" pitchFamily="34" charset="-79"/>
              </a:rPr>
              <a:t>AFTER UPDATE </a:t>
            </a:r>
            <a:r>
              <a:rPr lang="he-IL" sz="2000" dirty="0">
                <a:latin typeface="David" panose="020E0502060401010101" pitchFamily="34" charset="-79"/>
                <a:cs typeface="David" panose="020E0502060401010101" pitchFamily="34" charset="-79"/>
              </a:rPr>
              <a:t>על טבלת </a:t>
            </a:r>
            <a:r>
              <a:rPr lang="en-US" sz="2000" dirty="0" err="1">
                <a:latin typeface="David" panose="020E0502060401010101" pitchFamily="34" charset="-79"/>
                <a:cs typeface="David" panose="020E0502060401010101" pitchFamily="34" charset="-79"/>
              </a:rPr>
              <a:t>Student_Progress</a:t>
            </a:r>
            <a:r>
              <a:rPr lang="en-US" sz="2000"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a:t>
            </a:r>
          </a:p>
          <a:p>
            <a:endParaRPr lang="he-IL" sz="1600" u="sng" dirty="0">
              <a:latin typeface="David" panose="020E0502060401010101" pitchFamily="34" charset="-79"/>
              <a:cs typeface="David" panose="020E0502060401010101" pitchFamily="34" charset="-79"/>
            </a:endParaRPr>
          </a:p>
          <a:p>
            <a:r>
              <a:rPr lang="he-IL" sz="1600" u="sng" dirty="0">
                <a:latin typeface="David" panose="020E0502060401010101" pitchFamily="34" charset="-79"/>
                <a:cs typeface="David" panose="020E0502060401010101" pitchFamily="34" charset="-79"/>
              </a:rPr>
              <a:t>לוגיקה:</a:t>
            </a:r>
          </a:p>
          <a:p>
            <a:r>
              <a:rPr lang="he-IL" sz="1600" dirty="0">
                <a:latin typeface="David" panose="020E0502060401010101" pitchFamily="34" charset="-79"/>
                <a:cs typeface="David" panose="020E0502060401010101" pitchFamily="34" charset="-79"/>
              </a:rPr>
              <a:t>מעדכן את </a:t>
            </a:r>
            <a:r>
              <a:rPr lang="en-US" sz="1600" dirty="0" err="1">
                <a:latin typeface="David" panose="020E0502060401010101" pitchFamily="34" charset="-79"/>
                <a:cs typeface="David" panose="020E0502060401010101" pitchFamily="34" charset="-79"/>
              </a:rPr>
              <a:t>sp_last_update</a:t>
            </a:r>
            <a:r>
              <a:rPr lang="en-US" sz="1600" dirty="0">
                <a:latin typeface="David" panose="020E0502060401010101" pitchFamily="34" charset="-79"/>
                <a:cs typeface="David" panose="020E0502060401010101" pitchFamily="34" charset="-79"/>
              </a:rPr>
              <a:t> </a:t>
            </a:r>
            <a:r>
              <a:rPr lang="he-IL" sz="1600" dirty="0">
                <a:latin typeface="David" panose="020E0502060401010101" pitchFamily="34" charset="-79"/>
                <a:cs typeface="David" panose="020E0502060401010101" pitchFamily="34" charset="-79"/>
              </a:rPr>
              <a:t>לתאריך הנוכחי עבור השורות שעודכנו.</a:t>
            </a:r>
          </a:p>
          <a:p>
            <a:r>
              <a:rPr lang="he-IL" sz="1600" dirty="0">
                <a:latin typeface="David" panose="020E0502060401010101" pitchFamily="34" charset="-79"/>
                <a:cs typeface="David" panose="020E0502060401010101" pitchFamily="34" charset="-79"/>
              </a:rPr>
              <a:t>אם עודכן עמודת </a:t>
            </a:r>
            <a:r>
              <a:rPr lang="en-US" sz="1600" dirty="0" err="1">
                <a:latin typeface="David" panose="020E0502060401010101" pitchFamily="34" charset="-79"/>
                <a:cs typeface="David" panose="020E0502060401010101" pitchFamily="34" charset="-79"/>
              </a:rPr>
              <a:t>sp_status</a:t>
            </a:r>
            <a:r>
              <a:rPr lang="en-US" sz="1600" dirty="0">
                <a:latin typeface="David" panose="020E0502060401010101" pitchFamily="34" charset="-79"/>
                <a:cs typeface="David" panose="020E0502060401010101" pitchFamily="34" charset="-79"/>
              </a:rPr>
              <a:t> – </a:t>
            </a:r>
            <a:r>
              <a:rPr lang="he-IL" sz="1600" dirty="0">
                <a:latin typeface="David" panose="020E0502060401010101" pitchFamily="34" charset="-79"/>
                <a:cs typeface="David" panose="020E0502060401010101" pitchFamily="34" charset="-79"/>
              </a:rPr>
              <a:t>מדפיס "סטטוס שיעור עודכן". אם עודכן עמודת </a:t>
            </a:r>
            <a:r>
              <a:rPr lang="en-US" sz="1600" dirty="0" err="1">
                <a:latin typeface="David" panose="020E0502060401010101" pitchFamily="34" charset="-79"/>
                <a:cs typeface="David" panose="020E0502060401010101" pitchFamily="34" charset="-79"/>
              </a:rPr>
              <a:t>sp_score</a:t>
            </a:r>
            <a:r>
              <a:rPr lang="en-US" sz="1600" dirty="0">
                <a:latin typeface="David" panose="020E0502060401010101" pitchFamily="34" charset="-79"/>
                <a:cs typeface="David" panose="020E0502060401010101" pitchFamily="34" charset="-79"/>
              </a:rPr>
              <a:t> – </a:t>
            </a:r>
            <a:r>
              <a:rPr lang="he-IL" sz="1600" dirty="0">
                <a:latin typeface="David" panose="020E0502060401010101" pitchFamily="34" charset="-79"/>
                <a:cs typeface="David" panose="020E0502060401010101" pitchFamily="34" charset="-79"/>
              </a:rPr>
              <a:t>מדפיס "ציון עודכן".</a:t>
            </a:r>
            <a:endParaRPr lang="en-US" sz="1600" dirty="0">
              <a:latin typeface="David" panose="020E0502060401010101" pitchFamily="34" charset="-79"/>
              <a:cs typeface="David" panose="020E0502060401010101" pitchFamily="34" charset="-79"/>
            </a:endParaRPr>
          </a:p>
        </p:txBody>
      </p:sp>
      <p:pic>
        <p:nvPicPr>
          <p:cNvPr id="9" name="תמונה 8">
            <a:extLst>
              <a:ext uri="{FF2B5EF4-FFF2-40B4-BE49-F238E27FC236}">
                <a16:creationId xmlns:a16="http://schemas.microsoft.com/office/drawing/2014/main" id="{56783383-4D51-4A26-B34E-CBAEF749FD26}"/>
              </a:ext>
            </a:extLst>
          </p:cNvPr>
          <p:cNvPicPr>
            <a:picLocks noChangeAspect="1"/>
          </p:cNvPicPr>
          <p:nvPr/>
        </p:nvPicPr>
        <p:blipFill>
          <a:blip r:embed="rId3"/>
          <a:stretch>
            <a:fillRect/>
          </a:stretch>
        </p:blipFill>
        <p:spPr>
          <a:xfrm>
            <a:off x="505201" y="1620150"/>
            <a:ext cx="4572396" cy="4732430"/>
          </a:xfrm>
          <a:prstGeom prst="rect">
            <a:avLst/>
          </a:prstGeom>
        </p:spPr>
      </p:pic>
    </p:spTree>
    <p:extLst>
      <p:ext uri="{BB962C8B-B14F-4D97-AF65-F5344CB8AC3E}">
        <p14:creationId xmlns:p14="http://schemas.microsoft.com/office/powerpoint/2010/main" val="3739914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91040B99-E433-493A-8D7F-E30441449295}"/>
              </a:ext>
            </a:extLst>
          </p:cNvPr>
          <p:cNvSpPr>
            <a:spLocks noGrp="1"/>
          </p:cNvSpPr>
          <p:nvPr>
            <p:ph type="sldNum" sz="quarter" idx="12"/>
          </p:nvPr>
        </p:nvSpPr>
        <p:spPr/>
        <p:txBody>
          <a:bodyPr/>
          <a:lstStyle/>
          <a:p>
            <a:fld id="{9D77A262-A0C6-4C11-A684-4A90AD65C1E2}" type="slidenum">
              <a:rPr lang="he-IL" smtClean="0"/>
              <a:t>28</a:t>
            </a:fld>
            <a:endParaRPr lang="he-IL"/>
          </a:p>
        </p:txBody>
      </p:sp>
      <p:sp>
        <p:nvSpPr>
          <p:cNvPr id="4" name="חץ: מחומש 3">
            <a:extLst>
              <a:ext uri="{FF2B5EF4-FFF2-40B4-BE49-F238E27FC236}">
                <a16:creationId xmlns:a16="http://schemas.microsoft.com/office/drawing/2014/main" id="{D52C19A4-EFC5-41F8-93CD-1BE4EB881E4D}"/>
              </a:ext>
            </a:extLst>
          </p:cNvPr>
          <p:cNvSpPr/>
          <p:nvPr/>
        </p:nvSpPr>
        <p:spPr>
          <a:xfrm flipH="1">
            <a:off x="9217481" y="1406886"/>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אילוץ:</a:t>
            </a:r>
          </a:p>
        </p:txBody>
      </p:sp>
      <p:pic>
        <p:nvPicPr>
          <p:cNvPr id="6" name="תמונה 5">
            <a:extLst>
              <a:ext uri="{FF2B5EF4-FFF2-40B4-BE49-F238E27FC236}">
                <a16:creationId xmlns:a16="http://schemas.microsoft.com/office/drawing/2014/main" id="{17A01D2D-A848-4FE6-8655-207CD4CEB8E1}"/>
              </a:ext>
            </a:extLst>
          </p:cNvPr>
          <p:cNvPicPr>
            <a:picLocks noChangeAspect="1"/>
          </p:cNvPicPr>
          <p:nvPr/>
        </p:nvPicPr>
        <p:blipFill>
          <a:blip r:embed="rId2"/>
          <a:stretch>
            <a:fillRect/>
          </a:stretch>
        </p:blipFill>
        <p:spPr>
          <a:xfrm>
            <a:off x="838200" y="2395066"/>
            <a:ext cx="5532599" cy="3551228"/>
          </a:xfrm>
          <a:prstGeom prst="rect">
            <a:avLst/>
          </a:prstGeom>
        </p:spPr>
      </p:pic>
      <p:pic>
        <p:nvPicPr>
          <p:cNvPr id="8" name="תמונה 7">
            <a:extLst>
              <a:ext uri="{FF2B5EF4-FFF2-40B4-BE49-F238E27FC236}">
                <a16:creationId xmlns:a16="http://schemas.microsoft.com/office/drawing/2014/main" id="{A2B722EE-5F66-4AF8-9039-D62747C8726D}"/>
              </a:ext>
            </a:extLst>
          </p:cNvPr>
          <p:cNvPicPr>
            <a:picLocks noChangeAspect="1"/>
          </p:cNvPicPr>
          <p:nvPr/>
        </p:nvPicPr>
        <p:blipFill>
          <a:blip r:embed="rId3"/>
          <a:stretch>
            <a:fillRect/>
          </a:stretch>
        </p:blipFill>
        <p:spPr>
          <a:xfrm>
            <a:off x="5135581" y="6036282"/>
            <a:ext cx="3475021" cy="320068"/>
          </a:xfrm>
          <a:prstGeom prst="rect">
            <a:avLst/>
          </a:prstGeom>
        </p:spPr>
      </p:pic>
      <p:sp>
        <p:nvSpPr>
          <p:cNvPr id="9" name="תיבת טקסט 8">
            <a:extLst>
              <a:ext uri="{FF2B5EF4-FFF2-40B4-BE49-F238E27FC236}">
                <a16:creationId xmlns:a16="http://schemas.microsoft.com/office/drawing/2014/main" id="{2228878A-88E5-4739-8AF7-48F4B17DDFE5}"/>
              </a:ext>
            </a:extLst>
          </p:cNvPr>
          <p:cNvSpPr txBox="1"/>
          <p:nvPr/>
        </p:nvSpPr>
        <p:spPr>
          <a:xfrm>
            <a:off x="7133968" y="2232145"/>
            <a:ext cx="4526054" cy="3447098"/>
          </a:xfrm>
          <a:prstGeom prst="rect">
            <a:avLst/>
          </a:prstGeom>
          <a:noFill/>
        </p:spPr>
        <p:txBody>
          <a:bodyPr wrap="square" rtlCol="1">
            <a:spAutoFit/>
          </a:bodyPr>
          <a:lstStyle/>
          <a:p>
            <a:r>
              <a:rPr lang="en-US" sz="2000" b="1" u="sng" dirty="0">
                <a:latin typeface="David" panose="020E0502060401010101" pitchFamily="34" charset="-79"/>
                <a:cs typeface="David" panose="020E0502060401010101" pitchFamily="34" charset="-79"/>
              </a:rPr>
              <a:t>  </a:t>
            </a:r>
            <a:r>
              <a:rPr lang="en-US" sz="2000" b="1" u="sng" dirty="0" err="1">
                <a:latin typeface="David" panose="020E0502060401010101" pitchFamily="34" charset="-79"/>
                <a:cs typeface="David" panose="020E0502060401010101" pitchFamily="34" charset="-79"/>
              </a:rPr>
              <a:t>chk_score_with_status</a:t>
            </a:r>
            <a:r>
              <a:rPr lang="he-IL" sz="2000" b="1" u="sng" dirty="0">
                <a:latin typeface="David" panose="020E0502060401010101" pitchFamily="34" charset="-79"/>
                <a:cs typeface="David" panose="020E0502060401010101" pitchFamily="34" charset="-79"/>
              </a:rPr>
              <a:t>- אילוץ תקינות ציון לפי סטטוס:</a:t>
            </a:r>
          </a:p>
          <a:p>
            <a:r>
              <a:rPr lang="he-IL" sz="2000" b="1" dirty="0">
                <a:latin typeface="David" panose="020E0502060401010101" pitchFamily="34" charset="-79"/>
                <a:cs typeface="David" panose="020E0502060401010101" pitchFamily="34" charset="-79"/>
              </a:rPr>
              <a:t>מטרה:</a:t>
            </a:r>
            <a:r>
              <a:rPr lang="he-IL" sz="2000" dirty="0">
                <a:latin typeface="David" panose="020E0502060401010101" pitchFamily="34" charset="-79"/>
                <a:cs typeface="David" panose="020E0502060401010101" pitchFamily="34" charset="-79"/>
              </a:rPr>
              <a:t> מוודא הגיון לוגי בין הציון לסטטוס השיעור - מונע מצב שבו שיעור שטרם התחיל מקבל ציון, ומבטיח שציון קיים כשהשיעור בתהליך או הושלם.</a:t>
            </a:r>
          </a:p>
          <a:p>
            <a:endParaRPr lang="he-IL" sz="1600" dirty="0">
              <a:latin typeface="David" panose="020E0502060401010101" pitchFamily="34" charset="-79"/>
              <a:cs typeface="David" panose="020E0502060401010101" pitchFamily="34" charset="-79"/>
            </a:endParaRPr>
          </a:p>
          <a:p>
            <a:r>
              <a:rPr lang="he-IL" sz="1600" dirty="0">
                <a:latin typeface="David" panose="020E0502060401010101" pitchFamily="34" charset="-79"/>
                <a:cs typeface="David" panose="020E0502060401010101" pitchFamily="34" charset="-79"/>
              </a:rPr>
              <a:t>לוגיקה:</a:t>
            </a:r>
          </a:p>
          <a:p>
            <a:pPr marL="285750" indent="-285750">
              <a:buFont typeface="Arial" panose="020B0604020202020204" pitchFamily="34" charset="0"/>
              <a:buChar char="•"/>
            </a:pPr>
            <a:r>
              <a:rPr lang="he-IL" sz="1600" dirty="0">
                <a:latin typeface="David" panose="020E0502060401010101" pitchFamily="34" charset="-79"/>
                <a:cs typeface="David" panose="020E0502060401010101" pitchFamily="34" charset="-79"/>
              </a:rPr>
              <a:t>אם </a:t>
            </a:r>
            <a:r>
              <a:rPr lang="en-US" sz="1600" dirty="0" err="1">
                <a:latin typeface="David" panose="020E0502060401010101" pitchFamily="34" charset="-79"/>
                <a:cs typeface="David" panose="020E0502060401010101" pitchFamily="34" charset="-79"/>
              </a:rPr>
              <a:t>sp_status</a:t>
            </a:r>
            <a:r>
              <a:rPr lang="en-US" sz="1600" dirty="0">
                <a:latin typeface="David" panose="020E0502060401010101" pitchFamily="34" charset="-79"/>
                <a:cs typeface="David" panose="020E0502060401010101" pitchFamily="34" charset="-79"/>
              </a:rPr>
              <a:t> = 'Not Started’ = </a:t>
            </a:r>
            <a:r>
              <a:rPr lang="en-US" sz="1600" dirty="0" err="1">
                <a:latin typeface="David" panose="020E0502060401010101" pitchFamily="34" charset="-79"/>
                <a:cs typeface="David" panose="020E0502060401010101" pitchFamily="34" charset="-79"/>
              </a:rPr>
              <a:t>sp_score</a:t>
            </a:r>
            <a:r>
              <a:rPr lang="en-US" sz="1600" dirty="0">
                <a:latin typeface="David" panose="020E0502060401010101" pitchFamily="34" charset="-79"/>
                <a:cs typeface="David" panose="020E0502060401010101" pitchFamily="34" charset="-79"/>
              </a:rPr>
              <a:t> </a:t>
            </a:r>
            <a:r>
              <a:rPr lang="he-IL" sz="1600" dirty="0">
                <a:latin typeface="David" panose="020E0502060401010101" pitchFamily="34" charset="-79"/>
                <a:cs typeface="David" panose="020E0502060401010101" pitchFamily="34" charset="-79"/>
              </a:rPr>
              <a:t> חייב להיות </a:t>
            </a:r>
            <a:r>
              <a:rPr lang="en-US" sz="1600" dirty="0">
                <a:latin typeface="David" panose="020E0502060401010101" pitchFamily="34" charset="-79"/>
                <a:cs typeface="David" panose="020E0502060401010101" pitchFamily="34" charset="-79"/>
              </a:rPr>
              <a:t>NULL</a:t>
            </a:r>
          </a:p>
          <a:p>
            <a:pPr marL="285750" indent="-285750">
              <a:buFont typeface="Arial" panose="020B0604020202020204" pitchFamily="34" charset="0"/>
              <a:buChar char="•"/>
            </a:pPr>
            <a:r>
              <a:rPr lang="he-IL" sz="1600" dirty="0">
                <a:latin typeface="David" panose="020E0502060401010101" pitchFamily="34" charset="-79"/>
                <a:cs typeface="David" panose="020E0502060401010101" pitchFamily="34" charset="-79"/>
              </a:rPr>
              <a:t>אם </a:t>
            </a:r>
            <a:r>
              <a:rPr lang="en-US" sz="1600" dirty="0">
                <a:latin typeface="David" panose="020E0502060401010101" pitchFamily="34" charset="-79"/>
                <a:cs typeface="David" panose="020E0502060401010101" pitchFamily="34" charset="-79"/>
              </a:rPr>
              <a:t> </a:t>
            </a:r>
            <a:r>
              <a:rPr lang="en-US" sz="1600" dirty="0" err="1">
                <a:latin typeface="David" panose="020E0502060401010101" pitchFamily="34" charset="-79"/>
                <a:cs typeface="David" panose="020E0502060401010101" pitchFamily="34" charset="-79"/>
              </a:rPr>
              <a:t>sp_status</a:t>
            </a:r>
            <a:r>
              <a:rPr lang="en-US" sz="1600" dirty="0">
                <a:latin typeface="David" panose="020E0502060401010101" pitchFamily="34" charset="-79"/>
                <a:cs typeface="David" panose="020E0502060401010101" pitchFamily="34" charset="-79"/>
              </a:rPr>
              <a:t> = 'In Progress' </a:t>
            </a:r>
            <a:r>
              <a:rPr lang="he-IL" sz="1600" dirty="0">
                <a:latin typeface="David" panose="020E0502060401010101" pitchFamily="34" charset="-79"/>
                <a:cs typeface="David" panose="020E0502060401010101" pitchFamily="34" charset="-79"/>
              </a:rPr>
              <a:t>או </a:t>
            </a:r>
            <a:r>
              <a:rPr lang="en-US" sz="1600" dirty="0">
                <a:latin typeface="David" panose="020E0502060401010101" pitchFamily="34" charset="-79"/>
                <a:cs typeface="David" panose="020E0502060401010101" pitchFamily="34" charset="-79"/>
              </a:rPr>
              <a:t> ‘Completed’ - </a:t>
            </a:r>
            <a:r>
              <a:rPr lang="en-US" sz="1600" dirty="0" err="1">
                <a:latin typeface="David" panose="020E0502060401010101" pitchFamily="34" charset="-79"/>
                <a:cs typeface="David" panose="020E0502060401010101" pitchFamily="34" charset="-79"/>
              </a:rPr>
              <a:t>sp_score</a:t>
            </a:r>
            <a:r>
              <a:rPr lang="en-US" sz="1600" dirty="0">
                <a:latin typeface="David" panose="020E0502060401010101" pitchFamily="34" charset="-79"/>
                <a:cs typeface="David" panose="020E0502060401010101" pitchFamily="34" charset="-79"/>
              </a:rPr>
              <a:t> </a:t>
            </a:r>
            <a:r>
              <a:rPr lang="he-IL" sz="1600" dirty="0">
                <a:latin typeface="David" panose="020E0502060401010101" pitchFamily="34" charset="-79"/>
                <a:cs typeface="David" panose="020E0502060401010101" pitchFamily="34" charset="-79"/>
              </a:rPr>
              <a:t>יכול להיות </a:t>
            </a:r>
            <a:r>
              <a:rPr lang="en-US" sz="1600" dirty="0">
                <a:latin typeface="David" panose="020E0502060401010101" pitchFamily="34" charset="-79"/>
                <a:cs typeface="David" panose="020E0502060401010101" pitchFamily="34" charset="-79"/>
              </a:rPr>
              <a:t>NULL </a:t>
            </a:r>
            <a:r>
              <a:rPr lang="he-IL" sz="1600" dirty="0">
                <a:latin typeface="David" panose="020E0502060401010101" pitchFamily="34" charset="-79"/>
                <a:cs typeface="David" panose="020E0502060401010101" pitchFamily="34" charset="-79"/>
              </a:rPr>
              <a:t>או בטווח 0-100</a:t>
            </a:r>
            <a:r>
              <a:rPr lang="he-IL" dirty="0"/>
              <a:t> </a:t>
            </a:r>
          </a:p>
        </p:txBody>
      </p:sp>
    </p:spTree>
    <p:extLst>
      <p:ext uri="{BB962C8B-B14F-4D97-AF65-F5344CB8AC3E}">
        <p14:creationId xmlns:p14="http://schemas.microsoft.com/office/powerpoint/2010/main" val="1827048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CA8DB8FF-A2AD-4158-B7D4-10235803EA31}"/>
              </a:ext>
            </a:extLst>
          </p:cNvPr>
          <p:cNvSpPr>
            <a:spLocks noGrp="1"/>
          </p:cNvSpPr>
          <p:nvPr>
            <p:ph type="sldNum" sz="quarter" idx="12"/>
          </p:nvPr>
        </p:nvSpPr>
        <p:spPr/>
        <p:txBody>
          <a:bodyPr/>
          <a:lstStyle/>
          <a:p>
            <a:fld id="{9D77A262-A0C6-4C11-A684-4A90AD65C1E2}" type="slidenum">
              <a:rPr lang="he-IL" smtClean="0"/>
              <a:t>29</a:t>
            </a:fld>
            <a:endParaRPr lang="he-IL"/>
          </a:p>
        </p:txBody>
      </p:sp>
      <p:sp>
        <p:nvSpPr>
          <p:cNvPr id="5" name="תיבת טקסט 4">
            <a:extLst>
              <a:ext uri="{FF2B5EF4-FFF2-40B4-BE49-F238E27FC236}">
                <a16:creationId xmlns:a16="http://schemas.microsoft.com/office/drawing/2014/main" id="{9E6755EE-8CA1-4802-B33E-A2BDDACB58E6}"/>
              </a:ext>
            </a:extLst>
          </p:cNvPr>
          <p:cNvSpPr txBox="1"/>
          <p:nvPr/>
        </p:nvSpPr>
        <p:spPr>
          <a:xfrm>
            <a:off x="1909245" y="2340666"/>
            <a:ext cx="9570720" cy="3477875"/>
          </a:xfrm>
          <a:prstGeom prst="rect">
            <a:avLst/>
          </a:prstGeom>
          <a:noFill/>
        </p:spPr>
        <p:txBody>
          <a:bodyPr wrap="square" rtlCol="1">
            <a:spAutoFit/>
          </a:bodyPr>
          <a:lstStyle/>
          <a:p>
            <a:endParaRPr lang="he-IL" sz="2000" dirty="0">
              <a:latin typeface="David" panose="020E0502060401010101" pitchFamily="34" charset="-79"/>
              <a:cs typeface="David" panose="020E0502060401010101" pitchFamily="34" charset="-79"/>
            </a:endParaRPr>
          </a:p>
          <a:p>
            <a:r>
              <a:rPr lang="he-IL" sz="2000" dirty="0">
                <a:latin typeface="David" panose="020E0502060401010101" pitchFamily="34" charset="-79"/>
                <a:cs typeface="David" panose="020E0502060401010101" pitchFamily="34" charset="-79"/>
              </a:rPr>
              <a:t>פרויקט מסד הנתונים </a:t>
            </a:r>
            <a:r>
              <a:rPr lang="en-US" sz="2000" dirty="0">
                <a:latin typeface="David" panose="020E0502060401010101" pitchFamily="34" charset="-79"/>
                <a:cs typeface="David" panose="020E0502060401010101" pitchFamily="34" charset="-79"/>
              </a:rPr>
              <a:t> </a:t>
            </a:r>
            <a:r>
              <a:rPr lang="en-US" sz="2000" b="1" dirty="0">
                <a:latin typeface="David" panose="020E0502060401010101" pitchFamily="34" charset="-79"/>
                <a:cs typeface="David" panose="020E0502060401010101" pitchFamily="34" charset="-79"/>
              </a:rPr>
              <a:t>Special School</a:t>
            </a:r>
            <a:r>
              <a:rPr lang="en-US" sz="2000"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נולד מתוך מטרה לתת מענה טכנולוגי, מובנה ויעיל לניהול בית ספר וירטואלי המיועד לילדים בעלי צרכים מיוחדים. במהלך בניית מערכת זו, הושם דגש רב על חוויית המשתמש של המנהלים וההורים, לצד יצירת סביבה בטוחה, עקבית ומאורגנת המאפשרת מעקב פדגוגי רציף אחר התקדמות התלמידים.</a:t>
            </a:r>
          </a:p>
          <a:p>
            <a:r>
              <a:rPr lang="he-IL" sz="2000" dirty="0">
                <a:latin typeface="David" panose="020E0502060401010101" pitchFamily="34" charset="-79"/>
                <a:cs typeface="David" panose="020E0502060401010101" pitchFamily="34" charset="-79"/>
              </a:rPr>
              <a:t>המערכת תוכננה תוך הקפדה על חוקי נרמול קפדניים, יצירת קשרי גומלין מדויקים ושמירה על שלמות הנתונים</a:t>
            </a:r>
            <a:r>
              <a:rPr lang="en-US" sz="2000" dirty="0">
                <a:latin typeface="David" panose="020E0502060401010101" pitchFamily="34" charset="-79"/>
                <a:cs typeface="David" panose="020E0502060401010101" pitchFamily="34" charset="-79"/>
              </a:rPr>
              <a:t>Data Integrity) </a:t>
            </a:r>
            <a:r>
              <a:rPr lang="he-IL" sz="2000" dirty="0">
                <a:latin typeface="David" panose="020E0502060401010101" pitchFamily="34" charset="-79"/>
                <a:cs typeface="David" panose="020E0502060401010101" pitchFamily="34" charset="-79"/>
              </a:rPr>
              <a:t> ) באמצעות אילוצים מורכבים</a:t>
            </a:r>
            <a:r>
              <a:rPr lang="en-US" sz="2000" dirty="0">
                <a:latin typeface="David" panose="020E0502060401010101" pitchFamily="34" charset="-79"/>
                <a:cs typeface="David" panose="020E0502060401010101" pitchFamily="34" charset="-79"/>
              </a:rPr>
              <a:t> (Constraints) </a:t>
            </a:r>
            <a:r>
              <a:rPr lang="he-IL" sz="2000" dirty="0">
                <a:latin typeface="David" panose="020E0502060401010101" pitchFamily="34" charset="-79"/>
                <a:cs typeface="David" panose="020E0502060401010101" pitchFamily="34" charset="-79"/>
              </a:rPr>
              <a:t>אינדקסים ייחודיים למניעת התנגשויות בלוחות הזמנים של המתנדבים, וטריגרים לעדכון אוטומטי של המידע. השימוש בפרוצדורות ובפונקציות מותאמות אישית מייעל את תהליכי העבודה השוטפים ומאפשר שליפת נתונים מהירה ואינטואיטיבית. המבנה הגמיש של מסד הנתונים הונדס כך שיוכל להתרחב בעתיד בקלות, ולאפשר הוספת מקצועות, רמות תפקוד ופונקציות ניהוליות נוספות ללא פגיעה בליבת המערכת.</a:t>
            </a:r>
          </a:p>
        </p:txBody>
      </p:sp>
      <p:sp>
        <p:nvSpPr>
          <p:cNvPr id="6" name="חץ: מחומש 5">
            <a:extLst>
              <a:ext uri="{FF2B5EF4-FFF2-40B4-BE49-F238E27FC236}">
                <a16:creationId xmlns:a16="http://schemas.microsoft.com/office/drawing/2014/main" id="{A7F9A8DF-592F-45C1-AD4D-5617A38F07EE}"/>
              </a:ext>
            </a:extLst>
          </p:cNvPr>
          <p:cNvSpPr/>
          <p:nvPr/>
        </p:nvSpPr>
        <p:spPr>
          <a:xfrm flipH="1">
            <a:off x="7824650" y="690026"/>
            <a:ext cx="3679374" cy="852426"/>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a:solidFill>
                  <a:schemeClr val="tx1"/>
                </a:solidFill>
                <a:latin typeface="David" panose="020E0502060401010101" pitchFamily="34" charset="-79"/>
                <a:cs typeface="David" panose="020E0502060401010101" pitchFamily="34" charset="-79"/>
              </a:rPr>
              <a:t>חלק ה': סיכום</a:t>
            </a:r>
          </a:p>
        </p:txBody>
      </p:sp>
      <p:sp>
        <p:nvSpPr>
          <p:cNvPr id="7" name="חץ: מחומש 6">
            <a:extLst>
              <a:ext uri="{FF2B5EF4-FFF2-40B4-BE49-F238E27FC236}">
                <a16:creationId xmlns:a16="http://schemas.microsoft.com/office/drawing/2014/main" id="{12AE079B-1C56-4A6D-AFA0-E130BB204083}"/>
              </a:ext>
            </a:extLst>
          </p:cNvPr>
          <p:cNvSpPr/>
          <p:nvPr/>
        </p:nvSpPr>
        <p:spPr>
          <a:xfrm flipH="1">
            <a:off x="9009121" y="1781581"/>
            <a:ext cx="2442541" cy="426528"/>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סיכום פרויקט:</a:t>
            </a:r>
          </a:p>
        </p:txBody>
      </p:sp>
    </p:spTree>
    <p:extLst>
      <p:ext uri="{BB962C8B-B14F-4D97-AF65-F5344CB8AC3E}">
        <p14:creationId xmlns:p14="http://schemas.microsoft.com/office/powerpoint/2010/main" val="671845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CA8DB8FF-A2AD-4158-B7D4-10235803EA31}"/>
              </a:ext>
            </a:extLst>
          </p:cNvPr>
          <p:cNvSpPr>
            <a:spLocks noGrp="1"/>
          </p:cNvSpPr>
          <p:nvPr>
            <p:ph type="sldNum" sz="quarter" idx="12"/>
          </p:nvPr>
        </p:nvSpPr>
        <p:spPr/>
        <p:txBody>
          <a:bodyPr/>
          <a:lstStyle/>
          <a:p>
            <a:fld id="{9D77A262-A0C6-4C11-A684-4A90AD65C1E2}" type="slidenum">
              <a:rPr lang="he-IL" smtClean="0"/>
              <a:t>30</a:t>
            </a:fld>
            <a:endParaRPr lang="he-IL"/>
          </a:p>
        </p:txBody>
      </p:sp>
      <p:sp>
        <p:nvSpPr>
          <p:cNvPr id="5" name="תיבת טקסט 4">
            <a:extLst>
              <a:ext uri="{FF2B5EF4-FFF2-40B4-BE49-F238E27FC236}">
                <a16:creationId xmlns:a16="http://schemas.microsoft.com/office/drawing/2014/main" id="{9E6755EE-8CA1-4802-B33E-A2BDDACB58E6}"/>
              </a:ext>
            </a:extLst>
          </p:cNvPr>
          <p:cNvSpPr txBox="1"/>
          <p:nvPr/>
        </p:nvSpPr>
        <p:spPr>
          <a:xfrm>
            <a:off x="1815737" y="1870404"/>
            <a:ext cx="9688175" cy="4616648"/>
          </a:xfrm>
          <a:prstGeom prst="rect">
            <a:avLst/>
          </a:prstGeom>
          <a:noFill/>
        </p:spPr>
        <p:txBody>
          <a:bodyPr wrap="square" rtlCol="1">
            <a:spAutoFit/>
          </a:bodyPr>
          <a:lstStyle/>
          <a:p>
            <a:r>
              <a:rPr lang="he-IL" sz="2000" dirty="0">
                <a:latin typeface="David" panose="020E0502060401010101" pitchFamily="34" charset="-79"/>
                <a:cs typeface="David" panose="020E0502060401010101" pitchFamily="34" charset="-79"/>
              </a:rPr>
              <a:t>בראש ובראשונה,</a:t>
            </a:r>
          </a:p>
          <a:p>
            <a:r>
              <a:rPr lang="he-IL" sz="2000" dirty="0">
                <a:latin typeface="David" panose="020E0502060401010101" pitchFamily="34" charset="-79"/>
                <a:cs typeface="David" panose="020E0502060401010101" pitchFamily="34" charset="-79"/>
              </a:rPr>
              <a:t> </a:t>
            </a:r>
            <a:r>
              <a:rPr lang="he-IL" sz="2000" b="1" dirty="0">
                <a:latin typeface="David" panose="020E0502060401010101" pitchFamily="34" charset="-79"/>
                <a:cs typeface="David" panose="020E0502060401010101" pitchFamily="34" charset="-79"/>
              </a:rPr>
              <a:t>תודה לבורא עולם</a:t>
            </a:r>
            <a:r>
              <a:rPr lang="he-IL" sz="2000" dirty="0">
                <a:latin typeface="David" panose="020E0502060401010101" pitchFamily="34" charset="-79"/>
                <a:cs typeface="David" panose="020E0502060401010101" pitchFamily="34" charset="-79"/>
              </a:rPr>
              <a:t>, אשר בחסדו העניק לי חיים, כוחות, חכמה וסייעתא דשמיא לאורך כל הדרך. </a:t>
            </a:r>
          </a:p>
          <a:p>
            <a:r>
              <a:rPr lang="he-IL" sz="2000" dirty="0">
                <a:latin typeface="David" panose="020E0502060401010101" pitchFamily="34" charset="-79"/>
                <a:cs typeface="David" panose="020E0502060401010101" pitchFamily="34" charset="-79"/>
              </a:rPr>
              <a:t>תודה על הזכות ללמוד, להתפתח ולהגיע לרגע זה.</a:t>
            </a:r>
          </a:p>
          <a:p>
            <a:endParaRPr lang="he-IL" sz="1000" dirty="0">
              <a:latin typeface="David" panose="020E0502060401010101" pitchFamily="34" charset="-79"/>
              <a:cs typeface="David" panose="020E0502060401010101" pitchFamily="34" charset="-79"/>
            </a:endParaRPr>
          </a:p>
          <a:p>
            <a:r>
              <a:rPr lang="he-IL" sz="2000" b="1" dirty="0">
                <a:latin typeface="David" panose="020E0502060401010101" pitchFamily="34" charset="-79"/>
                <a:cs typeface="David" panose="020E0502060401010101" pitchFamily="34" charset="-79"/>
              </a:rPr>
              <a:t>תודה למשפחתי היקרה </a:t>
            </a:r>
            <a:r>
              <a:rPr lang="he-IL" sz="2000" dirty="0">
                <a:latin typeface="David" panose="020E0502060401010101" pitchFamily="34" charset="-79"/>
                <a:cs typeface="David" panose="020E0502060401010101" pitchFamily="34" charset="-79"/>
              </a:rPr>
              <a:t>על התמיכה, העידוד והסבלנות לאורך תקופת הלימודים והעבודה על הפרויקט. הידיעה שאתם מאמינים בי ותמיד נמצאים לצידי נתנה לי כוח ומוטיבציה להמשיך ולהצליח.</a:t>
            </a:r>
          </a:p>
          <a:p>
            <a:endParaRPr lang="he-IL" sz="1000" dirty="0">
              <a:latin typeface="David" panose="020E0502060401010101" pitchFamily="34" charset="-79"/>
              <a:cs typeface="David" panose="020E0502060401010101" pitchFamily="34" charset="-79"/>
            </a:endParaRPr>
          </a:p>
          <a:p>
            <a:r>
              <a:rPr lang="he-IL" sz="2000" b="1" dirty="0">
                <a:latin typeface="David" panose="020E0502060401010101" pitchFamily="34" charset="-79"/>
                <a:cs typeface="David" panose="020E0502060401010101" pitchFamily="34" charset="-79"/>
              </a:rPr>
              <a:t>תודה מיוחדת למורה חני </a:t>
            </a:r>
            <a:r>
              <a:rPr lang="he-IL" sz="2000" b="1" dirty="0" err="1">
                <a:latin typeface="David" panose="020E0502060401010101" pitchFamily="34" charset="-79"/>
                <a:cs typeface="David" panose="020E0502060401010101" pitchFamily="34" charset="-79"/>
              </a:rPr>
              <a:t>פינגרהוט</a:t>
            </a:r>
            <a:r>
              <a:rPr lang="he-IL" sz="2000" b="1" dirty="0">
                <a:latin typeface="David" panose="020E0502060401010101" pitchFamily="34" charset="-79"/>
                <a:cs typeface="David" panose="020E0502060401010101" pitchFamily="34" charset="-79"/>
              </a:rPr>
              <a:t> </a:t>
            </a:r>
            <a:r>
              <a:rPr lang="he-IL" sz="2000" dirty="0">
                <a:latin typeface="David" panose="020E0502060401010101" pitchFamily="34" charset="-79"/>
                <a:cs typeface="David" panose="020E0502060401010101" pitchFamily="34" charset="-79"/>
              </a:rPr>
              <a:t>על הליווי, ההכוונה המקצועית, הסבלנות והזמינות לאורך כל הדרך. ההערות והמשוב שנתנה סייעו לי לשפר את הפרויקט, לדייק את מסד הנתונים ולהעמיק את הידע וההבנה שלי בתחום.</a:t>
            </a:r>
          </a:p>
          <a:p>
            <a:endParaRPr lang="he-IL" sz="1000" dirty="0">
              <a:latin typeface="David" panose="020E0502060401010101" pitchFamily="34" charset="-79"/>
              <a:cs typeface="David" panose="020E0502060401010101" pitchFamily="34" charset="-79"/>
            </a:endParaRPr>
          </a:p>
          <a:p>
            <a:r>
              <a:rPr lang="he-IL" sz="2000" dirty="0">
                <a:latin typeface="David" panose="020E0502060401010101" pitchFamily="34" charset="-79"/>
                <a:cs typeface="David" panose="020E0502060401010101" pitchFamily="34" charset="-79"/>
              </a:rPr>
              <a:t>ולבסוף, </a:t>
            </a:r>
          </a:p>
          <a:p>
            <a:r>
              <a:rPr lang="he-IL" sz="2000" b="1" dirty="0">
                <a:latin typeface="David" panose="020E0502060401010101" pitchFamily="34" charset="-79"/>
                <a:cs typeface="David" panose="020E0502060401010101" pitchFamily="34" charset="-79"/>
              </a:rPr>
              <a:t>תודה לחברותיי </a:t>
            </a:r>
            <a:r>
              <a:rPr lang="he-IL" sz="2000" dirty="0">
                <a:latin typeface="David" panose="020E0502060401010101" pitchFamily="34" charset="-79"/>
                <a:cs typeface="David" panose="020E0502060401010101" pitchFamily="34" charset="-79"/>
              </a:rPr>
              <a:t>ללימודי התכנות על שיתוף הפעולה, העזרה ההדדית, הרגעים המשותפים והעידוד לאורך הדרך. הלמידה </a:t>
            </a:r>
            <a:r>
              <a:rPr lang="he-IL" sz="2000" dirty="0" err="1">
                <a:latin typeface="David" panose="020E0502060401010101" pitchFamily="34" charset="-79"/>
                <a:cs typeface="David" panose="020E0502060401010101" pitchFamily="34" charset="-79"/>
              </a:rPr>
              <a:t>לצדכן</a:t>
            </a:r>
            <a:r>
              <a:rPr lang="he-IL" sz="2000" dirty="0">
                <a:latin typeface="David" panose="020E0502060401010101" pitchFamily="34" charset="-79"/>
                <a:cs typeface="David" panose="020E0502060401010101" pitchFamily="34" charset="-79"/>
              </a:rPr>
              <a:t> הפכה את התהליך לנעים, משמעותי ומהנה יותר.</a:t>
            </a:r>
          </a:p>
          <a:p>
            <a:endParaRPr lang="he-IL" sz="10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לכל מי שלקח חלק, קטן כגדול, בתהליך הלמידה ובהשלמת הפרויקט - תודה רבה!</a:t>
            </a:r>
          </a:p>
        </p:txBody>
      </p:sp>
      <p:sp>
        <p:nvSpPr>
          <p:cNvPr id="7" name="חץ: מחומש 6">
            <a:extLst>
              <a:ext uri="{FF2B5EF4-FFF2-40B4-BE49-F238E27FC236}">
                <a16:creationId xmlns:a16="http://schemas.microsoft.com/office/drawing/2014/main" id="{12AE079B-1C56-4A6D-AFA0-E130BB204083}"/>
              </a:ext>
            </a:extLst>
          </p:cNvPr>
          <p:cNvSpPr/>
          <p:nvPr/>
        </p:nvSpPr>
        <p:spPr>
          <a:xfrm flipH="1">
            <a:off x="9653450" y="1110343"/>
            <a:ext cx="1850462" cy="444624"/>
          </a:xfrm>
          <a:prstGeom prst="homePlate">
            <a:avLst/>
          </a:prstGeom>
          <a:solidFill>
            <a:srgbClr val="F19759"/>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a:solidFill>
                  <a:schemeClr val="tx1"/>
                </a:solidFill>
                <a:latin typeface="David" panose="020E0502060401010101" pitchFamily="34" charset="-79"/>
                <a:cs typeface="David" panose="020E0502060401010101" pitchFamily="34" charset="-79"/>
              </a:rPr>
              <a:t>תודות:</a:t>
            </a:r>
          </a:p>
        </p:txBody>
      </p:sp>
    </p:spTree>
    <p:extLst>
      <p:ext uri="{BB962C8B-B14F-4D97-AF65-F5344CB8AC3E}">
        <p14:creationId xmlns:p14="http://schemas.microsoft.com/office/powerpoint/2010/main" val="163046970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4374</TotalTime>
  <Words>2611</Words>
  <Application>Microsoft Office PowerPoint</Application>
  <PresentationFormat>מסך רחב</PresentationFormat>
  <Paragraphs>613</Paragraphs>
  <Slides>30</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30</vt:i4>
      </vt:variant>
    </vt:vector>
  </HeadingPairs>
  <TitlesOfParts>
    <vt:vector size="36" baseType="lpstr">
      <vt:lpstr>Arial</vt:lpstr>
      <vt:lpstr>Calibri</vt:lpstr>
      <vt:lpstr>Calibri Light</vt:lpstr>
      <vt:lpstr>Cascadia Mono</vt:lpstr>
      <vt:lpstr>David</vt:lpstr>
      <vt:lpstr>ערכת נושא Office</vt:lpstr>
      <vt:lpstr>מצגת של PowerPoint‏</vt:lpstr>
      <vt:lpstr>תוכן עניינים</vt:lpstr>
      <vt:lpstr>חלק א': מבוא</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Efrat Madmon</dc:creator>
  <cp:lastModifiedBy>Student</cp:lastModifiedBy>
  <cp:revision>219</cp:revision>
  <dcterms:created xsi:type="dcterms:W3CDTF">2025-11-13T16:01:15Z</dcterms:created>
  <dcterms:modified xsi:type="dcterms:W3CDTF">2026-06-18T12:44:24Z</dcterms:modified>
</cp:coreProperties>
</file>